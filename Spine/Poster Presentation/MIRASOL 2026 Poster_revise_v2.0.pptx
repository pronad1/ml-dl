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1_C61A946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0267275" cy="42794238"/>
  <p:notesSz cx="6858000" cy="9144000"/>
  <p:embeddedFontLst>
    <p:embeddedFont>
      <p:font typeface="Cambria Math" panose="02040503050406030204" pitchFamily="18" charset="0"/>
      <p:regular r:id="rId4"/>
    </p:embeddedFont>
    <p:embeddedFont>
      <p:font typeface="Nunito" pitchFamily="2" charset="0"/>
      <p:regular r:id="rId5"/>
      <p:bold r:id="rId6"/>
      <p:italic r:id="rId7"/>
      <p:boldItalic r:id="rId8"/>
    </p:embeddedFont>
    <p:embeddedFont>
      <p:font typeface="Play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4tA5eJSa7q9FVs5vkRo3Z2gCnx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ADBE7E-C635-A7AD-D928-64C394FF546A}" name="Dey, Samrat Kumar (MU-Student)" initials="SD" userId="S::sdpm7@umsystem.edu::7cbadb04-92b8-49b2-9bcd-b558f686a928" providerId="AD"/>
  <p188:author id="{0B61B5F5-9055-496D-381B-8EC0C284B317}" name="Prosenjit mondol" initials="Pm" userId="c80fe01127439c6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A98D0-921E-41AD-B2FF-15C7769DBA45}" v="50" dt="2026-09-14T15:54:46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7" autoAdjust="0"/>
    <p:restoredTop sz="94379" autoAdjust="0"/>
  </p:normalViewPr>
  <p:slideViewPr>
    <p:cSldViewPr snapToGrid="0">
      <p:cViewPr varScale="1">
        <p:scale>
          <a:sx n="11" d="100"/>
          <a:sy n="11" d="100"/>
        </p:scale>
        <p:origin x="9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microsoft.com/office/2018/10/relationships/authors" Target="author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y, Samrat Kumar (MU-Student)" userId="7cbadb04-92b8-49b2-9bcd-b558f686a928" providerId="ADAL" clId="{EFEA03D6-19D9-4E8C-8076-D8A852ED9410}"/>
    <pc:docChg chg="undo custSel addSld modSld">
      <pc:chgData name="Dey, Samrat Kumar (MU-Student)" userId="7cbadb04-92b8-49b2-9bcd-b558f686a928" providerId="ADAL" clId="{EFEA03D6-19D9-4E8C-8076-D8A852ED9410}" dt="2026-09-14T15:55:10.970" v="272" actId="1076"/>
      <pc:docMkLst>
        <pc:docMk/>
      </pc:docMkLst>
      <pc:sldChg chg="addSp delSp modSp mod">
        <pc:chgData name="Dey, Samrat Kumar (MU-Student)" userId="7cbadb04-92b8-49b2-9bcd-b558f686a928" providerId="ADAL" clId="{EFEA03D6-19D9-4E8C-8076-D8A852ED9410}" dt="2026-09-14T15:55:10.970" v="272" actId="1076"/>
        <pc:sldMkLst>
          <pc:docMk/>
          <pc:sldMk cId="0" sldId="256"/>
        </pc:sldMkLst>
        <pc:spChg chg="del mod">
          <ac:chgData name="Dey, Samrat Kumar (MU-Student)" userId="7cbadb04-92b8-49b2-9bcd-b558f686a928" providerId="ADAL" clId="{EFEA03D6-19D9-4E8C-8076-D8A852ED9410}" dt="2026-09-14T15:18:14.110" v="239" actId="478"/>
          <ac:spMkLst>
            <pc:docMk/>
            <pc:sldMk cId="0" sldId="256"/>
            <ac:spMk id="6" creationId="{BF6D2E9E-74F7-0D15-FBC9-C4D8EBBA1201}"/>
          </ac:spMkLst>
        </pc:spChg>
        <pc:spChg chg="add mod">
          <ac:chgData name="Dey, Samrat Kumar (MU-Student)" userId="7cbadb04-92b8-49b2-9bcd-b558f686a928" providerId="ADAL" clId="{EFEA03D6-19D9-4E8C-8076-D8A852ED9410}" dt="2026-09-14T15:18:08.799" v="237" actId="947"/>
          <ac:spMkLst>
            <pc:docMk/>
            <pc:sldMk cId="0" sldId="256"/>
            <ac:spMk id="10" creationId="{5B260F45-B4BA-FC60-5E82-00617D0C1B30}"/>
          </ac:spMkLst>
        </pc:spChg>
        <pc:spChg chg="mod">
          <ac:chgData name="Dey, Samrat Kumar (MU-Student)" userId="7cbadb04-92b8-49b2-9bcd-b558f686a928" providerId="ADAL" clId="{EFEA03D6-19D9-4E8C-8076-D8A852ED9410}" dt="2026-09-14T15:15:21.596" v="151" actId="1076"/>
          <ac:spMkLst>
            <pc:docMk/>
            <pc:sldMk cId="0" sldId="256"/>
            <ac:spMk id="14" creationId="{B845CE99-08A7-907E-BA96-C3A389385CA0}"/>
          </ac:spMkLst>
        </pc:spChg>
        <pc:spChg chg="mod">
          <ac:chgData name="Dey, Samrat Kumar (MU-Student)" userId="7cbadb04-92b8-49b2-9bcd-b558f686a928" providerId="ADAL" clId="{EFEA03D6-19D9-4E8C-8076-D8A852ED9410}" dt="2026-09-14T15:18:25.308" v="240" actId="1076"/>
          <ac:spMkLst>
            <pc:docMk/>
            <pc:sldMk cId="0" sldId="256"/>
            <ac:spMk id="84" creationId="{00000000-0000-0000-0000-000000000000}"/>
          </ac:spMkLst>
        </pc:spChg>
        <pc:picChg chg="mod">
          <ac:chgData name="Dey, Samrat Kumar (MU-Student)" userId="7cbadb04-92b8-49b2-9bcd-b558f686a928" providerId="ADAL" clId="{EFEA03D6-19D9-4E8C-8076-D8A852ED9410}" dt="2026-09-14T15:13:49.258" v="72" actId="1076"/>
          <ac:picMkLst>
            <pc:docMk/>
            <pc:sldMk cId="0" sldId="256"/>
            <ac:picMk id="3" creationId="{579C53BB-AAAA-8C39-D7E9-EABB55E7FA44}"/>
          </ac:picMkLst>
        </pc:picChg>
        <pc:picChg chg="mod">
          <ac:chgData name="Dey, Samrat Kumar (MU-Student)" userId="7cbadb04-92b8-49b2-9bcd-b558f686a928" providerId="ADAL" clId="{EFEA03D6-19D9-4E8C-8076-D8A852ED9410}" dt="2026-09-14T15:55:08.516" v="271" actId="1076"/>
          <ac:picMkLst>
            <pc:docMk/>
            <pc:sldMk cId="0" sldId="256"/>
            <ac:picMk id="4" creationId="{2C816CC8-DE2F-B283-3E25-6EA02EB8C955}"/>
          </ac:picMkLst>
        </pc:picChg>
        <pc:picChg chg="mod">
          <ac:chgData name="Dey, Samrat Kumar (MU-Student)" userId="7cbadb04-92b8-49b2-9bcd-b558f686a928" providerId="ADAL" clId="{EFEA03D6-19D9-4E8C-8076-D8A852ED9410}" dt="2026-09-14T15:14:07.232" v="75" actId="1076"/>
          <ac:picMkLst>
            <pc:docMk/>
            <pc:sldMk cId="0" sldId="256"/>
            <ac:picMk id="5" creationId="{5E46F0EC-6D62-205E-C5DC-9A457E927321}"/>
          </ac:picMkLst>
        </pc:picChg>
        <pc:picChg chg="mod">
          <ac:chgData name="Dey, Samrat Kumar (MU-Student)" userId="7cbadb04-92b8-49b2-9bcd-b558f686a928" providerId="ADAL" clId="{EFEA03D6-19D9-4E8C-8076-D8A852ED9410}" dt="2026-09-14T15:55:10.970" v="272" actId="1076"/>
          <ac:picMkLst>
            <pc:docMk/>
            <pc:sldMk cId="0" sldId="256"/>
            <ac:picMk id="8" creationId="{1BDFB2ED-95D4-5147-A456-9DD19682D62F}"/>
          </ac:picMkLst>
        </pc:picChg>
        <pc:picChg chg="mod">
          <ac:chgData name="Dey, Samrat Kumar (MU-Student)" userId="7cbadb04-92b8-49b2-9bcd-b558f686a928" providerId="ADAL" clId="{EFEA03D6-19D9-4E8C-8076-D8A852ED9410}" dt="2026-09-14T15:18:37.428" v="241" actId="1076"/>
          <ac:picMkLst>
            <pc:docMk/>
            <pc:sldMk cId="0" sldId="256"/>
            <ac:picMk id="87" creationId="{00000000-0000-0000-0000-000000000000}"/>
          </ac:picMkLst>
        </pc:picChg>
        <pc:picChg chg="mod">
          <ac:chgData name="Dey, Samrat Kumar (MU-Student)" userId="7cbadb04-92b8-49b2-9bcd-b558f686a928" providerId="ADAL" clId="{EFEA03D6-19D9-4E8C-8076-D8A852ED9410}" dt="2026-09-14T15:18:37.428" v="241" actId="1076"/>
          <ac:picMkLst>
            <pc:docMk/>
            <pc:sldMk cId="0" sldId="256"/>
            <ac:picMk id="89" creationId="{00000000-0000-0000-0000-000000000000}"/>
          </ac:picMkLst>
        </pc:picChg>
        <pc:inkChg chg="add">
          <ac:chgData name="Dey, Samrat Kumar (MU-Student)" userId="7cbadb04-92b8-49b2-9bcd-b558f686a928" providerId="ADAL" clId="{EFEA03D6-19D9-4E8C-8076-D8A852ED9410}" dt="2026-09-14T15:54:03.217" v="257" actId="9405"/>
          <ac:inkMkLst>
            <pc:docMk/>
            <pc:sldMk cId="0" sldId="256"/>
            <ac:inkMk id="6" creationId="{35F7C6F5-D632-4EF4-5096-136424726F48}"/>
          </ac:inkMkLst>
        </pc:inkChg>
        <pc:inkChg chg="add del">
          <ac:chgData name="Dey, Samrat Kumar (MU-Student)" userId="7cbadb04-92b8-49b2-9bcd-b558f686a928" providerId="ADAL" clId="{EFEA03D6-19D9-4E8C-8076-D8A852ED9410}" dt="2026-09-14T15:54:15.956" v="259" actId="9405"/>
          <ac:inkMkLst>
            <pc:docMk/>
            <pc:sldMk cId="0" sldId="256"/>
            <ac:inkMk id="11" creationId="{E35B4CCF-CA12-7EA5-5662-F86E1CE46835}"/>
          </ac:inkMkLst>
        </pc:inkChg>
        <pc:inkChg chg="add">
          <ac:chgData name="Dey, Samrat Kumar (MU-Student)" userId="7cbadb04-92b8-49b2-9bcd-b558f686a928" providerId="ADAL" clId="{EFEA03D6-19D9-4E8C-8076-D8A852ED9410}" dt="2026-09-14T15:54:23.431" v="260" actId="9405"/>
          <ac:inkMkLst>
            <pc:docMk/>
            <pc:sldMk cId="0" sldId="256"/>
            <ac:inkMk id="33" creationId="{50DEB2EA-FD56-2D39-67F4-D7BFEB54E46E}"/>
          </ac:inkMkLst>
        </pc:inkChg>
        <pc:inkChg chg="add del">
          <ac:chgData name="Dey, Samrat Kumar (MU-Student)" userId="7cbadb04-92b8-49b2-9bcd-b558f686a928" providerId="ADAL" clId="{EFEA03D6-19D9-4E8C-8076-D8A852ED9410}" dt="2026-09-14T15:54:27.555" v="262"/>
          <ac:inkMkLst>
            <pc:docMk/>
            <pc:sldMk cId="0" sldId="256"/>
            <ac:inkMk id="43" creationId="{564F5ADA-70EB-6EE6-D3B4-A37D0964A029}"/>
          </ac:inkMkLst>
        </pc:inkChg>
        <pc:inkChg chg="add">
          <ac:chgData name="Dey, Samrat Kumar (MU-Student)" userId="7cbadb04-92b8-49b2-9bcd-b558f686a928" providerId="ADAL" clId="{EFEA03D6-19D9-4E8C-8076-D8A852ED9410}" dt="2026-09-14T15:54:27.555" v="262"/>
          <ac:inkMkLst>
            <pc:docMk/>
            <pc:sldMk cId="0" sldId="256"/>
            <ac:inkMk id="66" creationId="{E2CA3826-AE84-7B94-7205-0448417BA788}"/>
          </ac:inkMkLst>
        </pc:inkChg>
        <pc:inkChg chg="add">
          <ac:chgData name="Dey, Samrat Kumar (MU-Student)" userId="7cbadb04-92b8-49b2-9bcd-b558f686a928" providerId="ADAL" clId="{EFEA03D6-19D9-4E8C-8076-D8A852ED9410}" dt="2026-09-14T15:54:33.611" v="263" actId="9405"/>
          <ac:inkMkLst>
            <pc:docMk/>
            <pc:sldMk cId="0" sldId="256"/>
            <ac:inkMk id="90" creationId="{87277EBE-B292-1A86-AC70-06325DD5B27F}"/>
          </ac:inkMkLst>
        </pc:inkChg>
        <pc:inkChg chg="add">
          <ac:chgData name="Dey, Samrat Kumar (MU-Student)" userId="7cbadb04-92b8-49b2-9bcd-b558f686a928" providerId="ADAL" clId="{EFEA03D6-19D9-4E8C-8076-D8A852ED9410}" dt="2026-09-14T15:54:38.088" v="264" actId="9405"/>
          <ac:inkMkLst>
            <pc:docMk/>
            <pc:sldMk cId="0" sldId="256"/>
            <ac:inkMk id="91" creationId="{6CF0108A-1D9B-860D-4B5D-F19A0584C969}"/>
          </ac:inkMkLst>
        </pc:inkChg>
        <pc:inkChg chg="add del">
          <ac:chgData name="Dey, Samrat Kumar (MU-Student)" userId="7cbadb04-92b8-49b2-9bcd-b558f686a928" providerId="ADAL" clId="{EFEA03D6-19D9-4E8C-8076-D8A852ED9410}" dt="2026-09-14T15:54:47.233" v="268" actId="9405"/>
          <ac:inkMkLst>
            <pc:docMk/>
            <pc:sldMk cId="0" sldId="256"/>
            <ac:inkMk id="93" creationId="{631C5267-ABA1-DE0F-B429-75CAC78F8857}"/>
          </ac:inkMkLst>
        </pc:inkChg>
        <pc:inkChg chg="add">
          <ac:chgData name="Dey, Samrat Kumar (MU-Student)" userId="7cbadb04-92b8-49b2-9bcd-b558f686a928" providerId="ADAL" clId="{EFEA03D6-19D9-4E8C-8076-D8A852ED9410}" dt="2026-09-14T15:54:44.730" v="266"/>
          <ac:inkMkLst>
            <pc:docMk/>
            <pc:sldMk cId="0" sldId="256"/>
            <ac:inkMk id="120" creationId="{BF61509C-6F0D-F0AD-9D2E-5CC9389E89CE}"/>
          </ac:inkMkLst>
        </pc:inkChg>
        <pc:inkChg chg="add">
          <ac:chgData name="Dey, Samrat Kumar (MU-Student)" userId="7cbadb04-92b8-49b2-9bcd-b558f686a928" providerId="ADAL" clId="{EFEA03D6-19D9-4E8C-8076-D8A852ED9410}" dt="2026-09-14T15:54:47.989" v="269" actId="9405"/>
          <ac:inkMkLst>
            <pc:docMk/>
            <pc:sldMk cId="0" sldId="256"/>
            <ac:inkMk id="122" creationId="{CEA0F425-0555-583B-7736-3727E7EB4B19}"/>
          </ac:inkMkLst>
        </pc:inkChg>
      </pc:sldChg>
      <pc:sldChg chg="modSp add mod">
        <pc:chgData name="Dey, Samrat Kumar (MU-Student)" userId="7cbadb04-92b8-49b2-9bcd-b558f686a928" providerId="ADAL" clId="{EFEA03D6-19D9-4E8C-8076-D8A852ED9410}" dt="2026-09-14T15:47:26.801" v="256" actId="1076"/>
        <pc:sldMkLst>
          <pc:docMk/>
          <pc:sldMk cId="3323630695" sldId="257"/>
        </pc:sldMkLst>
        <pc:spChg chg="mod">
          <ac:chgData name="Dey, Samrat Kumar (MU-Student)" userId="7cbadb04-92b8-49b2-9bcd-b558f686a928" providerId="ADAL" clId="{EFEA03D6-19D9-4E8C-8076-D8A852ED9410}" dt="2026-09-14T15:47:26.801" v="256" actId="1076"/>
          <ac:spMkLst>
            <pc:docMk/>
            <pc:sldMk cId="3323630695" sldId="257"/>
            <ac:spMk id="22" creationId="{30755BA6-9C3B-FAFC-2277-7D40E239E3F1}"/>
          </ac:spMkLst>
        </pc:spChg>
        <pc:spChg chg="mod">
          <ac:chgData name="Dey, Samrat Kumar (MU-Student)" userId="7cbadb04-92b8-49b2-9bcd-b558f686a928" providerId="ADAL" clId="{EFEA03D6-19D9-4E8C-8076-D8A852ED9410}" dt="2026-09-14T15:24:12.592" v="242" actId="14100"/>
          <ac:spMkLst>
            <pc:docMk/>
            <pc:sldMk cId="3323630695" sldId="257"/>
            <ac:spMk id="23" creationId="{0A312491-603B-FEEB-5435-E8088F8E3F96}"/>
          </ac:spMkLst>
        </pc:spChg>
        <pc:spChg chg="mod">
          <ac:chgData name="Dey, Samrat Kumar (MU-Student)" userId="7cbadb04-92b8-49b2-9bcd-b558f686a928" providerId="ADAL" clId="{EFEA03D6-19D9-4E8C-8076-D8A852ED9410}" dt="2026-09-14T15:28:38.810" v="243" actId="14100"/>
          <ac:spMkLst>
            <pc:docMk/>
            <pc:sldMk cId="3323630695" sldId="257"/>
            <ac:spMk id="54" creationId="{F281A20D-A3F7-8779-FD8D-324758145DDA}"/>
          </ac:spMkLst>
        </pc:spChg>
        <pc:spChg chg="mod">
          <ac:chgData name="Dey, Samrat Kumar (MU-Student)" userId="7cbadb04-92b8-49b2-9bcd-b558f686a928" providerId="ADAL" clId="{EFEA03D6-19D9-4E8C-8076-D8A852ED9410}" dt="2026-09-14T15:30:09.121" v="245" actId="1076"/>
          <ac:spMkLst>
            <pc:docMk/>
            <pc:sldMk cId="3323630695" sldId="257"/>
            <ac:spMk id="58" creationId="{38166291-CE50-9336-216D-2B0D2CE506DF}"/>
          </ac:spMkLst>
        </pc:spChg>
        <pc:spChg chg="mod">
          <ac:chgData name="Dey, Samrat Kumar (MU-Student)" userId="7cbadb04-92b8-49b2-9bcd-b558f686a928" providerId="ADAL" clId="{EFEA03D6-19D9-4E8C-8076-D8A852ED9410}" dt="2026-09-14T15:06:52.281" v="4" actId="20577"/>
          <ac:spMkLst>
            <pc:docMk/>
            <pc:sldMk cId="3323630695" sldId="257"/>
            <ac:spMk id="84" creationId="{65668967-F675-4930-9D82-0D55F36BB087}"/>
          </ac:spMkLst>
        </pc:spChg>
        <pc:graphicFrameChg chg="modGraphic">
          <ac:chgData name="Dey, Samrat Kumar (MU-Student)" userId="7cbadb04-92b8-49b2-9bcd-b558f686a928" providerId="ADAL" clId="{EFEA03D6-19D9-4E8C-8076-D8A852ED9410}" dt="2026-09-14T15:38:08.926" v="255" actId="404"/>
          <ac:graphicFrameMkLst>
            <pc:docMk/>
            <pc:sldMk cId="3323630695" sldId="257"/>
            <ac:graphicFrameMk id="18" creationId="{AD8622CD-55E6-7434-DF18-F218A49DC142}"/>
          </ac:graphicFrameMkLst>
        </pc:graphicFrameChg>
      </pc:sldChg>
    </pc:docChg>
  </pc:docChgLst>
</pc:chgInfo>
</file>

<file path=ppt/comments/modernComment_101_C61A94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E68BAC-BBD3-4EFE-94ED-113ACAC2B9FC}" authorId="{AAADBE7E-C635-A7AD-D928-64C394FF546A}" created="2026-09-14T15:23:47.3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23" creationId="{0A312491-603B-FEEB-5435-E8088F8E3F96}"/>
      <ac:txMk cp="101" len="15">
        <ac:context len="280" hash="1635211574"/>
      </ac:txMk>
    </ac:txMkLst>
    <p188:pos x="5651500" y="1441625"/>
    <p188:replyLst>
      <p188:reply id="{22FE2212-FCF6-4DC3-AD5E-7052A07278E1}" authorId="{0B61B5F5-9055-496D-381B-8EC0C284B317}" created="2026-09-16T10:13:21.862">
        <p188:txBody>
          <a:bodyPr/>
          <a:lstStyle/>
          <a:p>
            <a:r>
              <a:rPr lang="en-US"/>
              <a:t>Typo mistake </a:t>
            </a:r>
          </a:p>
        </p188:txBody>
      </p188:reply>
    </p188:replyLst>
    <p188:txBody>
      <a:bodyPr/>
      <a:lstStyle/>
      <a:p>
        <a:r>
          <a:rPr lang="en-US"/>
          <a:t>???</a:t>
        </a:r>
      </a:p>
    </p188:txBody>
  </p188:cm>
  <p188:cm id="{157C88B8-FEA4-44A9-9C57-3DCB22DE9E09}" authorId="{AAADBE7E-C635-A7AD-D928-64C394FF546A}" created="2026-09-14T15:25:17.1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23" creationId="{0A312491-603B-FEEB-5435-E8088F8E3F96}"/>
    </ac:deMkLst>
    <p188:replyLst>
      <p188:reply id="{BB050071-4DEF-4746-B44A-6F079232F142}" authorId="{0B61B5F5-9055-496D-381B-8EC0C284B317}" created="2026-09-16T10:14:34.358">
        <p188:txBody>
          <a:bodyPr/>
          <a:lstStyle/>
          <a:p>
            <a:r>
              <a:rPr lang="en-US"/>
              <a:t>Space issues are fixed in updated version</a:t>
            </a:r>
          </a:p>
        </p188:txBody>
      </p188:reply>
    </p188:replyLst>
    <p188:txBody>
      <a:bodyPr/>
      <a:lstStyle/>
      <a:p>
        <a:r>
          <a:rPr lang="en-US"/>
          <a:t>You need to keep a minimum space from both side, look at the image, left side of the images have some space, you need to keep that for all sections. </a:t>
        </a:r>
      </a:p>
    </p188:txBody>
  </p188:cm>
  <p188:cm id="{A83E6F9D-E285-46FF-8348-1B66A2A8F33B}" authorId="{AAADBE7E-C635-A7AD-D928-64C394FF546A}" created="2026-09-14T15:25:37.4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26" creationId="{F23C98E1-FC86-566D-C496-3CAAD6673127}"/>
    </ac:deMkLst>
    <p188:replyLst>
      <p188:reply id="{0D44DA13-F492-4F05-A095-330DB1170EBC}" authorId="{0B61B5F5-9055-496D-381B-8EC0C284B317}" created="2026-09-16T10:15:03.560">
        <p188:txBody>
          <a:bodyPr/>
          <a:lstStyle/>
          <a:p>
            <a:r>
              <a:rPr lang="en-US"/>
              <a:t>Change this color in updated version</a:t>
            </a:r>
          </a:p>
        </p188:txBody>
      </p188:reply>
    </p188:replyLst>
    <p188:txBody>
      <a:bodyPr/>
      <a:lstStyle/>
      <a:p>
        <a:r>
          <a:rPr lang="en-US"/>
          <a:t>Poor choice of BG color</a:t>
        </a:r>
      </a:p>
    </p188:txBody>
  </p188:cm>
  <p188:cm id="{1CBA4112-707B-4ED2-9B1C-286A90D4F3EE}" authorId="{AAADBE7E-C635-A7AD-D928-64C394FF546A}" created="2026-09-14T15:27:02.5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28" creationId="{EB7E17F7-3963-33E6-1582-8AA3F32615FA}"/>
    </ac:deMkLst>
    <p188:replyLst>
      <p188:reply id="{AB431A71-4704-4C28-A6F1-B8FB36D9BC30}" authorId="{0B61B5F5-9055-496D-381B-8EC0C284B317}" created="2026-09-16T10:15:36.293">
        <p188:txBody>
          <a:bodyPr/>
          <a:lstStyle/>
          <a:p>
            <a:r>
              <a:rPr lang="en-US"/>
              <a:t>Update this by 
Diagnostic Challenges
Resource-Constrained Triage</a:t>
            </a:r>
          </a:p>
        </p188:txBody>
      </p188:reply>
    </p188:replyLst>
    <p188:txBody>
      <a:bodyPr/>
      <a:lstStyle/>
      <a:p>
        <a:r>
          <a:rPr lang="en-US"/>
          <a:t>Also, what’s your point of keeping 46.9:1 in motivations?</a:t>
        </a:r>
      </a:p>
    </p188:txBody>
  </p188:cm>
  <p188:cm id="{A2AD6210-C84B-4952-BDDE-3B7875D4F24C}" authorId="{AAADBE7E-C635-A7AD-D928-64C394FF546A}" created="2026-09-14T15:28:09.5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50" creationId="{1F0E1959-46BB-BED7-F23C-EEF86404168F}"/>
      <ac:txMk cp="0" len="29">
        <ac:context len="30" hash="1377655435"/>
      </ac:txMk>
    </ac:txMkLst>
    <p188:pos x="5911407" y="187346"/>
    <p188:replyLst>
      <p188:reply id="{37DC6AF6-FB42-4CAA-A6B7-71EDE1BA258C}" authorId="{0B61B5F5-9055-496D-381B-8EC0C284B317}" created="2026-09-16T10:16:30.307">
        <p188:txBody>
          <a:bodyPr/>
          <a:lstStyle/>
          <a:p>
            <a:r>
              <a:rPr lang="en-US"/>
              <a:t>Fixed this in updated version</a:t>
            </a:r>
          </a:p>
        </p188:txBody>
      </p188:reply>
    </p188:replyLst>
    <p188:txBody>
      <a:bodyPr/>
      <a:lstStyle/>
      <a:p>
        <a:r>
          <a:rPr lang="en-US"/>
          <a:t>Why different color suddenly. Remove the BG from each sections. </a:t>
        </a:r>
      </a:p>
    </p188:txBody>
  </p188:cm>
  <p188:cm id="{92C73080-D729-4C8D-859F-30688050C371}" authorId="{AAADBE7E-C635-A7AD-D928-64C394FF546A}" created="2026-09-14T15:28:23.60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51" creationId="{750624AA-0463-DA18-9252-E0C893424785}"/>
      <ac:txMk cp="76" len="13">
        <ac:context len="154" hash="3710274541"/>
      </ac:txMk>
    </ac:txMkLst>
    <p188:pos x="6724781" y="686112"/>
    <p188:replyLst>
      <p188:reply id="{54507168-45AB-4AA0-877C-A6E9A7F6BA64}" authorId="{0B61B5F5-9055-496D-381B-8EC0C284B317}" created="2026-09-16T10:18:26.417">
        <p188:txBody>
          <a:bodyPr/>
          <a:lstStyle/>
          <a:p>
            <a:r>
              <a:rPr lang="en-US"/>
              <a:t>This time there is no reptations in this updated version </a:t>
            </a:r>
          </a:p>
        </p188:txBody>
      </p188:reply>
    </p188:replyLst>
    <p188:txBody>
      <a:bodyPr/>
      <a:lstStyle/>
      <a:p>
        <a:r>
          <a:rPr lang="en-US"/>
          <a:t>Repitations</a:t>
        </a:r>
      </a:p>
    </p188:txBody>
  </p188:cm>
  <p188:cm id="{FAB749E6-A031-4A86-B57F-A516BB1FD115}" authorId="{AAADBE7E-C635-A7AD-D928-64C394FF546A}" created="2026-09-14T15:28:47.8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54" creationId="{F281A20D-A3F7-8779-FD8D-324758145DDA}"/>
      <ac:txMk cp="177" len="34">
        <ac:context len="212" hash="55343040"/>
      </ac:txMk>
    </ac:txMkLst>
    <p188:pos x="8259271" y="1349956"/>
    <p188:replyLst>
      <p188:reply id="{446F14E4-368C-4B4A-8021-C95238E41ACF}" authorId="{0B61B5F5-9055-496D-381B-8EC0C284B317}" created="2026-09-16T10:22:00.095">
        <p188:txBody>
          <a:bodyPr/>
          <a:lstStyle/>
          <a:p>
            <a:r>
              <a:rPr lang="en-US"/>
              <a:t>Complete this in update version
</a:t>
            </a:r>
          </a:p>
        </p188:txBody>
      </p188:reply>
    </p188:replyLst>
    <p188:txBody>
      <a:bodyPr/>
      <a:lstStyle/>
      <a:p>
        <a:r>
          <a:rPr lang="en-US"/>
          <a:t>Incomplete sentence</a:t>
        </a:r>
      </a:p>
    </p188:txBody>
  </p188:cm>
  <p188:cm id="{F7B4F671-0ECE-4CB7-BC9F-B109077F6193}" authorId="{AAADBE7E-C635-A7AD-D928-64C394FF546A}" created="2026-09-14T15:30:02.8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59" creationId="{66E1C344-7C51-018C-1029-A50C97957335}"/>
      <ac:txMk cp="0" len="24">
        <ac:context len="25" hash="1760868790"/>
      </ac:txMk>
    </ac:txMkLst>
    <p188:pos x="7372018" y="261025"/>
    <p188:replyLst>
      <p188:reply id="{4F607CDE-0C8C-4E4C-AF05-B2488FD61FA3}" authorId="{0B61B5F5-9055-496D-381B-8EC0C284B317}" created="2026-09-16T12:42:21.462">
        <p188:txBody>
          <a:bodyPr/>
          <a:lstStyle/>
          <a:p>
            <a:r>
              <a:rPr lang="en-US"/>
              <a:t>Replace image by input</a:t>
            </a:r>
          </a:p>
        </p188:txBody>
      </p188:reply>
    </p188:replyLst>
    <p188:txBody>
      <a:bodyPr/>
      <a:lstStyle/>
      <a:p>
        <a:r>
          <a:rPr lang="en-US"/>
          <a:t>Again same 46.9, whatever, it’s the place where you can mention this. Make sure the image are correct
</a:t>
        </a:r>
      </a:p>
    </p188:txBody>
  </p188:cm>
  <p188:cm id="{7DB03503-0C7B-4B63-90AE-602987CA285F}" authorId="{AAADBE7E-C635-A7AD-D928-64C394FF546A}" created="2026-09-14T15:30:59.4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65" creationId="{AC7C167C-CD4A-C689-8003-411C7D8C26CE}"/>
      <ac:txMk cp="0" len="40">
        <ac:context len="319" hash="3482627432"/>
      </ac:txMk>
    </ac:txMkLst>
    <p188:pos x="8057107" y="248512"/>
    <p188:replyLst>
      <p188:reply id="{5946E3F3-4CB1-41D7-9ACE-C27E3EBF8AF8}" authorId="{0B61B5F5-9055-496D-381B-8EC0C284B317}" created="2026-09-16T12:40:45.108">
        <p188:txBody>
          <a:bodyPr/>
          <a:lstStyle/>
          <a:p>
            <a:r>
              <a:rPr lang="en-US"/>
              <a:t>Represent in new way</a:t>
            </a:r>
          </a:p>
        </p188:txBody>
      </p188:reply>
    </p188:replyLst>
    <p188:txBody>
      <a:bodyPr/>
      <a:lstStyle/>
      <a:p>
        <a:r>
          <a:rPr lang="en-US"/>
          <a:t>No ref to data source, also a different header design, how? 
</a:t>
        </a:r>
      </a:p>
    </p188:txBody>
  </p188:cm>
  <p188:cm id="{2F9566E4-7A3F-4F3C-B382-D3FD44D45EA5}" authorId="{AAADBE7E-C635-A7AD-D928-64C394FF546A}" created="2026-09-14T15:32:35.9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69" creationId="{2851CBBD-79FC-C93C-34CB-268468CC5E5E}"/>
      <ac:txMk cp="0" len="87">
        <ac:context len="88" hash="134171967"/>
      </ac:txMk>
    </ac:txMkLst>
    <p188:pos x="9515184" y="270103"/>
    <p188:replyLst>
      <p188:reply id="{CEC17D89-4F16-4746-A254-8AAA1E6079C0}" authorId="{0B61B5F5-9055-496D-381B-8EC0C284B317}" created="2026-09-16T12:43:37.844">
        <p188:txBody>
          <a:bodyPr/>
          <a:lstStyle/>
          <a:p>
            <a:r>
              <a:rPr lang="en-US"/>
              <a:t>Removed bold from all fig caption and fixed this aligned</a:t>
            </a:r>
          </a:p>
        </p188:txBody>
      </p188:reply>
    </p188:replyLst>
    <p188:txBody>
      <a:bodyPr/>
      <a:lstStyle/>
      <a:p>
        <a:r>
          <a:rPr lang="en-US"/>
          <a:t>NO BOLD, again, carefully check, the divider line aligned with the image, the separator shouldn’t blend with image. </a:t>
        </a:r>
      </a:p>
    </p188:txBody>
  </p188:cm>
  <p188:cm id="{AD77EC40-783D-4FD0-A23B-1E72C8FBDC67}" authorId="{AAADBE7E-C635-A7AD-D928-64C394FF546A}" created="2026-09-14T15:33:54.5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67" creationId="{D441887D-AD40-F912-48E2-25585A0DEB3F}"/>
      <ac:txMk cp="0" len="18">
        <ac:context len="19" hash="2287181347"/>
      </ac:txMk>
    </ac:txMkLst>
    <p188:pos x="5954724" y="231769"/>
    <p188:replyLst>
      <p188:reply id="{EE1E9FEA-1B22-455D-A664-BA84B0A99458}" authorId="{0B61B5F5-9055-496D-381B-8EC0C284B317}" created="2026-09-16T12:56:39.105">
        <p188:txBody>
          <a:bodyPr/>
          <a:lstStyle/>
          <a:p>
            <a:r>
              <a:rPr lang="en-US"/>
              <a:t>Yes this all are parts of methodology and already fixed </a:t>
            </a:r>
          </a:p>
        </p188:txBody>
      </p188:reply>
    </p188:replyLst>
    <p188:txBody>
      <a:bodyPr/>
      <a:lstStyle/>
      <a:p>
        <a:r>
          <a:rPr lang="en-US"/>
          <a:t>Is this part of your methods or not? If not, then write Proposed Cascaded Framework</a:t>
        </a:r>
      </a:p>
    </p188:txBody>
  </p188:cm>
  <p188:cm id="{57D6A633-DC72-4462-A98F-F5282D305DB9}" authorId="{AAADBE7E-C635-A7AD-D928-64C394FF546A}" created="2026-09-14T15:34:35.3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71" creationId="{02AC8554-5639-17C4-EC21-C4F1046F77C8}"/>
      <ac:txMk cp="0" len="7">
        <ac:context len="8" hash="2226516865"/>
      </ac:txMk>
    </ac:txMkLst>
    <p188:pos x="2484909" y="234929"/>
    <p188:replyLst>
      <p188:reply id="{79165617-1274-4B72-8023-2B3C1C08EA2E}" authorId="{0B61B5F5-9055-496D-381B-8EC0C284B317}" created="2026-09-16T13:30:23.915">
        <p188:txBody>
          <a:bodyPr/>
          <a:lstStyle/>
          <a:p>
            <a:r>
              <a:rPr lang="en-US"/>
              <a:t>yes all should be part of our methods</a:t>
            </a:r>
          </a:p>
        </p188:txBody>
      </p188:reply>
    </p188:replyLst>
    <p188:txBody>
      <a:bodyPr/>
      <a:lstStyle/>
      <a:p>
        <a:r>
          <a:rPr lang="en-US"/>
          <a:t>Your methods finished in 2 satges, how?? All should be [part of your methods.</a:t>
        </a:r>
      </a:p>
    </p188:txBody>
  </p188:cm>
  <p188:cm id="{D5B592CA-7FE3-4DEC-A463-353A67AD20E1}" authorId="{AAADBE7E-C635-A7AD-D928-64C394FF546A}" created="2026-09-14T15:35:20.5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102" creationId="{ECFAE132-52A5-773D-56D5-C7340C26A553}"/>
      <ac:txMk cp="0" len="25">
        <ac:context len="26" hash="122281159"/>
      </ac:txMk>
    </ac:txMkLst>
    <p188:pos x="5462632" y="193145"/>
    <p188:replyLst>
      <p188:reply id="{5457E788-2CE4-4162-9CE3-47B02A470057}" authorId="{0B61B5F5-9055-496D-381B-8EC0C284B317}" created="2026-09-16T13:48:06.821">
        <p188:txBody>
          <a:bodyPr/>
          <a:lstStyle/>
          <a:p>
            <a:r>
              <a:rPr lang="en-US"/>
              <a:t>I totally remove this part and try to present something different</a:t>
            </a:r>
          </a:p>
        </p188:txBody>
      </p188:reply>
    </p188:replyLst>
    <p188:txBody>
      <a:bodyPr/>
      <a:lstStyle/>
      <a:p>
        <a:r>
          <a:rPr lang="en-US"/>
          <a:t>What are the purpose of these four? 
</a:t>
        </a:r>
      </a:p>
    </p188:txBody>
  </p188:cm>
  <p188:cm id="{2A41AC56-BB78-4BAB-B128-62B250489AFF}" authorId="{AAADBE7E-C635-A7AD-D928-64C394FF546A}" created="2026-09-14T15:35:59.3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97" creationId="{108C7517-4621-0A77-7D59-8E103907D292}"/>
      <ac:txMk cp="0" len="60">
        <ac:context len="61" hash="3417285391"/>
      </ac:txMk>
    </ac:txMkLst>
    <p188:pos x="6351742" y="235268"/>
    <p188:replyLst>
      <p188:reply id="{00CC6B62-3696-4617-95ED-9AAFD5D1887E}" authorId="{0B61B5F5-9055-496D-381B-8EC0C284B317}" created="2026-09-16T13:49:12.289">
        <p188:txBody>
          <a:bodyPr/>
          <a:lstStyle/>
          <a:p>
            <a:r>
              <a:rPr lang="en-US"/>
              <a:t>This time add equation that are related with architecture </a:t>
            </a:r>
          </a:p>
        </p188:txBody>
      </p188:reply>
    </p188:replyLst>
    <p188:txBody>
      <a:bodyPr/>
      <a:lstStyle/>
      <a:p>
        <a:r>
          <a:rPr lang="en-US"/>
          <a:t>How this equations connects with previous sections?</a:t>
        </a:r>
      </a:p>
    </p188:txBody>
  </p188:cm>
  <p188:cm id="{40626683-075C-4DCF-A2B9-D5FBFB6E8A2D}" authorId="{AAADBE7E-C635-A7AD-D928-64C394FF546A}" created="2026-09-14T15:36:47.57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56" creationId="{B1AC5998-9867-E1BA-3CEB-C508DF2B9517}"/>
      <ac:txMk cp="0" len="17">
        <ac:context len="18" hash="415301310"/>
      </ac:txMk>
    </ac:txMkLst>
    <p188:pos x="4959183" y="299623"/>
    <p188:replyLst>
      <p188:reply id="{B75B847A-2F0B-4494-BCC9-F9CE77FE6788}" authorId="{0B61B5F5-9055-496D-381B-8EC0C284B317}" created="2026-09-16T13:51:38.352">
        <p188:txBody>
          <a:bodyPr/>
          <a:lstStyle/>
          <a:p>
            <a:r>
              <a:rPr lang="en-US"/>
              <a:t>Already replace this </a:t>
            </a:r>
          </a:p>
        </p188:txBody>
      </p188:reply>
    </p188:replyLst>
    <p188:txBody>
      <a:bodyPr/>
      <a:lstStyle/>
      <a:p>
        <a:r>
          <a:rPr lang="en-US"/>
          <a:t>With out presenting the bar chart, try to show the real raw images from the dataset. </a:t>
        </a:r>
      </a:p>
    </p188:txBody>
  </p188:cm>
  <p188:cm id="{D58E2824-1019-49E0-8D13-3C4F28159A6C}" authorId="{AAADBE7E-C635-A7AD-D928-64C394FF546A}" created="2026-09-14T15:38:45.7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121" creationId="{5CC5568F-179E-8482-8AB4-3F71B74842D9}"/>
      <ac:txMk cp="0" len="7">
        <ac:context len="8" hash="546558143"/>
      </ac:txMk>
    </ac:txMkLst>
    <p188:pos x="2227809" y="298456"/>
    <p188:replyLst>
      <p188:reply id="{E747274B-488C-4112-B45E-773EA60B9083}" authorId="{0B61B5F5-9055-496D-381B-8EC0C284B317}" created="2026-09-16T13:53:44.701">
        <p188:txBody>
          <a:bodyPr/>
          <a:lstStyle/>
          <a:p>
            <a:r>
              <a:rPr lang="en-US"/>
              <a:t>Already fixed this</a:t>
            </a:r>
          </a:p>
        </p188:txBody>
      </p188:reply>
    </p188:replyLst>
    <p188:txBody>
      <a:bodyPr/>
      <a:lstStyle/>
      <a:p>
        <a:r>
          <a:rPr lang="en-US"/>
          <a:t>Font for the results table can get large
</a:t>
        </a:r>
      </a:p>
    </p188:txBody>
  </p188:cm>
  <p188:cm id="{60F391D4-BC63-420E-A210-38E21FCB74AF}" authorId="{AAADBE7E-C635-A7AD-D928-64C394FF546A}" created="2026-09-14T15:48:54.5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graphicFrameMk id="19" creationId="{AEB22BA1-BF48-27A5-F1EB-726D4EE3A4C4}"/>
      <ac:tblMk/>
      <ac:tcMk rowId="10006" colId="20004"/>
      <ac:txMk cp="0" len="5">
        <ac:context len="6" hash="2093672704"/>
      </ac:txMk>
    </ac:txMkLst>
    <p188:pos x="9465033" y="5402980"/>
    <p188:replyLst>
      <p188:reply id="{E6300A7F-8C03-4BC7-81B6-98C0D68C285C}" authorId="{0B61B5F5-9055-496D-381B-8EC0C284B317}" created="2026-09-16T13:54:19.882">
        <p188:txBody>
          <a:bodyPr/>
          <a:lstStyle/>
          <a:p>
            <a:r>
              <a:rPr lang="en-US"/>
              <a:t>Change this title</a:t>
            </a:r>
          </a:p>
        </p188:txBody>
      </p188:reply>
    </p188:replyLst>
    <p188:txBody>
      <a:bodyPr/>
      <a:lstStyle/>
      <a:p>
        <a:r>
          <a:rPr lang="en-US"/>
          <a:t>What is the table title and whats your finidings? 
</a:t>
        </a:r>
      </a:p>
    </p188:txBody>
  </p188:cm>
  <p188:cm id="{A1282948-9A25-43C0-8555-C76A860140A9}" authorId="{AAADBE7E-C635-A7AD-D928-64C394FF546A}" created="2026-09-14T15:49:14.1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graphicFrameMk id="19" creationId="{AEB22BA1-BF48-27A5-F1EB-726D4EE3A4C4}"/>
      <ac:tblMk/>
      <ac:tcMk rowId="10006" colId="20004"/>
      <ac:txMk cp="0" len="5">
        <ac:context len="6" hash="2093672704"/>
      </ac:txMk>
    </ac:txMkLst>
    <p188:pos x="9465033" y="5402980"/>
    <p188:replyLst>
      <p188:reply id="{1B498369-5607-4BE1-8721-E6E527B14ACE}" authorId="{0B61B5F5-9055-496D-381B-8EC0C284B317}" created="2026-09-16T13:54:37.186">
        <p188:txBody>
          <a:bodyPr/>
          <a:lstStyle/>
          <a:p>
            <a:r>
              <a:rPr lang="en-US"/>
              <a:t>Yes done</a:t>
            </a:r>
          </a:p>
        </p188:txBody>
      </p188:reply>
    </p188:replyLst>
    <p188:txBody>
      <a:bodyPr/>
      <a:lstStyle/>
      <a:p>
        <a:r>
          <a:rPr lang="en-US"/>
          <a:t>You can reduce some spaces. </a:t>
        </a:r>
      </a:p>
    </p188:txBody>
  </p188:cm>
  <p188:cm id="{673270A7-A1F9-4810-A9F3-6B478C1AC8D3}" authorId="{AAADBE7E-C635-A7AD-D928-64C394FF546A}" created="2026-09-14T15:49:39.3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9" creationId="{423608A4-14B6-D63A-BD42-058CF07B9FF6}"/>
      <ac:txMk cp="0" len="50">
        <ac:context len="51" hash="3634258765"/>
      </ac:txMk>
    </ac:txMkLst>
    <p188:pos x="7893514" y="342274"/>
    <p188:replyLst>
      <p188:reply id="{FDCC4141-B745-4F27-9DFB-282650A1C239}" authorId="{0B61B5F5-9055-496D-381B-8EC0C284B317}" created="2026-09-16T16:37:46.464">
        <p188:txBody>
          <a:bodyPr/>
          <a:lstStyle/>
          <a:p>
            <a:r>
              <a:rPr lang="en-US"/>
              <a:t>Add fig description</a:t>
            </a:r>
          </a:p>
        </p188:txBody>
      </p188:reply>
    </p188:replyLst>
    <p188:txBody>
      <a:bodyPr/>
      <a:lstStyle/>
      <a:p>
        <a:r>
          <a:rPr lang="en-US"/>
          <a:t>What all 5 images meaning here</a:t>
        </a:r>
      </a:p>
    </p188:txBody>
  </p188:cm>
  <p188:cm id="{A08B5460-D8F5-4207-8887-B4FB95AC7650}" authorId="{AAADBE7E-C635-A7AD-D928-64C394FF546A}" created="2026-09-14T15:49:52.7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2" creationId="{EE09FCB0-83B8-9539-626A-1A4AFF74788F}"/>
      <ac:txMk cp="0" len="21">
        <ac:context len="22" hash="2662703506"/>
      </ac:txMk>
    </ac:txMkLst>
    <p188:pos x="5789964" y="307987"/>
    <p188:replyLst>
      <p188:reply id="{AC7B4AD0-1D83-410B-8881-658B0CB4D62C}" authorId="{0B61B5F5-9055-496D-381B-8EC0C284B317}" created="2026-09-16T16:37:31.876">
        <p188:txBody>
          <a:bodyPr/>
          <a:lstStyle/>
          <a:p>
            <a:r>
              <a:rPr lang="en-US"/>
              <a:t>Done</a:t>
            </a:r>
          </a:p>
        </p188:txBody>
      </p188:reply>
    </p188:replyLst>
    <p188:txBody>
      <a:bodyPr/>
      <a:lstStyle/>
      <a:p>
        <a:r>
          <a:rPr lang="en-US"/>
          <a:t>Poor design choice again.</a:t>
        </a:r>
      </a:p>
    </p188:txBody>
  </p188:cm>
  <p188:cm id="{91773AF1-1AEA-4F84-897E-04786E2F91C0}" authorId="{AAADBE7E-C635-A7AD-D928-64C394FF546A}" created="2026-09-14T15:50:34.2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55" creationId="{402BF52F-058A-CF1A-C2AF-77BD7EF51D09}"/>
    </ac:deMkLst>
    <p188:replyLst>
      <p188:reply id="{EEE8EA14-A150-4C47-A876-BE874199F7F9}" authorId="{0B61B5F5-9055-496D-381B-8EC0C284B317}" created="2026-09-16T16:37:58.504">
        <p188:txBody>
          <a:bodyPr/>
          <a:lstStyle/>
          <a:p>
            <a:r>
              <a:rPr lang="en-US"/>
              <a:t>Change this</a:t>
            </a:r>
          </a:p>
        </p188:txBody>
      </p188:reply>
    </p188:replyLst>
    <p188:txBody>
      <a:bodyPr/>
      <a:lstStyle/>
      <a:p>
        <a:r>
          <a:rPr lang="en-US"/>
          <a:t>For any design you needs to be consistent in terms of color, design, font and style. </a:t>
        </a:r>
      </a:p>
    </p188:txBody>
  </p188:cm>
  <p188:cm id="{17F22987-3310-458B-8CCF-515D3004E0A2}" authorId="{AAADBE7E-C635-A7AD-D928-64C394FF546A}" created="2026-09-14T15:52:03.22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23630695" sldId="257"/>
      <ac:spMk id="126" creationId="{47AB3E0A-26CA-7FED-1D25-AB778D20F381}"/>
      <ac:txMk cp="0" len="313">
        <ac:context len="314" hash="804032421"/>
      </ac:txMk>
    </ac:txMkLst>
    <p188:pos x="9358664" y="526996"/>
    <p188:replyLst>
      <p188:reply id="{C1B2849B-D2C3-431D-AB0E-25EA8FE47813}" authorId="{0B61B5F5-9055-496D-381B-8EC0C284B317}" created="2026-09-16T16:38:11.553">
        <p188:txBody>
          <a:bodyPr/>
          <a:lstStyle/>
          <a:p>
            <a:r>
              <a:rPr lang="en-US"/>
              <a:t>Remove background</a:t>
            </a:r>
          </a:p>
        </p188:txBody>
      </p188:reply>
    </p188:replyLst>
    <p188:txBody>
      <a:bodyPr/>
      <a:lstStyle/>
      <a:p>
        <a:r>
          <a:rPr lang="en-US"/>
          <a:t>Suddenly, you made a different shape with shadow background to write your conclusion???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838D257-29D9-B4FE-BC61-39888839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C86161E-46E5-378B-5723-02686A3D2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DB794DF-F039-F418-B04B-EDEB5FAAC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2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1"/>
              <a:buFont typeface="Play"/>
              <a:buNone/>
              <a:defRPr sz="198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/>
            </a:lvl1pPr>
            <a:lvl2pPr lvl="1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/>
            </a:lvl2pPr>
            <a:lvl3pPr lvl="2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/>
            </a:lvl3pPr>
            <a:lvl4pPr lvl="3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4pPr>
            <a:lvl5pPr lvl="4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5pPr>
            <a:lvl6pPr lvl="5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6pPr>
            <a:lvl7pPr lvl="6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7pPr>
            <a:lvl8pPr lvl="7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8pPr>
            <a:lvl9pPr lvl="8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1"/>
              <a:buFont typeface="Play"/>
              <a:buNone/>
              <a:defRPr sz="198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rgbClr val="757575"/>
              </a:buClr>
              <a:buSzPts val="7944"/>
              <a:buNone/>
              <a:defRPr sz="7944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6620"/>
              <a:buNone/>
              <a:defRPr sz="662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958"/>
              <a:buNone/>
              <a:defRPr sz="5958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12863592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5322808" y="11391985"/>
            <a:ext cx="12863592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084821" y="15631784"/>
            <a:ext cx="12804474" cy="22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5322810" y="10490535"/>
            <a:ext cx="12867534" cy="514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5322810" y="15631784"/>
            <a:ext cx="12867534" cy="22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2"/>
              <a:buFont typeface="Play"/>
              <a:buNone/>
              <a:defRPr sz="105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2867534" y="6161587"/>
            <a:ext cx="15322808" cy="3041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01192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0592"/>
              <a:buChar char="•"/>
              <a:defRPr sz="10592"/>
            </a:lvl1pPr>
            <a:lvl2pPr marL="914400" lvl="1" indent="-817118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9268"/>
              <a:buChar char="•"/>
              <a:defRPr sz="9268"/>
            </a:lvl2pPr>
            <a:lvl3pPr marL="1371600" lvl="2" indent="-733044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4"/>
              <a:buChar char="•"/>
              <a:defRPr sz="7944"/>
            </a:lvl3pPr>
            <a:lvl4pPr marL="1828800" lvl="3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4pPr>
            <a:lvl5pPr marL="2286000" lvl="4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5pPr>
            <a:lvl6pPr marL="2743200" lvl="5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6pPr>
            <a:lvl7pPr marL="3200400" lvl="6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7pPr>
            <a:lvl8pPr marL="3657600" lvl="7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8pPr>
            <a:lvl9pPr marL="4114800" lvl="8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084817" y="12838271"/>
            <a:ext cx="9761984" cy="2378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4"/>
              <a:buNone/>
              <a:defRPr sz="4634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2"/>
              <a:buNone/>
              <a:defRPr sz="3972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2"/>
              <a:buFont typeface="Play"/>
              <a:buNone/>
              <a:defRPr sz="105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2867534" y="6161587"/>
            <a:ext cx="15322808" cy="3041164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084817" y="12838271"/>
            <a:ext cx="9761984" cy="2378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4"/>
              <a:buNone/>
              <a:defRPr sz="4634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2"/>
              <a:buNone/>
              <a:defRPr sz="3972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1557362" y="11915498"/>
            <a:ext cx="27152551" cy="2610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6790141" y="17148276"/>
            <a:ext cx="36266139" cy="652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6451791" y="10811065"/>
            <a:ext cx="36266139" cy="1920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4"/>
              <a:buFont typeface="Play"/>
              <a:buNone/>
              <a:defRPr sz="1456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118" algn="l" rtl="0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9268"/>
              <a:buFont typeface="Arial"/>
              <a:buChar char="•"/>
              <a:defRPr sz="92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733044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4"/>
              <a:buFont typeface="Arial"/>
              <a:buChar char="•"/>
              <a:defRPr sz="794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4897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Font typeface="Arial"/>
              <a:buChar char="•"/>
              <a:defRPr sz="66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9.png"/><Relationship Id="rId18" Type="http://schemas.openxmlformats.org/officeDocument/2006/relationships/image" Target="../media/image10.png"/><Relationship Id="rId3" Type="http://schemas.microsoft.com/office/2018/10/relationships/comments" Target="../comments/modernComment_101_C61A9467.xml"/><Relationship Id="rId21" Type="http://schemas.openxmlformats.org/officeDocument/2006/relationships/image" Target="../media/image13.pn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20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5" Type="http://schemas.openxmlformats.org/officeDocument/2006/relationships/image" Target="../media/image200.png"/><Relationship Id="rId10" Type="http://schemas.openxmlformats.org/officeDocument/2006/relationships/image" Target="../media/image6.png"/><Relationship Id="rId19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80.png"/><Relationship Id="rId14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BC81C72-D995-EBFD-6644-E1BD9F87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65668967-F675-4930-9D82-0D55F36BB087}"/>
              </a:ext>
            </a:extLst>
          </p:cNvPr>
          <p:cNvSpPr txBox="1"/>
          <p:nvPr/>
        </p:nvSpPr>
        <p:spPr>
          <a:xfrm>
            <a:off x="4389120" y="1009415"/>
            <a:ext cx="20972462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7200" b="1" i="0" dirty="0">
                <a:solidFill>
                  <a:srgbClr val="2C3A4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(P) A Sensitivity-Gated Cascade for Compute-Efficient Spinal Lesion Detection in Resource-Constrained Settings</a:t>
            </a:r>
            <a:endParaRPr sz="720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EA998686-C94A-B97B-EA72-5D276A10FA41}"/>
              </a:ext>
            </a:extLst>
          </p:cNvPr>
          <p:cNvSpPr txBox="1"/>
          <p:nvPr/>
        </p:nvSpPr>
        <p:spPr>
          <a:xfrm>
            <a:off x="16448950" y="12016150"/>
            <a:ext cx="13884600" cy="16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68">
              <a:solidFill>
                <a:schemeClr val="dk1"/>
              </a:solidFill>
            </a:endParaRPr>
          </a:p>
        </p:txBody>
      </p:sp>
      <p:pic>
        <p:nvPicPr>
          <p:cNvPr id="87" name="Google Shape;87;p1">
            <a:extLst>
              <a:ext uri="{FF2B5EF4-FFF2-40B4-BE49-F238E27FC236}">
                <a16:creationId xmlns:a16="http://schemas.microsoft.com/office/drawing/2014/main" id="{96B2B90F-701D-8CE9-9EA9-9E9937E98C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61583" y="1870188"/>
            <a:ext cx="4892430" cy="29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BA7BC48B-ACFA-B1E3-60C4-7C755699E3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60129"/>
          <a:stretch/>
        </p:blipFill>
        <p:spPr>
          <a:xfrm>
            <a:off x="25963015" y="2988061"/>
            <a:ext cx="2610750" cy="11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CD1023-BC8B-0666-9B69-FF5256C2E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966" y="1190331"/>
            <a:ext cx="2935954" cy="25072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15D1D-70FC-4E41-8E73-FFC2FB8FF0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374" y="3718149"/>
            <a:ext cx="2795546" cy="2634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B7C7FD-8163-0988-86AC-64906F1E15AF}"/>
                  </a:ext>
                </a:extLst>
              </p:cNvPr>
              <p:cNvSpPr txBox="1"/>
              <p:nvPr/>
            </p:nvSpPr>
            <p:spPr>
              <a:xfrm>
                <a:off x="4389120" y="4483450"/>
                <a:ext cx="20972463" cy="2093458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 smtClean="0">
                            <a:solidFill>
                              <a:srgbClr val="2C3A4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Prosenjit</m:t>
                        </m:r>
                        <m:r>
                          <m:rPr>
                            <m:nor/>
                          </m:rPr>
                          <a:rPr lang="en-US" sz="4800" b="1" i="0" dirty="0" smtClean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Mondol</m:t>
                        </m:r>
                      </m:e>
                      <m:sup>
                        <m:r>
                          <a:rPr lang="en-US" sz="4800" b="1" i="1" smtClean="0">
                            <a:solidFill>
                              <a:srgbClr val="2C3A4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4800" b="1" i="0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>
                            <a:solidFill>
                              <a:srgbClr val="2C3A4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Samrat</m:t>
                        </m:r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KumarDey</m:t>
                        </m:r>
                      </m:e>
                      <m:sup>
                        <m:r>
                          <a:rPr lang="en-US" sz="4800" b="1" i="1" dirty="0" smtClean="0">
                            <a:solidFill>
                              <a:srgbClr val="2C3A4A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800" b="1" i="0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4800" b="1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𝐀𝐫𝐩𝐢𝐭𝐚</m:t>
                        </m:r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𝐇𝐨𝐰𝐥𝐝𝐞𝐫</m:t>
                        </m:r>
                      </m:e>
                      <m:sup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Faculty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Computer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Engineering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Patuakhali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TechnologyUniversity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i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Dumki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8602,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  <m:r>
                          <a:rPr lang="en-US" sz="31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;</m:t>
                        </m:r>
                      </m:sub>
                    </m:sSub>
                  </m:oMath>
                </a14:m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School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Technology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Open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University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Gazipur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1705,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</m:sub>
                    </m:sSub>
                  </m:oMath>
                </a14:m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B7C7FD-8163-0988-86AC-64906F1E1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0" y="4483450"/>
                <a:ext cx="20972463" cy="2093458"/>
              </a:xfrm>
              <a:prstGeom prst="rect">
                <a:avLst/>
              </a:prstGeom>
              <a:blipFill>
                <a:blip r:embed="rId9"/>
                <a:stretch>
                  <a:fillRect l="-465" t="-6105" r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AC0CAD-B5FB-8EBC-CE96-461524964FDB}"/>
              </a:ext>
            </a:extLst>
          </p:cNvPr>
          <p:cNvCxnSpPr>
            <a:cxnSpLocks/>
          </p:cNvCxnSpPr>
          <p:nvPr/>
        </p:nvCxnSpPr>
        <p:spPr>
          <a:xfrm>
            <a:off x="10152579" y="7711440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03BFC04-119F-D28D-194D-541FAF44A0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5702" y="35637992"/>
            <a:ext cx="3498617" cy="294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E39EB2-48BB-3E05-777A-F8A0783C8A21}"/>
              </a:ext>
            </a:extLst>
          </p:cNvPr>
          <p:cNvSpPr txBox="1"/>
          <p:nvPr/>
        </p:nvSpPr>
        <p:spPr>
          <a:xfrm>
            <a:off x="152493" y="7801611"/>
            <a:ext cx="54896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Motivation</a:t>
            </a:r>
            <a:endParaRPr lang="en-US" sz="4000" b="1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A63D1F-3978-32E4-2B3F-9C7AC01563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375" y="8782116"/>
            <a:ext cx="10406736" cy="7005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57CE36-C9D4-D18A-5D9B-2C121B9DE4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930" y="21873411"/>
            <a:ext cx="10270404" cy="6924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8049FE-BFE9-1ECF-8E13-7D9D33744A2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64" y="31605208"/>
            <a:ext cx="9981663" cy="4526235"/>
          </a:xfrm>
          <a:prstGeom prst="rect">
            <a:avLst/>
          </a:prstGeom>
        </p:spPr>
      </p:pic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AD8622CD-55E6-7434-DF18-F218A49DC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938687"/>
              </p:ext>
            </p:extLst>
          </p:nvPr>
        </p:nvGraphicFramePr>
        <p:xfrm>
          <a:off x="20574541" y="9170063"/>
          <a:ext cx="9693270" cy="3142120"/>
        </p:xfrm>
        <a:graphic>
          <a:graphicData uri="http://schemas.openxmlformats.org/drawingml/2006/table">
            <a:tbl>
              <a:tblPr/>
              <a:tblGrid>
                <a:gridCol w="248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Method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AUROC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F1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Sens.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Spec.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EfficientNetV2-S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89.44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79.34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70.80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91.12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Res</a:t>
                      </a:r>
                      <a:r>
                        <a:rPr lang="en-US" sz="20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Net50</a:t>
                      </a:r>
                      <a:endParaRPr lang="en-US" sz="2000" b="1" dirty="0">
                        <a:solidFill>
                          <a:srgbClr val="1A1F36"/>
                        </a:solidFill>
                        <a:latin typeface="Arial" panose="020B0604020202020204" pitchFamily="34" charset="0"/>
                        <a:ea typeface="Calibri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88.88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80.15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82.72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78.13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DenseNet121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86.93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79.55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80.39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79..32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VinDr</a:t>
                      </a:r>
                      <a:r>
                        <a:rPr lang="en-US" sz="20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Ensemble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83.07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79.32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HealNNet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DERNet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91.03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83.09</a:t>
                      </a:r>
                      <a:endParaRPr lang="en-US" sz="20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84.91</a:t>
                      </a:r>
                      <a:endParaRPr lang="en-US" sz="20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81.68</a:t>
                      </a:r>
                      <a:endParaRPr lang="en-US" sz="20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AEB22BA1-BF48-27A5-F1EB-726D4EE3A4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46667" y="14713820"/>
              <a:ext cx="9620608" cy="5418840"/>
            </p:xfrm>
            <a:graphic>
              <a:graphicData uri="http://schemas.openxmlformats.org/drawingml/2006/table">
                <a:tbl>
                  <a:tblPr/>
                  <a:tblGrid>
                    <a:gridCol w="1875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8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44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2923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242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2169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47042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831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39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0546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𝐋𝐓𝟐</m:t>
                                    </m:r>
                                  </m:e>
                                  <m:sup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(∗)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A00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AEB22BA1-BF48-27A5-F1EB-726D4EE3A4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46667" y="14713820"/>
              <a:ext cx="9620608" cy="5418840"/>
            </p:xfrm>
            <a:graphic>
              <a:graphicData uri="http://schemas.openxmlformats.org/drawingml/2006/table">
                <a:tbl>
                  <a:tblPr/>
                  <a:tblGrid>
                    <a:gridCol w="1875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8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44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2923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242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2169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47042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831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39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77011" t="-3478" r="-631609" b="-6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640FADA-B0D3-D293-847A-77A5A2141D34}"/>
              </a:ext>
            </a:extLst>
          </p:cNvPr>
          <p:cNvSpPr txBox="1"/>
          <p:nvPr/>
        </p:nvSpPr>
        <p:spPr>
          <a:xfrm>
            <a:off x="20574541" y="20179897"/>
            <a:ext cx="967925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(*) LT2, LT4, LT6, LT8, LT10, LT11, and LT13 denote disc space 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narrowing, foraminal stenosis, osteophytes, spondylolisthesis, 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surgical implant, vertebral collapse, and other lesions, respectively.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65E18-C866-30D0-4FE1-882162EF341C}"/>
              </a:ext>
            </a:extLst>
          </p:cNvPr>
          <p:cNvSpPr txBox="1"/>
          <p:nvPr/>
        </p:nvSpPr>
        <p:spPr>
          <a:xfrm>
            <a:off x="20526078" y="8590792"/>
            <a:ext cx="89482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1. Classification performance comparison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755BA6-9C3B-FAFC-2277-7D40E239E3F1}"/>
              </a:ext>
            </a:extLst>
          </p:cNvPr>
          <p:cNvSpPr txBox="1"/>
          <p:nvPr/>
        </p:nvSpPr>
        <p:spPr>
          <a:xfrm>
            <a:off x="20497100" y="13189255"/>
            <a:ext cx="92720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2. Comparison results of different methods.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detection performance for each type of spinal 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is evaluated by AP (%) at 0.5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threshold.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312491-603B-FEEB-5435-E8088F8E3F96}"/>
              </a:ext>
            </a:extLst>
          </p:cNvPr>
          <p:cNvSpPr txBox="1"/>
          <p:nvPr/>
        </p:nvSpPr>
        <p:spPr>
          <a:xfrm>
            <a:off x="233966" y="8629475"/>
            <a:ext cx="99115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Spinal radiographs serve as the primary screening modality for a wide spectrum of spinal pathologies [1evaluating]. This visual ambiguity induces high inter-observer variability and elevates the risk of delayed diagnoses, which can precipitate irreversible neurological sequelae.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76EB31-012D-8AC7-CBDA-27149D4A77B1}"/>
              </a:ext>
            </a:extLst>
          </p:cNvPr>
          <p:cNvSpPr txBox="1"/>
          <p:nvPr/>
        </p:nvSpPr>
        <p:spPr>
          <a:xfrm>
            <a:off x="23353432" y="38453545"/>
            <a:ext cx="4136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REFERENCES</a:t>
            </a:r>
            <a:endParaRPr lang="en-US" sz="3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7E7C42-8B0D-4D1D-3B12-8ED6B99396D2}"/>
              </a:ext>
            </a:extLst>
          </p:cNvPr>
          <p:cNvSpPr txBox="1"/>
          <p:nvPr/>
        </p:nvSpPr>
        <p:spPr>
          <a:xfrm>
            <a:off x="20668020" y="39229147"/>
            <a:ext cx="95782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[1] A deep learning framework for spinal lesions detection and classification from radiographs. pages 291–301. Springer,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VinDr-SpineXR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A large annotated medical image dataset for spinal lesions detection and classification from radiographs. PhysioNet, August 2021. Version 1.0.0.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[3] Sparse r-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End-to-end object detection with learnable proposals. In Proceedings of the IEEE/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CVFconference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[4] Federated vision transformer with adaptive focal loss for medical image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classifica-tion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Knowledge-Based Systems, 2026.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[5] Elizabeth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Krupinski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Kevin 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Berbaum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RT Caldwell, KM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Schartz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and J Kim. Long radiology workdays reduce detection and accommodation accuracy.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Healnnet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-lesions: A deep learning framework for spinal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lesiondetection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demonstrating x-ray images as a screening alternative 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withdeep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learning in radiology. 2025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F23C98E1-FC86-566D-C496-3CAAD6673127}"/>
              </a:ext>
            </a:extLst>
          </p:cNvPr>
          <p:cNvSpPr/>
          <p:nvPr/>
        </p:nvSpPr>
        <p:spPr>
          <a:xfrm>
            <a:off x="163191" y="12747563"/>
            <a:ext cx="9787882" cy="21012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730BCA70-F103-C281-A5D1-FB8D1D4FAF4A}"/>
              </a:ext>
            </a:extLst>
          </p:cNvPr>
          <p:cNvSpPr/>
          <p:nvPr/>
        </p:nvSpPr>
        <p:spPr>
          <a:xfrm>
            <a:off x="185956" y="12769025"/>
            <a:ext cx="98432" cy="2097212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>
              <a:solidFill>
                <a:srgbClr val="7A0019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EB7E17F7-3963-33E6-1582-8AA3F32615FA}"/>
              </a:ext>
            </a:extLst>
          </p:cNvPr>
          <p:cNvSpPr/>
          <p:nvPr/>
        </p:nvSpPr>
        <p:spPr>
          <a:xfrm>
            <a:off x="313903" y="12864409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46.9 : 1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25BF0C39-7BF2-AFDC-2612-4AEBDA61E827}"/>
              </a:ext>
            </a:extLst>
          </p:cNvPr>
          <p:cNvSpPr/>
          <p:nvPr/>
        </p:nvSpPr>
        <p:spPr>
          <a:xfrm>
            <a:off x="2148033" y="12891097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class imbalance ratio between majority (82.1%) and critical minority lesions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807EE5FA-9CBE-CDCF-CF28-D2E8189A0646}"/>
              </a:ext>
            </a:extLst>
          </p:cNvPr>
          <p:cNvSpPr/>
          <p:nvPr/>
        </p:nvSpPr>
        <p:spPr>
          <a:xfrm>
            <a:off x="233966" y="14001656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&lt;1%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9FCE08C-1D0D-0949-D4D8-B54F8BC9642B}"/>
              </a:ext>
            </a:extLst>
          </p:cNvPr>
          <p:cNvSpPr/>
          <p:nvPr/>
        </p:nvSpPr>
        <p:spPr>
          <a:xfrm>
            <a:off x="2148033" y="13940992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of the radiograph field-of-view occupied by minute, subtle pathologies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380A88-52FE-C047-DD52-C07C541E86EA}"/>
              </a:ext>
            </a:extLst>
          </p:cNvPr>
          <p:cNvSpPr txBox="1"/>
          <p:nvPr/>
        </p:nvSpPr>
        <p:spPr>
          <a:xfrm>
            <a:off x="175946" y="15357440"/>
            <a:ext cx="775039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Gaps in Current Approaches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CEFD5579-A2C5-DE65-DFE9-5EFA8998AC0F}"/>
              </a:ext>
            </a:extLst>
          </p:cNvPr>
          <p:cNvSpPr/>
          <p:nvPr/>
        </p:nvSpPr>
        <p:spPr>
          <a:xfrm>
            <a:off x="146161" y="16357284"/>
            <a:ext cx="480055" cy="475449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683BD0BC-4B02-2427-D878-FDAA35BE9F6F}"/>
              </a:ext>
            </a:extLst>
          </p:cNvPr>
          <p:cNvSpPr/>
          <p:nvPr/>
        </p:nvSpPr>
        <p:spPr>
          <a:xfrm>
            <a:off x="145774" y="163388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4B39D34-E120-4E69-EBBD-7E3FB9105AC8}"/>
              </a:ext>
            </a:extLst>
          </p:cNvPr>
          <p:cNvSpPr/>
          <p:nvPr/>
        </p:nvSpPr>
        <p:spPr>
          <a:xfrm>
            <a:off x="816592" y="16360338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Sensitivity-Specificity Trade-Off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97A36355-85E3-5EFF-33C1-5F3721E98AAA}"/>
              </a:ext>
            </a:extLst>
          </p:cNvPr>
          <p:cNvSpPr/>
          <p:nvPr/>
        </p:nvSpPr>
        <p:spPr>
          <a:xfrm>
            <a:off x="788618" y="16965791"/>
            <a:ext cx="8982598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Monolithic models trigger high false positives or miss critical subtle lesions under data skew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[3]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0392DC4E-ED36-DE55-686C-E6C79B27531F}"/>
              </a:ext>
            </a:extLst>
          </p:cNvPr>
          <p:cNvSpPr/>
          <p:nvPr/>
        </p:nvSpPr>
        <p:spPr>
          <a:xfrm>
            <a:off x="278081" y="20695711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45C7EC72-985B-97FC-5B30-98D0C4E88A0E}"/>
              </a:ext>
            </a:extLst>
          </p:cNvPr>
          <p:cNvSpPr/>
          <p:nvPr/>
        </p:nvSpPr>
        <p:spPr>
          <a:xfrm>
            <a:off x="698356" y="18391810"/>
            <a:ext cx="5543368" cy="49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Extreme Class Imbalance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10110A28-FEB1-6FE0-3555-1388CA680A15}"/>
              </a:ext>
            </a:extLst>
          </p:cNvPr>
          <p:cNvSpPr/>
          <p:nvPr/>
        </p:nvSpPr>
        <p:spPr>
          <a:xfrm>
            <a:off x="817257" y="19095783"/>
            <a:ext cx="9081073" cy="130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Minute pathologies (&lt;1% FOV) are easily obscured by bone superposition and dominant classes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[4-5]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27187785-7664-1E06-2606-AA397BB3EA44}"/>
              </a:ext>
            </a:extLst>
          </p:cNvPr>
          <p:cNvSpPr/>
          <p:nvPr/>
        </p:nvSpPr>
        <p:spPr>
          <a:xfrm>
            <a:off x="789241" y="20753655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 Computational Overhead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CDB23F60-414C-FFB9-3ECF-F2CC10202166}"/>
              </a:ext>
            </a:extLst>
          </p:cNvPr>
          <p:cNvSpPr/>
          <p:nvPr/>
        </p:nvSpPr>
        <p:spPr>
          <a:xfrm>
            <a:off x="727658" y="21332906"/>
            <a:ext cx="9045074" cy="14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Running heavy detectors on normal screening X-rays prevents CPU deployment in low-resource clinics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[1,6]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18E640-8EBA-CFB6-654A-6FCC11E326E7}"/>
              </a:ext>
            </a:extLst>
          </p:cNvPr>
          <p:cNvSpPr txBox="1"/>
          <p:nvPr/>
        </p:nvSpPr>
        <p:spPr>
          <a:xfrm>
            <a:off x="165602" y="22970993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Contributions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D73F8635-6640-7311-8FCD-9D4223735D26}"/>
              </a:ext>
            </a:extLst>
          </p:cNvPr>
          <p:cNvSpPr/>
          <p:nvPr/>
        </p:nvSpPr>
        <p:spPr>
          <a:xfrm>
            <a:off x="110926" y="23703477"/>
            <a:ext cx="9291587" cy="18261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200D26AB-D0E2-BC04-2158-88FB11783EDA}"/>
              </a:ext>
            </a:extLst>
          </p:cNvPr>
          <p:cNvSpPr/>
          <p:nvPr/>
        </p:nvSpPr>
        <p:spPr>
          <a:xfrm>
            <a:off x="137915" y="23712882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Sensitivity-Gated Cascade </a:t>
            </a:r>
            <a:r>
              <a:rPr lang="en-US" sz="3200" b="1" dirty="0" err="1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Framework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9AFB26EC-940E-8C18-AA0D-D54A6EB604CD}"/>
              </a:ext>
            </a:extLst>
          </p:cNvPr>
          <p:cNvSpPr/>
          <p:nvPr/>
        </p:nvSpPr>
        <p:spPr>
          <a:xfrm>
            <a:off x="175946" y="24177609"/>
            <a:ext cx="9037717" cy="1313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Heterogeneous ensemble of DenseNet121, EfficientNetV2-S, and ResNet50 with weighted soft voting, achieving 91.03% AUROC to filter normal studies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A66702BA-CC3B-F49C-A471-A8ACE13A4A64}"/>
              </a:ext>
            </a:extLst>
          </p:cNvPr>
          <p:cNvSpPr/>
          <p:nvPr/>
        </p:nvSpPr>
        <p:spPr>
          <a:xfrm>
            <a:off x="142133" y="25742076"/>
            <a:ext cx="9311061" cy="208678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1F0E1959-46BB-BED7-F23C-EEF86404168F}"/>
              </a:ext>
            </a:extLst>
          </p:cNvPr>
          <p:cNvSpPr/>
          <p:nvPr/>
        </p:nvSpPr>
        <p:spPr>
          <a:xfrm>
            <a:off x="218460" y="25737587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Attention-Guided Localization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750624AA-0463-DA18-9252-E0C893424785}"/>
              </a:ext>
            </a:extLst>
          </p:cNvPr>
          <p:cNvSpPr/>
          <p:nvPr/>
        </p:nvSpPr>
        <p:spPr>
          <a:xfrm>
            <a:off x="192486" y="26280221"/>
            <a:ext cx="9128465" cy="140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Customized YOLO11-L with CSP-Darknet and C2PSA attention to overcome severe 46.9:1 class imbalance and localize minute lesions, achieving 40.10% mAP@0.5.</a:t>
            </a: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98167EAA-24E4-4D01-AFEE-B5A446BE3740}"/>
              </a:ext>
            </a:extLst>
          </p:cNvPr>
          <p:cNvSpPr/>
          <p:nvPr/>
        </p:nvSpPr>
        <p:spPr>
          <a:xfrm>
            <a:off x="187365" y="28100359"/>
            <a:ext cx="9220596" cy="264375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2F7EB19E-2B33-288D-D597-2E5D6BEFAA9D}"/>
              </a:ext>
            </a:extLst>
          </p:cNvPr>
          <p:cNvSpPr/>
          <p:nvPr/>
        </p:nvSpPr>
        <p:spPr>
          <a:xfrm>
            <a:off x="215027" y="28126094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Transparent &amp; Compute-Efficient Inference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F281A20D-A3F7-8779-FD8D-324758145DDA}"/>
              </a:ext>
            </a:extLst>
          </p:cNvPr>
          <p:cNvSpPr/>
          <p:nvPr/>
        </p:nvSpPr>
        <p:spPr>
          <a:xfrm>
            <a:off x="190462" y="28698244"/>
            <a:ext cx="9083181" cy="186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Integrates multi-modal explainability Saliency Maps, Grad-CAM, and LIME quantitatively grounded to authentic lesions, coupled with a staged pipeline optimized for practical CPU deployment in resource-constrained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AC5998-9867-E1BA-3CEB-C508DF2B9517}"/>
              </a:ext>
            </a:extLst>
          </p:cNvPr>
          <p:cNvSpPr txBox="1"/>
          <p:nvPr/>
        </p:nvSpPr>
        <p:spPr>
          <a:xfrm>
            <a:off x="95417" y="30916977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Data Descriptions</a:t>
            </a: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38166291-CE50-9336-216D-2B0D2CE506DF}"/>
              </a:ext>
            </a:extLst>
          </p:cNvPr>
          <p:cNvSpPr/>
          <p:nvPr/>
        </p:nvSpPr>
        <p:spPr>
          <a:xfrm>
            <a:off x="-30247" y="37357995"/>
            <a:ext cx="10175733" cy="66172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6E1C344-7C51-018C-1029-A50C97957335}"/>
              </a:ext>
            </a:extLst>
          </p:cNvPr>
          <p:cNvSpPr/>
          <p:nvPr/>
        </p:nvSpPr>
        <p:spPr>
          <a:xfrm>
            <a:off x="137915" y="37330975"/>
            <a:ext cx="8560618" cy="67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 &amp; COHORT SUMMARY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9B20816F-0F5F-FDDD-9FEA-4DE578E26C9D}"/>
              </a:ext>
            </a:extLst>
          </p:cNvPr>
          <p:cNvSpPr/>
          <p:nvPr/>
        </p:nvSpPr>
        <p:spPr>
          <a:xfrm>
            <a:off x="172447" y="18404903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3A10662D-52D0-2B1A-F3A2-71998D6813CA}"/>
              </a:ext>
            </a:extLst>
          </p:cNvPr>
          <p:cNvSpPr/>
          <p:nvPr/>
        </p:nvSpPr>
        <p:spPr>
          <a:xfrm>
            <a:off x="172445" y="18370522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73A4C347-7110-BC9C-6214-EFE8308BE8B8}"/>
              </a:ext>
            </a:extLst>
          </p:cNvPr>
          <p:cNvSpPr/>
          <p:nvPr/>
        </p:nvSpPr>
        <p:spPr>
          <a:xfrm>
            <a:off x="175555" y="20682572"/>
            <a:ext cx="480057" cy="45719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A49A3463-8BE6-2E88-15D9-59031162F0A9}"/>
              </a:ext>
            </a:extLst>
          </p:cNvPr>
          <p:cNvSpPr/>
          <p:nvPr/>
        </p:nvSpPr>
        <p:spPr>
          <a:xfrm>
            <a:off x="175556" y="206825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7C167C-CD4A-C689-8003-411C7D8C26CE}"/>
              </a:ext>
            </a:extLst>
          </p:cNvPr>
          <p:cNvSpPr txBox="1"/>
          <p:nvPr/>
        </p:nvSpPr>
        <p:spPr>
          <a:xfrm>
            <a:off x="3160" y="38122421"/>
            <a:ext cx="10220311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Source: </a:t>
            </a:r>
            <a:r>
              <a:rPr lang="en-US" sz="3200" dirty="0" err="1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VinDr-SpineXR</a:t>
            </a:r>
            <a:r>
              <a:rPr lang="en-US" sz="32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v1.0.0 (PhysioNet)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10,466 spinal radiographs ( 8,389 train | 2,077 test )</a:t>
            </a:r>
            <a:endParaRPr lang="en-US" sz="3200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Expert Labels: </a:t>
            </a:r>
            <a:r>
              <a:rPr lang="en-US" sz="32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Radiologist-annotated bounding boxes across 7 lesion categories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46.9:1 Imbalance: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Osteophytes (82.1%, n = 12,556) vs. Collapse (1.8%, n = 268)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Minute Scale: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Subtle lesions occupy &lt;1% FOV (&lt;32×32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32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41887D-AD40-F912-48E2-25585A0DEB3F}"/>
              </a:ext>
            </a:extLst>
          </p:cNvPr>
          <p:cNvSpPr txBox="1"/>
          <p:nvPr/>
        </p:nvSpPr>
        <p:spPr>
          <a:xfrm>
            <a:off x="10360097" y="7863077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Cascaded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51CBBD-79FC-C93C-34CB-268468CC5E5E}"/>
              </a:ext>
            </a:extLst>
          </p:cNvPr>
          <p:cNvSpPr txBox="1"/>
          <p:nvPr/>
        </p:nvSpPr>
        <p:spPr>
          <a:xfrm>
            <a:off x="10293608" y="15996592"/>
            <a:ext cx="116845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2.  Overview of the cascaded framework for spinal </a:t>
            </a: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triage and localization.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AC8554-5639-17C4-EC21-C4F1046F77C8}"/>
              </a:ext>
            </a:extLst>
          </p:cNvPr>
          <p:cNvSpPr txBox="1"/>
          <p:nvPr/>
        </p:nvSpPr>
        <p:spPr>
          <a:xfrm>
            <a:off x="10384068" y="17485180"/>
            <a:ext cx="3308474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Methods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A9A591F3-D534-4BBA-A14C-5D7346AF4BDD}"/>
              </a:ext>
            </a:extLst>
          </p:cNvPr>
          <p:cNvSpPr/>
          <p:nvPr/>
        </p:nvSpPr>
        <p:spPr>
          <a:xfrm>
            <a:off x="10410380" y="18402288"/>
            <a:ext cx="8927459" cy="66689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Two-Stage Hierarchical Decoupling</a:t>
            </a: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E673205B-0080-7960-B8B8-24485FFE43F2}"/>
              </a:ext>
            </a:extLst>
          </p:cNvPr>
          <p:cNvSpPr/>
          <p:nvPr/>
        </p:nvSpPr>
        <p:spPr>
          <a:xfrm>
            <a:off x="10468148" y="19361227"/>
            <a:ext cx="4694443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1C2396D9-B3FC-CA1F-1136-95B651220318}"/>
              </a:ext>
            </a:extLst>
          </p:cNvPr>
          <p:cNvSpPr/>
          <p:nvPr/>
        </p:nvSpPr>
        <p:spPr>
          <a:xfrm>
            <a:off x="10468149" y="19362099"/>
            <a:ext cx="1188720" cy="960120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">
            <a:extLst>
              <a:ext uri="{FF2B5EF4-FFF2-40B4-BE49-F238E27FC236}">
                <a16:creationId xmlns:a16="http://schemas.microsoft.com/office/drawing/2014/main" id="{CDCF8F8D-C414-9D1C-219E-F7EC207FA686}"/>
              </a:ext>
            </a:extLst>
          </p:cNvPr>
          <p:cNvSpPr/>
          <p:nvPr/>
        </p:nvSpPr>
        <p:spPr>
          <a:xfrm>
            <a:off x="10468149" y="1936209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S₁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EC9DD7F4-2A2F-CF5F-03FE-FFFD399366B8}"/>
              </a:ext>
            </a:extLst>
          </p:cNvPr>
          <p:cNvSpPr/>
          <p:nvPr/>
        </p:nvSpPr>
        <p:spPr>
          <a:xfrm>
            <a:off x="11655670" y="19360355"/>
            <a:ext cx="3477967" cy="931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5">
            <a:extLst>
              <a:ext uri="{FF2B5EF4-FFF2-40B4-BE49-F238E27FC236}">
                <a16:creationId xmlns:a16="http://schemas.microsoft.com/office/drawing/2014/main" id="{D6974EA0-F66F-8E9B-C778-D6F783BEBE16}"/>
              </a:ext>
            </a:extLst>
          </p:cNvPr>
          <p:cNvSpPr/>
          <p:nvPr/>
        </p:nvSpPr>
        <p:spPr>
          <a:xfrm>
            <a:off x="15531898" y="19362099"/>
            <a:ext cx="4558897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55E9B9B9-7FFB-D9D5-793C-BD041ED0A4DF}"/>
              </a:ext>
            </a:extLst>
          </p:cNvPr>
          <p:cNvSpPr/>
          <p:nvPr/>
        </p:nvSpPr>
        <p:spPr>
          <a:xfrm>
            <a:off x="15531899" y="1936209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A072F5EA-F39F-CD35-E8E4-3FB9CA54C57A}"/>
              </a:ext>
            </a:extLst>
          </p:cNvPr>
          <p:cNvSpPr/>
          <p:nvPr/>
        </p:nvSpPr>
        <p:spPr>
          <a:xfrm>
            <a:off x="16691861" y="19490188"/>
            <a:ext cx="3398934" cy="79419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Detector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11">
            <a:extLst>
              <a:ext uri="{FF2B5EF4-FFF2-40B4-BE49-F238E27FC236}">
                <a16:creationId xmlns:a16="http://schemas.microsoft.com/office/drawing/2014/main" id="{00EEAEC0-2804-F768-E487-87170B1A6DCA}"/>
              </a:ext>
            </a:extLst>
          </p:cNvPr>
          <p:cNvSpPr/>
          <p:nvPr/>
        </p:nvSpPr>
        <p:spPr>
          <a:xfrm>
            <a:off x="15525828" y="19356958"/>
            <a:ext cx="1188720" cy="9601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12">
            <a:extLst>
              <a:ext uri="{FF2B5EF4-FFF2-40B4-BE49-F238E27FC236}">
                <a16:creationId xmlns:a16="http://schemas.microsoft.com/office/drawing/2014/main" id="{FEC13427-5E68-5991-78A7-22C680B97982}"/>
              </a:ext>
            </a:extLst>
          </p:cNvPr>
          <p:cNvSpPr/>
          <p:nvPr/>
        </p:nvSpPr>
        <p:spPr>
          <a:xfrm>
            <a:off x="15589555" y="19380046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S₂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AEFC910D-47D1-B014-150E-96D9A6AD4475}"/>
              </a:ext>
            </a:extLst>
          </p:cNvPr>
          <p:cNvSpPr/>
          <p:nvPr/>
        </p:nvSpPr>
        <p:spPr>
          <a:xfrm>
            <a:off x="10251157" y="31953299"/>
            <a:ext cx="10287159" cy="4087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13EC358-99B1-3077-4162-E314233E9959}"/>
              </a:ext>
            </a:extLst>
          </p:cNvPr>
          <p:cNvSpPr txBox="1"/>
          <p:nvPr/>
        </p:nvSpPr>
        <p:spPr>
          <a:xfrm>
            <a:off x="10426692" y="20923183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DERNet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02E189-DFF2-601F-4735-D003454F2522}"/>
              </a:ext>
            </a:extLst>
          </p:cNvPr>
          <p:cNvSpPr txBox="1"/>
          <p:nvPr/>
        </p:nvSpPr>
        <p:spPr>
          <a:xfrm>
            <a:off x="10306559" y="28810926"/>
            <a:ext cx="1021160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3.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probabilistic ensemble architecture for sensitivity radiographic triage. Each backbone (DenseNet121, EfficientNetV2-S, ResNet50) produces independent posterior probabilities via Global Average Pooling and Sigmoid.</a:t>
            </a:r>
          </a:p>
        </p:txBody>
      </p:sp>
      <p:sp>
        <p:nvSpPr>
          <p:cNvPr id="95" name="Text 38">
            <a:extLst>
              <a:ext uri="{FF2B5EF4-FFF2-40B4-BE49-F238E27FC236}">
                <a16:creationId xmlns:a16="http://schemas.microsoft.com/office/drawing/2014/main" id="{EA844807-E734-5F4B-32A6-A3699C9B6F7A}"/>
              </a:ext>
            </a:extLst>
          </p:cNvPr>
          <p:cNvSpPr/>
          <p:nvPr/>
        </p:nvSpPr>
        <p:spPr>
          <a:xfrm>
            <a:off x="10348376" y="32128906"/>
            <a:ext cx="10148724" cy="55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Composite Objective &amp; Focal Formulation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46EADFF-19ED-7A5A-F49A-6F41959A5D27}"/>
                  </a:ext>
                </a:extLst>
              </p:cNvPr>
              <p:cNvSpPr txBox="1"/>
              <p:nvPr/>
            </p:nvSpPr>
            <p:spPr>
              <a:xfrm>
                <a:off x="10470260" y="33825417"/>
                <a:ext cx="8989192" cy="606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𝒃𝒐𝒙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𝑪𝑰𝒐𝑼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𝒄𝒍𝒔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𝑭𝒐𝒄𝒂𝒍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𝒅𝒇𝒍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𝑫𝑭𝑳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46EADFF-19ED-7A5A-F49A-6F41959A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260" y="33825417"/>
                <a:ext cx="8989192" cy="60651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08C7517-4621-0A77-7D59-8E103907D292}"/>
                  </a:ext>
                </a:extLst>
              </p:cNvPr>
              <p:cNvSpPr txBox="1"/>
              <p:nvPr/>
            </p:nvSpPr>
            <p:spPr>
              <a:xfrm>
                <a:off x="10588721" y="32971890"/>
                <a:ext cx="5798126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𝑭𝑳</m:t>
                        </m:r>
                      </m:e>
                      <m:sub>
                        <m:d>
                          <m:d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sz="3600" b="1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l-GR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36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p>
                      <m:sSup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l-GR" sz="3600" b="1" i="1">
                            <a:latin typeface="Cambria Math" panose="02040503050406030204" pitchFamily="18" charset="0"/>
                          </a:rPr>
                          <m:t>𝜸</m:t>
                        </m:r>
                      </m:sup>
                    </m:sSup>
                    <m:r>
                      <a:rPr lang="en-US" sz="3600" b="1" i="1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sz="3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08C7517-4621-0A77-7D59-8E103907D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721" y="32971890"/>
                <a:ext cx="5798126" cy="603820"/>
              </a:xfrm>
              <a:prstGeom prst="rect">
                <a:avLst/>
              </a:prstGeom>
              <a:blipFill>
                <a:blip r:embed="rId16"/>
                <a:stretch>
                  <a:fillRect r="-6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8DC68B55-6EDF-9AD2-B4E8-B1AA565BCE97}"/>
              </a:ext>
            </a:extLst>
          </p:cNvPr>
          <p:cNvSpPr txBox="1"/>
          <p:nvPr/>
        </p:nvSpPr>
        <p:spPr>
          <a:xfrm>
            <a:off x="10240606" y="34719358"/>
            <a:ext cx="102792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Suppresses easy negative background gradients to anchor optimization on rare foreground lesions.</a:t>
            </a:r>
            <a:endParaRPr lang="en-US" sz="3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21">
            <a:extLst>
              <a:ext uri="{FF2B5EF4-FFF2-40B4-BE49-F238E27FC236}">
                <a16:creationId xmlns:a16="http://schemas.microsoft.com/office/drawing/2014/main" id="{4CFD83F0-A0FD-5961-E41F-7BBDBADB3584}"/>
              </a:ext>
            </a:extLst>
          </p:cNvPr>
          <p:cNvSpPr/>
          <p:nvPr/>
        </p:nvSpPr>
        <p:spPr>
          <a:xfrm>
            <a:off x="10465207" y="36333310"/>
            <a:ext cx="10073109" cy="112272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" name="Shape 22">
            <a:extLst>
              <a:ext uri="{FF2B5EF4-FFF2-40B4-BE49-F238E27FC236}">
                <a16:creationId xmlns:a16="http://schemas.microsoft.com/office/drawing/2014/main" id="{8BCDCDEA-1383-91CA-D9A4-18949240CC74}"/>
              </a:ext>
            </a:extLst>
          </p:cNvPr>
          <p:cNvSpPr/>
          <p:nvPr/>
        </p:nvSpPr>
        <p:spPr>
          <a:xfrm>
            <a:off x="10675983" y="36424582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23">
            <a:extLst>
              <a:ext uri="{FF2B5EF4-FFF2-40B4-BE49-F238E27FC236}">
                <a16:creationId xmlns:a16="http://schemas.microsoft.com/office/drawing/2014/main" id="{39A82BF9-9DB2-7A59-3F0D-88F0468661E2}"/>
              </a:ext>
            </a:extLst>
          </p:cNvPr>
          <p:cNvSpPr/>
          <p:nvPr/>
        </p:nvSpPr>
        <p:spPr>
          <a:xfrm>
            <a:off x="10843776" y="36546058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ECFAE132-52A5-773D-56D5-C7340C26A553}"/>
              </a:ext>
            </a:extLst>
          </p:cNvPr>
          <p:cNvSpPr/>
          <p:nvPr/>
        </p:nvSpPr>
        <p:spPr>
          <a:xfrm>
            <a:off x="11400829" y="36353979"/>
            <a:ext cx="8651635" cy="4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Probabilistic Soft Voting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21">
            <a:extLst>
              <a:ext uri="{FF2B5EF4-FFF2-40B4-BE49-F238E27FC236}">
                <a16:creationId xmlns:a16="http://schemas.microsoft.com/office/drawing/2014/main" id="{ABE8FFF2-B842-928A-3692-51087B153DE1}"/>
              </a:ext>
            </a:extLst>
          </p:cNvPr>
          <p:cNvSpPr/>
          <p:nvPr/>
        </p:nvSpPr>
        <p:spPr>
          <a:xfrm>
            <a:off x="10417939" y="37692720"/>
            <a:ext cx="10039802" cy="13498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22">
            <a:extLst>
              <a:ext uri="{FF2B5EF4-FFF2-40B4-BE49-F238E27FC236}">
                <a16:creationId xmlns:a16="http://schemas.microsoft.com/office/drawing/2014/main" id="{54FD65D9-4954-2022-DE8B-C7C01778747E}"/>
              </a:ext>
            </a:extLst>
          </p:cNvPr>
          <p:cNvSpPr/>
          <p:nvPr/>
        </p:nvSpPr>
        <p:spPr>
          <a:xfrm>
            <a:off x="10678135" y="37731569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23">
            <a:extLst>
              <a:ext uri="{FF2B5EF4-FFF2-40B4-BE49-F238E27FC236}">
                <a16:creationId xmlns:a16="http://schemas.microsoft.com/office/drawing/2014/main" id="{E62751D9-6606-6C2F-02F9-BA6CAAA2742F}"/>
              </a:ext>
            </a:extLst>
          </p:cNvPr>
          <p:cNvSpPr/>
          <p:nvPr/>
        </p:nvSpPr>
        <p:spPr>
          <a:xfrm>
            <a:off x="10845603" y="37812698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9E2EA693-0750-3493-FD2E-9457BF692132}"/>
              </a:ext>
            </a:extLst>
          </p:cNvPr>
          <p:cNvSpPr/>
          <p:nvPr/>
        </p:nvSpPr>
        <p:spPr>
          <a:xfrm>
            <a:off x="11448847" y="37716248"/>
            <a:ext cx="8246976" cy="465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C2PSA Bone Feature Attention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21">
            <a:extLst>
              <a:ext uri="{FF2B5EF4-FFF2-40B4-BE49-F238E27FC236}">
                <a16:creationId xmlns:a16="http://schemas.microsoft.com/office/drawing/2014/main" id="{2B0982E7-B90F-B821-9391-A8A85F964110}"/>
              </a:ext>
            </a:extLst>
          </p:cNvPr>
          <p:cNvSpPr/>
          <p:nvPr/>
        </p:nvSpPr>
        <p:spPr>
          <a:xfrm>
            <a:off x="10375251" y="39278672"/>
            <a:ext cx="10051521" cy="142606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7F3616BF-30CE-90C9-BD89-0D4A881768E8}"/>
              </a:ext>
            </a:extLst>
          </p:cNvPr>
          <p:cNvSpPr/>
          <p:nvPr/>
        </p:nvSpPr>
        <p:spPr>
          <a:xfrm>
            <a:off x="10664986" y="39357040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CF2BD521-AC69-5204-191F-61448E896811}"/>
              </a:ext>
            </a:extLst>
          </p:cNvPr>
          <p:cNvSpPr/>
          <p:nvPr/>
        </p:nvSpPr>
        <p:spPr>
          <a:xfrm>
            <a:off x="10821298" y="39431796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B7CF2478-8CA9-F55C-4F04-9E1EC9EC1E0C}"/>
              </a:ext>
            </a:extLst>
          </p:cNvPr>
          <p:cNvSpPr/>
          <p:nvPr/>
        </p:nvSpPr>
        <p:spPr>
          <a:xfrm>
            <a:off x="11449584" y="39329261"/>
            <a:ext cx="7221205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Multi-Scale Detection Heads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BEFF56-9FF6-254D-ED33-154677A113A4}"/>
                  </a:ext>
                </a:extLst>
              </p:cNvPr>
              <p:cNvSpPr txBox="1"/>
              <p:nvPr/>
            </p:nvSpPr>
            <p:spPr>
              <a:xfrm>
                <a:off x="11400829" y="36900370"/>
                <a:ext cx="219778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𝑒𝑛𝑠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≥0.478</m:t>
                      </m:r>
                    </m:oMath>
                  </m:oMathPara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BEFF56-9FF6-254D-ED33-154677A11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829" y="36900370"/>
                <a:ext cx="2197781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5D03C9A4-B6E8-DD1D-9617-F5CEC5A688A2}"/>
              </a:ext>
            </a:extLst>
          </p:cNvPr>
          <p:cNvSpPr txBox="1"/>
          <p:nvPr/>
        </p:nvSpPr>
        <p:spPr>
          <a:xfrm>
            <a:off x="13538204" y="36885261"/>
            <a:ext cx="70725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500" dirty="0"/>
              <a:t>filters normal studies; abnormal go to YOLO11-L</a:t>
            </a:r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8B361FB-F9B4-E709-612E-0C83CFD83F18}"/>
              </a:ext>
            </a:extLst>
          </p:cNvPr>
          <p:cNvSpPr txBox="1"/>
          <p:nvPr/>
        </p:nvSpPr>
        <p:spPr>
          <a:xfrm>
            <a:off x="11357108" y="38063843"/>
            <a:ext cx="90157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Preserves boundary gradients along subtle vertebral edges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7C80206-CAFD-246C-5531-E0D1985F3520}"/>
              </a:ext>
            </a:extLst>
          </p:cNvPr>
          <p:cNvSpPr txBox="1"/>
          <p:nvPr/>
        </p:nvSpPr>
        <p:spPr>
          <a:xfrm>
            <a:off x="11357108" y="39701167"/>
            <a:ext cx="9142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Hierarchical </a:t>
            </a:r>
            <a:r>
              <a:rPr lang="en-US" sz="3000" dirty="0" err="1"/>
              <a:t>PANet</a:t>
            </a:r>
            <a:r>
              <a:rPr lang="en-US" sz="3000" dirty="0"/>
              <a:t> feature fusion isolates minute pathologies occupying &lt;1% FOV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21">
            <a:extLst>
              <a:ext uri="{FF2B5EF4-FFF2-40B4-BE49-F238E27FC236}">
                <a16:creationId xmlns:a16="http://schemas.microsoft.com/office/drawing/2014/main" id="{13B749FE-A4A2-483C-9766-769FC438E0B3}"/>
              </a:ext>
            </a:extLst>
          </p:cNvPr>
          <p:cNvSpPr/>
          <p:nvPr/>
        </p:nvSpPr>
        <p:spPr>
          <a:xfrm>
            <a:off x="10474557" y="40937307"/>
            <a:ext cx="10051521" cy="1613327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Text 24">
            <a:extLst>
              <a:ext uri="{FF2B5EF4-FFF2-40B4-BE49-F238E27FC236}">
                <a16:creationId xmlns:a16="http://schemas.microsoft.com/office/drawing/2014/main" id="{1D4DD46E-FFB2-3F97-26B3-48B97ED3B4BA}"/>
              </a:ext>
            </a:extLst>
          </p:cNvPr>
          <p:cNvSpPr/>
          <p:nvPr/>
        </p:nvSpPr>
        <p:spPr>
          <a:xfrm>
            <a:off x="11401184" y="41127236"/>
            <a:ext cx="8512397" cy="31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Targeted Copy-Paste Augmentation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2A2220-A0FD-0D1C-8943-99D7CC8259B9}"/>
              </a:ext>
            </a:extLst>
          </p:cNvPr>
          <p:cNvSpPr txBox="1"/>
          <p:nvPr/>
        </p:nvSpPr>
        <p:spPr>
          <a:xfrm>
            <a:off x="11448847" y="41571226"/>
            <a:ext cx="9142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Overcomes severe 46.9:1 class skew to stabilize regression for rare categories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F7C020EE-C49E-E117-00EE-A8BF7B3565C7}"/>
              </a:ext>
            </a:extLst>
          </p:cNvPr>
          <p:cNvSpPr/>
          <p:nvPr/>
        </p:nvSpPr>
        <p:spPr>
          <a:xfrm>
            <a:off x="10670726" y="41030945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23">
            <a:extLst>
              <a:ext uri="{FF2B5EF4-FFF2-40B4-BE49-F238E27FC236}">
                <a16:creationId xmlns:a16="http://schemas.microsoft.com/office/drawing/2014/main" id="{A914D46F-9130-7628-5F08-3C673D3A518F}"/>
              </a:ext>
            </a:extLst>
          </p:cNvPr>
          <p:cNvSpPr/>
          <p:nvPr/>
        </p:nvSpPr>
        <p:spPr>
          <a:xfrm>
            <a:off x="10830000" y="41106743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CC5568F-179E-8482-8AB4-3F71B74842D9}"/>
              </a:ext>
            </a:extLst>
          </p:cNvPr>
          <p:cNvSpPr txBox="1"/>
          <p:nvPr/>
        </p:nvSpPr>
        <p:spPr>
          <a:xfrm>
            <a:off x="20771891" y="7842244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Results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5B771BB-E6D0-D95D-B218-9D8A6EEEE2CC}"/>
              </a:ext>
            </a:extLst>
          </p:cNvPr>
          <p:cNvGrpSpPr/>
          <p:nvPr/>
        </p:nvGrpSpPr>
        <p:grpSpPr>
          <a:xfrm>
            <a:off x="20771891" y="31192317"/>
            <a:ext cx="5332783" cy="723275"/>
            <a:chOff x="523709" y="7288826"/>
            <a:chExt cx="7376518" cy="964365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0D3CCCB-7D91-50F0-EA6F-2BA3B93AFA6F}"/>
                </a:ext>
              </a:extLst>
            </p:cNvPr>
            <p:cNvSpPr txBox="1"/>
            <p:nvPr/>
          </p:nvSpPr>
          <p:spPr>
            <a:xfrm>
              <a:off x="531710" y="7288826"/>
              <a:ext cx="7368517" cy="96436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4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Conclusion</a:t>
              </a:r>
              <a:endParaRPr lang="en-US" sz="4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A2CE833-3153-BEB9-2380-61B32E8C2E6F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4215441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47AB3E0A-26CA-7FED-1D25-AB778D20F381}"/>
              </a:ext>
            </a:extLst>
          </p:cNvPr>
          <p:cNvSpPr txBox="1"/>
          <p:nvPr/>
        </p:nvSpPr>
        <p:spPr>
          <a:xfrm>
            <a:off x="20714936" y="31985004"/>
            <a:ext cx="9485058" cy="3677603"/>
          </a:xfrm>
          <a:prstGeom prst="roundRect">
            <a:avLst/>
          </a:prstGeom>
          <a:solidFill>
            <a:schemeClr val="tx2">
              <a:lumMod val="9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Decouples screening triage from localization via a sensitivity-gated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and YOLO11-L cascade. Delivers 91.03% AUROC and 40.10% mAP@0.5, quantitatively grounded to authentic bone pathology (0.64 X-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). Enables CPU-efficient triage (120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 in resource-constrained clinics, strictly reserving scarce MRI slots.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E9FC975-4EA6-3EF4-5857-F0E625590159}"/>
              </a:ext>
            </a:extLst>
          </p:cNvPr>
          <p:cNvCxnSpPr>
            <a:cxnSpLocks/>
          </p:cNvCxnSpPr>
          <p:nvPr/>
        </p:nvCxnSpPr>
        <p:spPr>
          <a:xfrm>
            <a:off x="20486073" y="7711440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D2C389BA-3AE8-014D-F35C-6DB90C53633B}"/>
              </a:ext>
            </a:extLst>
          </p:cNvPr>
          <p:cNvSpPr txBox="1"/>
          <p:nvPr/>
        </p:nvSpPr>
        <p:spPr>
          <a:xfrm>
            <a:off x="-29515" y="36052464"/>
            <a:ext cx="101820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Fig. 1. </a:t>
            </a:r>
            <a:r>
              <a:rPr lang="en-US" sz="3000" dirty="0"/>
              <a:t>Severe 46.9:1 class imbalance across seven spinal lesion categories in the </a:t>
            </a:r>
            <a:r>
              <a:rPr lang="en-US" sz="3000" dirty="0" err="1"/>
              <a:t>VinDr-SpineXR</a:t>
            </a:r>
            <a:r>
              <a:rPr lang="en-US" sz="3000" dirty="0"/>
              <a:t> training cohort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 4">
            <a:extLst>
              <a:ext uri="{FF2B5EF4-FFF2-40B4-BE49-F238E27FC236}">
                <a16:creationId xmlns:a16="http://schemas.microsoft.com/office/drawing/2014/main" id="{CDFB6B6B-079F-DBFC-505C-1665E99443FD}"/>
              </a:ext>
            </a:extLst>
          </p:cNvPr>
          <p:cNvSpPr/>
          <p:nvPr/>
        </p:nvSpPr>
        <p:spPr>
          <a:xfrm>
            <a:off x="20933596" y="35796576"/>
            <a:ext cx="4085710" cy="21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Scan this QR for additional resources including code, data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D7A6789-E6F1-DB68-E201-6FEF982D317C}"/>
              </a:ext>
            </a:extLst>
          </p:cNvPr>
          <p:cNvSpPr txBox="1"/>
          <p:nvPr/>
        </p:nvSpPr>
        <p:spPr>
          <a:xfrm>
            <a:off x="20771891" y="21500475"/>
            <a:ext cx="8675203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AI Explainability (XAI)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5946A-8CFE-E22D-8D2D-B0FAB10D2A2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12685" y="22217889"/>
            <a:ext cx="5367663" cy="3184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21528B-0C0F-C912-B53C-19B25761283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180348" y="22248713"/>
            <a:ext cx="4106701" cy="341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3608A4-14B6-D63A-BD42-058CF07B9FF6}"/>
              </a:ext>
            </a:extLst>
          </p:cNvPr>
          <p:cNvSpPr txBox="1"/>
          <p:nvPr/>
        </p:nvSpPr>
        <p:spPr>
          <a:xfrm>
            <a:off x="20732286" y="25514926"/>
            <a:ext cx="9449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4. Explainability for the lesion localization</a:t>
            </a:r>
          </a:p>
        </p:txBody>
      </p:sp>
      <p:pic>
        <p:nvPicPr>
          <p:cNvPr id="1026" name="Picture 2" descr="QR code scan icon in flat style. Mobile phone scanning ...">
            <a:extLst>
              <a:ext uri="{FF2B5EF4-FFF2-40B4-BE49-F238E27FC236}">
                <a16:creationId xmlns:a16="http://schemas.microsoft.com/office/drawing/2014/main" id="{C940BCF3-80F6-2D35-D917-8BFA5F62C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6595" y="35989905"/>
            <a:ext cx="1661895" cy="203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stomizable Arrow Icon Designs for Web and App Use">
            <a:extLst>
              <a:ext uri="{FF2B5EF4-FFF2-40B4-BE49-F238E27FC236}">
                <a16:creationId xmlns:a16="http://schemas.microsoft.com/office/drawing/2014/main" id="{FE566806-64FB-1B6D-B410-C6F6E021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143" y="36684004"/>
            <a:ext cx="579784" cy="75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09FCB0-83B8-9539-626A-1A4AFF74788F}"/>
              </a:ext>
            </a:extLst>
          </p:cNvPr>
          <p:cNvSpPr txBox="1"/>
          <p:nvPr/>
        </p:nvSpPr>
        <p:spPr>
          <a:xfrm>
            <a:off x="20714936" y="26108013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Efficiency &amp; Ablation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F25E14-4EE1-013F-7843-288353C1AAE3}"/>
              </a:ext>
            </a:extLst>
          </p:cNvPr>
          <p:cNvSpPr/>
          <p:nvPr/>
        </p:nvSpPr>
        <p:spPr>
          <a:xfrm>
            <a:off x="20542368" y="26874921"/>
            <a:ext cx="9679253" cy="43366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1A665A28-778C-A1F4-FAC1-1E56D2877AE9}"/>
              </a:ext>
            </a:extLst>
          </p:cNvPr>
          <p:cNvSpPr/>
          <p:nvPr/>
        </p:nvSpPr>
        <p:spPr>
          <a:xfrm>
            <a:off x="20554705" y="27051765"/>
            <a:ext cx="2798728" cy="117719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402BF52F-058A-CF1A-C2AF-77BD7EF51D09}"/>
              </a:ext>
            </a:extLst>
          </p:cNvPr>
          <p:cNvSpPr/>
          <p:nvPr/>
        </p:nvSpPr>
        <p:spPr>
          <a:xfrm>
            <a:off x="20676887" y="27191564"/>
            <a:ext cx="2819629" cy="7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CPU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6C407872-C62D-41DC-8093-94678B533157}"/>
              </a:ext>
            </a:extLst>
          </p:cNvPr>
          <p:cNvSpPr/>
          <p:nvPr/>
        </p:nvSpPr>
        <p:spPr>
          <a:xfrm>
            <a:off x="20507334" y="28515832"/>
            <a:ext cx="281962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17134D56-E12A-6083-B242-AD6014A9F3D7}"/>
              </a:ext>
            </a:extLst>
          </p:cNvPr>
          <p:cNvSpPr/>
          <p:nvPr/>
        </p:nvSpPr>
        <p:spPr>
          <a:xfrm>
            <a:off x="20684809" y="28560972"/>
            <a:ext cx="2716353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Imbalance Ablation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F7E408F0-91FA-E27F-A1FC-D72D71EA3DC0}"/>
              </a:ext>
            </a:extLst>
          </p:cNvPr>
          <p:cNvSpPr/>
          <p:nvPr/>
        </p:nvSpPr>
        <p:spPr>
          <a:xfrm>
            <a:off x="23365770" y="27048280"/>
            <a:ext cx="6880055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15.4 GFLOPS screening filters </a:t>
            </a:r>
            <a:r>
              <a:rPr lang="en-US" sz="2800" dirty="0" err="1"/>
              <a:t>normals</a:t>
            </a:r>
            <a:r>
              <a:rPr lang="en-US" sz="2800" dirty="0"/>
              <a:t> upfront; heavier 74.6 GFLOPS detector executes on abnormalities for CPU triage.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5">
            <a:extLst>
              <a:ext uri="{FF2B5EF4-FFF2-40B4-BE49-F238E27FC236}">
                <a16:creationId xmlns:a16="http://schemas.microsoft.com/office/drawing/2014/main" id="{C7176572-5FDB-01BD-8A23-5CCB3999911D}"/>
              </a:ext>
            </a:extLst>
          </p:cNvPr>
          <p:cNvSpPr/>
          <p:nvPr/>
        </p:nvSpPr>
        <p:spPr>
          <a:xfrm>
            <a:off x="20568360" y="29949257"/>
            <a:ext cx="281962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17E9F177-F589-15CD-9E35-C710478CC7AC}"/>
              </a:ext>
            </a:extLst>
          </p:cNvPr>
          <p:cNvSpPr/>
          <p:nvPr/>
        </p:nvSpPr>
        <p:spPr>
          <a:xfrm>
            <a:off x="23334264" y="28512163"/>
            <a:ext cx="6880055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20% copy-paste lifts mAP@0.5 from 37.70% → 40.10% on rare lesions.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3CA6EFCE-6EBB-41FB-1E62-EE46DB111FF2}"/>
              </a:ext>
            </a:extLst>
          </p:cNvPr>
          <p:cNvSpPr/>
          <p:nvPr/>
        </p:nvSpPr>
        <p:spPr>
          <a:xfrm>
            <a:off x="23364778" y="29969936"/>
            <a:ext cx="6880055" cy="108841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0.61–0.64 mean X-</a:t>
            </a:r>
            <a:r>
              <a:rPr lang="en-US" sz="2800" dirty="0" err="1"/>
              <a:t>IoU</a:t>
            </a:r>
            <a:r>
              <a:rPr lang="en-US" sz="2800" dirty="0"/>
              <a:t> grounds triage to bone margins, safeguarding scarce MRI slots.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6AA6876D-B17E-5EE4-0349-98F701754F25}"/>
              </a:ext>
            </a:extLst>
          </p:cNvPr>
          <p:cNvSpPr/>
          <p:nvPr/>
        </p:nvSpPr>
        <p:spPr>
          <a:xfrm>
            <a:off x="20714936" y="29963869"/>
            <a:ext cx="2716353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Anatomical Trust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6306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994</Words>
  <Application>Microsoft Office PowerPoint</Application>
  <PresentationFormat>Custom</PresentationFormat>
  <Paragraphs>203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Cambria Math</vt:lpstr>
      <vt:lpstr>Arial</vt:lpstr>
      <vt:lpstr>Nunito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Mert Seven - Dekon Congress &amp; Tourism</dc:creator>
  <cp:lastModifiedBy>Prosenjit mondol</cp:lastModifiedBy>
  <cp:revision>28</cp:revision>
  <dcterms:created xsi:type="dcterms:W3CDTF">2026-07-27T09:56:02Z</dcterms:created>
  <dcterms:modified xsi:type="dcterms:W3CDTF">2026-09-16T16:38:22Z</dcterms:modified>
</cp:coreProperties>
</file>