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80" r:id="rId9"/>
    <p:sldId id="264" r:id="rId10"/>
    <p:sldId id="263" r:id="rId11"/>
    <p:sldId id="281" r:id="rId12"/>
    <p:sldId id="267" r:id="rId13"/>
    <p:sldId id="268" r:id="rId14"/>
    <p:sldId id="269" r:id="rId15"/>
    <p:sldId id="270" r:id="rId16"/>
    <p:sldId id="271" r:id="rId17"/>
    <p:sldId id="272" r:id="rId18"/>
    <p:sldId id="282" r:id="rId19"/>
    <p:sldId id="274" r:id="rId20"/>
    <p:sldId id="275" r:id="rId21"/>
    <p:sldId id="283" r:id="rId22"/>
    <p:sldId id="284" r:id="rId23"/>
    <p:sldId id="276" r:id="rId24"/>
    <p:sldId id="277" r:id="rId25"/>
    <p:sldId id="285" r:id="rId26"/>
    <p:sldId id="278" r:id="rId27"/>
    <p:sldId id="279" r:id="rId28"/>
    <p:sldId id="286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31B7"/>
    <a:srgbClr val="7645CF"/>
    <a:srgbClr val="2207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5" autoAdjust="0"/>
  </p:normalViewPr>
  <p:slideViewPr>
    <p:cSldViewPr snapToGrid="0" snapToObjects="1">
      <p:cViewPr varScale="1">
        <p:scale>
          <a:sx n="47" d="100"/>
          <a:sy n="47" d="100"/>
        </p:scale>
        <p:origin x="53" y="7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6DA51-C64B-4EA3-B177-06C9AF716E2A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70058-47A4-4523-AE0A-6D23B007D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29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the core thesis of the paper: structural decoupling. Rather than forcing a monolithic detector to perform screening and localization simultaneously, we decouple the pipeline: DERNet screens everyone quickly with high sensitivity, and only abnormal studies trigger the computationally heavier YOLO11-L detector.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For Stage 2, we customized YOLO11-L with C2PSA spatial attention and </a:t>
            </a:r>
            <a:r>
              <a:rPr lang="en-US" dirty="0" err="1"/>
              <a:t>PANet</a:t>
            </a:r>
            <a:r>
              <a:rPr lang="en-US" dirty="0"/>
              <a:t> feature fusion. The 80x80 spatial head is essential: it gives us fine spatial granularity to bound tiny lesions that occupy less than 0.25% of the field of view.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70058-47A4-4523-AE0A-6D23B007DBB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831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70058-47A4-4523-AE0A-6D23B007DBB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995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3189049"/>
            <a:ext cx="9126995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3000" b="1" i="0" dirty="0">
                <a:solidFill>
                  <a:srgbClr val="7645CF"/>
                </a:solidFill>
              </a:rPr>
              <a:t>A Sensitivity-Gated Cascade for </a:t>
            </a:r>
            <a:r>
              <a:rPr sz="3000" b="1" i="0" dirty="0">
                <a:solidFill>
                  <a:srgbClr val="7645CF"/>
                </a:solidFill>
              </a:rPr>
              <a:t>Compute-Efficient Spinal Lesion Detection</a:t>
            </a:r>
            <a:r>
              <a:rPr lang="en-US" sz="3000" b="1" dirty="0">
                <a:solidFill>
                  <a:srgbClr val="7645CF"/>
                </a:solidFill>
              </a:rPr>
              <a:t> </a:t>
            </a:r>
            <a:r>
              <a:rPr lang="en-US" sz="3000" b="1" i="0" dirty="0">
                <a:solidFill>
                  <a:srgbClr val="7645CF"/>
                </a:solidFill>
              </a:rPr>
              <a:t>in Resource</a:t>
            </a:r>
            <a:r>
              <a:rPr lang="en-US" sz="3000" b="1" dirty="0">
                <a:solidFill>
                  <a:srgbClr val="7645CF"/>
                </a:solidFill>
              </a:rPr>
              <a:t>-Constrained Settings</a:t>
            </a:r>
            <a:endParaRPr sz="3000" b="1" i="0" dirty="0">
              <a:solidFill>
                <a:srgbClr val="7645C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0352" y="4228378"/>
            <a:ext cx="613266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i="0" dirty="0">
                <a:solidFill>
                  <a:srgbClr val="2B323B"/>
                </a:solidFill>
              </a:rPr>
              <a:t>Prosenjit Mondol¹  •  Samrat Kumar Dey²  •  Arpita Howlader¹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4785017"/>
            <a:ext cx="7043928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/>
            <a:r>
              <a:rPr sz="1400" b="0" i="0" dirty="0"/>
              <a:t>¹ Faculty of Computer Science and Engineering, Patuakhali Science and Technology University
² School of Science and Technology, Bangladesh Open University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6419088"/>
            <a:ext cx="11109960" cy="9144"/>
          </a:xfrm>
          <a:prstGeom prst="rect">
            <a:avLst/>
          </a:prstGeom>
          <a:solidFill>
            <a:srgbClr val="D3D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27080" y="6437376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 dirty="0">
                <a:solidFill>
                  <a:srgbClr val="12243A"/>
                </a:solidFill>
              </a:rPr>
              <a:t>01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8AA3B14-6496-0034-6170-4520015E9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5477256"/>
            <a:ext cx="1153344" cy="9144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9C91D3E-23DE-A4CF-2277-B96C93DDE0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99302" y="5495544"/>
            <a:ext cx="919051" cy="850392"/>
          </a:xfrm>
          <a:prstGeom prst="rect">
            <a:avLst/>
          </a:prstGeom>
        </p:spPr>
      </p:pic>
      <p:pic>
        <p:nvPicPr>
          <p:cNvPr id="19" name="Google Shape;87;p1">
            <a:extLst>
              <a:ext uri="{FF2B5EF4-FFF2-40B4-BE49-F238E27FC236}">
                <a16:creationId xmlns:a16="http://schemas.microsoft.com/office/drawing/2014/main" id="{41C11FDC-9104-4853-F6D5-59EC3386C5B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73552" y="148745"/>
            <a:ext cx="2743200" cy="1142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89;p1">
            <a:extLst>
              <a:ext uri="{FF2B5EF4-FFF2-40B4-BE49-F238E27FC236}">
                <a16:creationId xmlns:a16="http://schemas.microsoft.com/office/drawing/2014/main" id="{FFE6D49D-7470-550E-C8EE-564BB720108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b="60129"/>
          <a:stretch/>
        </p:blipFill>
        <p:spPr>
          <a:xfrm>
            <a:off x="530352" y="77315"/>
            <a:ext cx="2743200" cy="120656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FC24D1D-8A0C-70C0-7904-FEB4DB65BF73}"/>
              </a:ext>
            </a:extLst>
          </p:cNvPr>
          <p:cNvSpPr txBox="1"/>
          <p:nvPr/>
        </p:nvSpPr>
        <p:spPr>
          <a:xfrm>
            <a:off x="530352" y="1527159"/>
            <a:ext cx="9011003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3000" b="1" i="0" dirty="0">
                <a:solidFill>
                  <a:srgbClr val="12243A"/>
                </a:solidFill>
              </a:rPr>
              <a:t>A Medical Image Computing in Resources Constrained Setting Workshop &amp; Knowledge Interchange (MIRASOL)</a:t>
            </a:r>
            <a:endParaRPr sz="3000" b="1" i="0" dirty="0">
              <a:solidFill>
                <a:srgbClr val="12243A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E7CF40-D919-3614-2B7C-E438CBC9D1D0}"/>
              </a:ext>
            </a:extLst>
          </p:cNvPr>
          <p:cNvSpPr/>
          <p:nvPr/>
        </p:nvSpPr>
        <p:spPr>
          <a:xfrm>
            <a:off x="530352" y="2618992"/>
            <a:ext cx="8854280" cy="45719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1B4708-7018-800D-FA93-18DBFCCDF8C9}"/>
              </a:ext>
            </a:extLst>
          </p:cNvPr>
          <p:cNvSpPr txBox="1"/>
          <p:nvPr/>
        </p:nvSpPr>
        <p:spPr>
          <a:xfrm>
            <a:off x="10363677" y="147588"/>
            <a:ext cx="1785256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b="1" i="0" u="sng" dirty="0">
                <a:solidFill>
                  <a:srgbClr val="12243A"/>
                </a:solidFill>
              </a:rPr>
              <a:t>C</a:t>
            </a:r>
            <a:r>
              <a:rPr lang="en-US" i="0" dirty="0">
                <a:solidFill>
                  <a:srgbClr val="12243A"/>
                </a:solidFill>
              </a:rPr>
              <a:t>omputational</a:t>
            </a:r>
            <a:r>
              <a:rPr lang="en-US" b="1" i="0" dirty="0">
                <a:solidFill>
                  <a:srgbClr val="12243A"/>
                </a:solidFill>
              </a:rPr>
              <a:t> </a:t>
            </a:r>
          </a:p>
          <a:p>
            <a:r>
              <a:rPr lang="en-US" b="1" i="0" u="sng" dirty="0">
                <a:solidFill>
                  <a:srgbClr val="C00000"/>
                </a:solidFill>
              </a:rPr>
              <a:t>I</a:t>
            </a:r>
            <a:r>
              <a:rPr lang="en-US" i="0" dirty="0">
                <a:solidFill>
                  <a:srgbClr val="12243A"/>
                </a:solidFill>
              </a:rPr>
              <a:t>nformatics &amp;</a:t>
            </a:r>
          </a:p>
          <a:p>
            <a:r>
              <a:rPr lang="en-US" b="1" u="sng" dirty="0">
                <a:solidFill>
                  <a:srgbClr val="12243A"/>
                </a:solidFill>
              </a:rPr>
              <a:t>M</a:t>
            </a:r>
            <a:r>
              <a:rPr lang="en-US" dirty="0">
                <a:solidFill>
                  <a:srgbClr val="12243A"/>
                </a:solidFill>
              </a:rPr>
              <a:t>achine</a:t>
            </a:r>
          </a:p>
          <a:p>
            <a:r>
              <a:rPr lang="en-US" b="1" i="0" u="sng" dirty="0">
                <a:solidFill>
                  <a:srgbClr val="C00000"/>
                </a:solidFill>
              </a:rPr>
              <a:t>I</a:t>
            </a:r>
            <a:r>
              <a:rPr lang="en-US" i="0" dirty="0">
                <a:solidFill>
                  <a:srgbClr val="12243A"/>
                </a:solidFill>
              </a:rPr>
              <a:t>ntelligence</a:t>
            </a:r>
            <a:r>
              <a:rPr lang="en-US" b="1" i="0" dirty="0">
                <a:solidFill>
                  <a:srgbClr val="12243A"/>
                </a:solidFill>
              </a:rPr>
              <a:t> </a:t>
            </a:r>
            <a:r>
              <a:rPr lang="en-US" b="1" dirty="0">
                <a:solidFill>
                  <a:srgbClr val="12243A"/>
                </a:solidFill>
              </a:rPr>
              <a:t>Lab</a:t>
            </a:r>
            <a:endParaRPr b="1" i="0" dirty="0">
              <a:solidFill>
                <a:srgbClr val="12243A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E212DE4-A286-B6E3-E165-39C5D37C2E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1355" y="206121"/>
            <a:ext cx="609685" cy="36200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CEE8DB7D-B391-65F5-EE36-16004DE423CF}"/>
              </a:ext>
            </a:extLst>
          </p:cNvPr>
          <p:cNvSpPr/>
          <p:nvPr/>
        </p:nvSpPr>
        <p:spPr>
          <a:xfrm>
            <a:off x="9776749" y="585787"/>
            <a:ext cx="138896" cy="40655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4D4EE6C-705B-E1AD-1A79-5E70855078D1}"/>
              </a:ext>
            </a:extLst>
          </p:cNvPr>
          <p:cNvSpPr/>
          <p:nvPr/>
        </p:nvSpPr>
        <p:spPr>
          <a:xfrm>
            <a:off x="10329336" y="192239"/>
            <a:ext cx="45719" cy="1076063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F1EE81-F143-6247-660E-E46D61CA8E6E}"/>
              </a:ext>
            </a:extLst>
          </p:cNvPr>
          <p:cNvSpPr txBox="1"/>
          <p:nvPr/>
        </p:nvSpPr>
        <p:spPr>
          <a:xfrm>
            <a:off x="9259268" y="920560"/>
            <a:ext cx="117385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400" b="1" i="0" dirty="0">
                <a:solidFill>
                  <a:srgbClr val="12243A"/>
                </a:solidFill>
              </a:rPr>
              <a:t>SEE-ME</a:t>
            </a:r>
            <a:endParaRPr sz="2400" b="1" i="0" dirty="0">
              <a:solidFill>
                <a:srgbClr val="12243A"/>
              </a:solidFill>
            </a:endParaRPr>
          </a:p>
        </p:txBody>
      </p:sp>
      <p:sp>
        <p:nvSpPr>
          <p:cNvPr id="38" name="Rounded Rectangle 21">
            <a:extLst>
              <a:ext uri="{FF2B5EF4-FFF2-40B4-BE49-F238E27FC236}">
                <a16:creationId xmlns:a16="http://schemas.microsoft.com/office/drawing/2014/main" id="{D3E2AC6F-BF80-EEF0-1D29-E78278FE5190}"/>
              </a:ext>
            </a:extLst>
          </p:cNvPr>
          <p:cNvSpPr/>
          <p:nvPr/>
        </p:nvSpPr>
        <p:spPr>
          <a:xfrm>
            <a:off x="8890853" y="4245134"/>
            <a:ext cx="144475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B73C949-3288-6470-44ED-AB438BD34251}"/>
              </a:ext>
            </a:extLst>
          </p:cNvPr>
          <p:cNvSpPr/>
          <p:nvPr/>
        </p:nvSpPr>
        <p:spPr>
          <a:xfrm>
            <a:off x="8890853" y="4245134"/>
            <a:ext cx="54864" cy="1024128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FDF97B8-4A2B-29FA-02C7-17086717427B}"/>
              </a:ext>
            </a:extLst>
          </p:cNvPr>
          <p:cNvSpPr txBox="1"/>
          <p:nvPr/>
        </p:nvSpPr>
        <p:spPr>
          <a:xfrm>
            <a:off x="9037157" y="4364006"/>
            <a:ext cx="12344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7324D"/>
                </a:solidFill>
                <a:latin typeface="Arial"/>
              </a:rPr>
              <a:t>91.03%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81595D8-BDEC-6C60-7A91-C133694EC8F5}"/>
              </a:ext>
            </a:extLst>
          </p:cNvPr>
          <p:cNvSpPr txBox="1"/>
          <p:nvPr/>
        </p:nvSpPr>
        <p:spPr>
          <a:xfrm>
            <a:off x="9046301" y="4729766"/>
            <a:ext cx="1234440" cy="135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D2A33"/>
                </a:solidFill>
                <a:latin typeface="Arial"/>
              </a:rPr>
              <a:t>AUROC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AD3CF3-9330-65D0-ED3A-8B22BA8A03A9}"/>
              </a:ext>
            </a:extLst>
          </p:cNvPr>
          <p:cNvSpPr txBox="1"/>
          <p:nvPr/>
        </p:nvSpPr>
        <p:spPr>
          <a:xfrm>
            <a:off x="9046301" y="4994942"/>
            <a:ext cx="1234440" cy="1138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40" b="0" i="0">
                <a:solidFill>
                  <a:srgbClr val="6B7680"/>
                </a:solidFill>
                <a:latin typeface="Arial"/>
              </a:rPr>
              <a:t>DERNet</a:t>
            </a:r>
          </a:p>
        </p:txBody>
      </p:sp>
      <p:sp>
        <p:nvSpPr>
          <p:cNvPr id="43" name="Rounded Rectangle 26">
            <a:extLst>
              <a:ext uri="{FF2B5EF4-FFF2-40B4-BE49-F238E27FC236}">
                <a16:creationId xmlns:a16="http://schemas.microsoft.com/office/drawing/2014/main" id="{63987E8E-D67F-9761-3E36-1D91F2819DE6}"/>
              </a:ext>
            </a:extLst>
          </p:cNvPr>
          <p:cNvSpPr/>
          <p:nvPr/>
        </p:nvSpPr>
        <p:spPr>
          <a:xfrm>
            <a:off x="10536773" y="4245134"/>
            <a:ext cx="144475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99B3062-EAE4-BA3B-3EC6-144EBC45356A}"/>
              </a:ext>
            </a:extLst>
          </p:cNvPr>
          <p:cNvSpPr/>
          <p:nvPr/>
        </p:nvSpPr>
        <p:spPr>
          <a:xfrm>
            <a:off x="10536773" y="4245134"/>
            <a:ext cx="54864" cy="1024128"/>
          </a:xfrm>
          <a:prstGeom prst="rect">
            <a:avLst/>
          </a:prstGeom>
          <a:solidFill>
            <a:srgbClr val="2C6E9B"/>
          </a:solidFill>
          <a:ln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89D408F-AD61-3E0F-46DF-EADDF3C06ABD}"/>
              </a:ext>
            </a:extLst>
          </p:cNvPr>
          <p:cNvSpPr txBox="1"/>
          <p:nvPr/>
        </p:nvSpPr>
        <p:spPr>
          <a:xfrm>
            <a:off x="10683077" y="4364006"/>
            <a:ext cx="12344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7324D"/>
                </a:solidFill>
                <a:latin typeface="Arial"/>
              </a:rPr>
              <a:t>40.10%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31C923A-68ED-489D-261C-EDF525466252}"/>
              </a:ext>
            </a:extLst>
          </p:cNvPr>
          <p:cNvSpPr txBox="1"/>
          <p:nvPr/>
        </p:nvSpPr>
        <p:spPr>
          <a:xfrm>
            <a:off x="10692221" y="4729766"/>
            <a:ext cx="1234440" cy="135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D2A33"/>
                </a:solidFill>
                <a:latin typeface="Arial"/>
              </a:rPr>
              <a:t>mAP@0.5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B0064E9-38F4-357A-5D91-706FBF7B41A3}"/>
              </a:ext>
            </a:extLst>
          </p:cNvPr>
          <p:cNvSpPr txBox="1"/>
          <p:nvPr/>
        </p:nvSpPr>
        <p:spPr>
          <a:xfrm>
            <a:off x="10692221" y="4994942"/>
            <a:ext cx="1234440" cy="1138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40" b="0" i="0">
                <a:solidFill>
                  <a:srgbClr val="6B7680"/>
                </a:solidFill>
                <a:latin typeface="Arial"/>
              </a:rPr>
              <a:t>YOLO11-L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9E5449-02FF-7B0C-FA36-E68406412097}"/>
              </a:ext>
            </a:extLst>
          </p:cNvPr>
          <p:cNvSpPr txBox="1"/>
          <p:nvPr/>
        </p:nvSpPr>
        <p:spPr>
          <a:xfrm>
            <a:off x="548640" y="6455664"/>
            <a:ext cx="8503920" cy="2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 dirty="0">
                <a:solidFill>
                  <a:srgbClr val="626C78"/>
                </a:solidFill>
              </a:rPr>
              <a:t>MIRASOL • MICCAI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384048"/>
            <a:ext cx="110642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dirty="0">
                <a:solidFill>
                  <a:srgbClr val="12243A"/>
                </a:solidFill>
              </a:rPr>
              <a:t>Research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79397"/>
            <a:ext cx="65379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 dirty="0">
                <a:solidFill>
                  <a:srgbClr val="7645CF"/>
                </a:solidFill>
              </a:rPr>
              <a:t>Why spinal radiograph AI needs sensitivity, localization, and resource awareness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9165"/>
            <a:ext cx="6537960" cy="2913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700"/>
              </a:spcAft>
              <a:defRPr sz="1410">
                <a:solidFill>
                  <a:srgbClr val="2B323B"/>
                </a:solidFill>
              </a:defRPr>
            </a:pPr>
            <a:r>
              <a:rPr sz="1600" dirty="0"/>
              <a:t>• Spinal radiographs are a primary screening modality for a wide spectrum of spinal pathologies.</a:t>
            </a:r>
          </a:p>
          <a:p>
            <a:pPr algn="just">
              <a:spcAft>
                <a:spcPts val="700"/>
              </a:spcAft>
              <a:defRPr sz="1410">
                <a:solidFill>
                  <a:srgbClr val="2B323B"/>
                </a:solidFill>
              </a:defRPr>
            </a:pPr>
            <a:r>
              <a:rPr sz="1600" dirty="0"/>
              <a:t>• Radiologists must interpret complex 3D bony anatomy projected onto a 2D plane, creating substantial visual ambiguity.</a:t>
            </a:r>
          </a:p>
          <a:p>
            <a:pPr algn="just">
              <a:spcAft>
                <a:spcPts val="700"/>
              </a:spcAft>
              <a:defRPr sz="1410">
                <a:solidFill>
                  <a:srgbClr val="2B323B"/>
                </a:solidFill>
              </a:defRPr>
            </a:pPr>
            <a:r>
              <a:rPr sz="1600" dirty="0"/>
              <a:t>• Many lesions are minute and can occupy less than 1% of the field of view, while overlapping anatomy can obscure subtle findings.</a:t>
            </a:r>
          </a:p>
          <a:p>
            <a:pPr algn="just">
              <a:spcAft>
                <a:spcPts val="700"/>
              </a:spcAft>
              <a:defRPr sz="1410">
                <a:solidFill>
                  <a:srgbClr val="2B323B"/>
                </a:solidFill>
              </a:defRPr>
            </a:pPr>
            <a:r>
              <a:rPr sz="1600" dirty="0"/>
              <a:t>• The long-tailed lesion distribution creates a strong learning bias toward abundant pathology.</a:t>
            </a:r>
          </a:p>
          <a:p>
            <a:pPr algn="just">
              <a:spcAft>
                <a:spcPts val="700"/>
              </a:spcAft>
              <a:defRPr sz="1410">
                <a:solidFill>
                  <a:srgbClr val="2B323B"/>
                </a:solidFill>
              </a:defRPr>
            </a:pPr>
            <a:r>
              <a:rPr sz="1600" dirty="0"/>
              <a:t>• A practical low-resource workflow should not spend heavy detector computation on every normal study.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79792" y="1371600"/>
            <a:ext cx="400507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35240" y="1490472"/>
            <a:ext cx="369417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i="0" dirty="0">
                <a:solidFill>
                  <a:srgbClr val="12243A"/>
                </a:solidFill>
              </a:rPr>
              <a:t>Clinical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883664"/>
            <a:ext cx="3694176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solidFill>
                  <a:srgbClr val="2B323B"/>
                </a:solidFill>
              </a:rPr>
              <a:t>Visual ambiguity and subtle lesions can contribute to missed or delayed diagnosis.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9792" y="2761488"/>
            <a:ext cx="400507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35240" y="2880360"/>
            <a:ext cx="369417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i="0" dirty="0">
                <a:solidFill>
                  <a:srgbClr val="12243A"/>
                </a:solidFill>
              </a:rPr>
              <a:t>Statistical 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3273552"/>
            <a:ext cx="369417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solidFill>
                  <a:srgbClr val="2B323B"/>
                </a:solidFill>
              </a:rPr>
              <a:t>Dominant classes can overwhelm rare-lesion learning.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4151376"/>
            <a:ext cx="400507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35240" y="4270248"/>
            <a:ext cx="369417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b="1" i="0" dirty="0">
                <a:solidFill>
                  <a:srgbClr val="12243A"/>
                </a:solidFill>
              </a:rPr>
              <a:t>Resources Constrained Triage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663440"/>
            <a:ext cx="3694176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solidFill>
                  <a:srgbClr val="2B323B"/>
                </a:solidFill>
              </a:rPr>
              <a:t>Heavy localization models are computationally expensive when applied universally.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6419088"/>
            <a:ext cx="11109960" cy="9144"/>
          </a:xfrm>
          <a:prstGeom prst="rect">
            <a:avLst/>
          </a:prstGeom>
          <a:solidFill>
            <a:srgbClr val="D3D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8503920" cy="2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 dirty="0">
                <a:solidFill>
                  <a:srgbClr val="626C78"/>
                </a:solidFill>
              </a:rPr>
              <a:t>MIRASOL • MICCAI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37376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12243A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1095451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 dirty="0">
                <a:solidFill>
                  <a:srgbClr val="12243A"/>
                </a:solidFill>
              </a:rPr>
              <a:t>Research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 dirty="0">
                <a:solidFill>
                  <a:srgbClr val="626C78"/>
                </a:solidFill>
              </a:rPr>
              <a:t>Where the paper positions the proposed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225296"/>
            <a:ext cx="10972800" cy="2757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700"/>
              </a:spcAft>
              <a:defRPr sz="1400">
                <a:solidFill>
                  <a:srgbClr val="2B32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VinDr-SpineXR</a:t>
            </a:r>
            <a:r>
              <a:rPr sz="1600" dirty="0"/>
              <a:t> introduced a multi-lesion benchmark and baseline classifiers, but its strong long-tail distribution remains difficult.</a:t>
            </a:r>
          </a:p>
          <a:p>
            <a:pPr algn="just">
              <a:spcAft>
                <a:spcPts val="700"/>
              </a:spcAft>
              <a:defRPr sz="1400">
                <a:solidFill>
                  <a:srgbClr val="2B323B"/>
                </a:solidFill>
              </a:defRPr>
            </a:pPr>
            <a:r>
              <a:rPr sz="1600" dirty="0"/>
              <a:t>• Single-disease systems, such as osteophyte-focused approaches, do not provide broad multi-lesion screening.</a:t>
            </a:r>
          </a:p>
          <a:p>
            <a:pPr algn="just">
              <a:spcAft>
                <a:spcPts val="700"/>
              </a:spcAft>
              <a:defRPr sz="1400">
                <a:solidFill>
                  <a:srgbClr val="2B323B"/>
                </a:solidFill>
              </a:defRPr>
            </a:pPr>
            <a:r>
              <a:rPr sz="1600" dirty="0"/>
              <a:t>• Conventional two-stage and one-stage detectors can struggle with the combination of minute lesions and rare foreground classes.</a:t>
            </a:r>
          </a:p>
          <a:p>
            <a:pPr algn="just">
              <a:spcAft>
                <a:spcPts val="700"/>
              </a:spcAft>
              <a:defRPr sz="1400">
                <a:solidFill>
                  <a:srgbClr val="2B323B"/>
                </a:solidFill>
              </a:defRPr>
            </a:pPr>
            <a:r>
              <a:rPr sz="1600" dirty="0"/>
              <a:t>• Vision Transformer approaches may be less efficient to train on smaller, imbalanced spinal datasets.</a:t>
            </a:r>
          </a:p>
          <a:p>
            <a:pPr algn="just">
              <a:spcAft>
                <a:spcPts val="700"/>
              </a:spcAft>
              <a:defRPr sz="1400">
                <a:solidFill>
                  <a:srgbClr val="2B323B"/>
                </a:solidFill>
              </a:defRPr>
            </a:pPr>
            <a:r>
              <a:rPr sz="1600" dirty="0"/>
              <a:t>• Focal-loss-based approaches help difficult examples, but the paper argues that rare minute lesions still need architectural prioritization.</a:t>
            </a:r>
          </a:p>
          <a:p>
            <a:pPr algn="just">
              <a:spcAft>
                <a:spcPts val="700"/>
              </a:spcAft>
              <a:defRPr sz="1400">
                <a:solidFill>
                  <a:srgbClr val="2B323B"/>
                </a:solidFill>
              </a:defRPr>
            </a:pPr>
            <a:r>
              <a:rPr sz="1600" dirty="0"/>
              <a:t>• This work combines heterogeneous high-sensitivity triage, a customized detector, imbalance mitigation, explainability, and staged computation.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419088"/>
            <a:ext cx="11109960" cy="9144"/>
          </a:xfrm>
          <a:prstGeom prst="rect">
            <a:avLst/>
          </a:prstGeom>
          <a:solidFill>
            <a:srgbClr val="D3D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503920" cy="2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 dirty="0">
                <a:solidFill>
                  <a:srgbClr val="626C78"/>
                </a:solidFill>
              </a:rPr>
              <a:t>MIRASOL • MICCAI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37376"/>
            <a:ext cx="5029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 dirty="0">
                <a:solidFill>
                  <a:srgbClr val="12243A"/>
                </a:solidFill>
              </a:rPr>
              <a:t>0</a:t>
            </a:r>
            <a:r>
              <a:rPr lang="en-US" sz="800" b="1" i="0" dirty="0">
                <a:solidFill>
                  <a:srgbClr val="12243A"/>
                </a:solidFill>
              </a:rPr>
              <a:t>3</a:t>
            </a:r>
            <a:endParaRPr sz="800" b="1" i="0" dirty="0">
              <a:solidFill>
                <a:srgbClr val="12243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506492"/>
            <a:ext cx="9126995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 dirty="0">
                <a:solidFill>
                  <a:srgbClr val="12243A"/>
                </a:solidFill>
              </a:rPr>
              <a:t>Clinical &amp; Technical Challenges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71600"/>
            <a:ext cx="342900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25696" y="1508760"/>
            <a:ext cx="33192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 dirty="0">
                <a:solidFill>
                  <a:srgbClr val="2C5E92"/>
                </a:solidFill>
              </a:rPr>
              <a:t>&lt; 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084832"/>
            <a:ext cx="32461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0" i="0" dirty="0"/>
              <a:t>lesion area / FOV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371600"/>
            <a:ext cx="342900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56448" y="1508760"/>
            <a:ext cx="3319272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 dirty="0">
                <a:solidFill>
                  <a:srgbClr val="0070C0"/>
                </a:solidFill>
              </a:rPr>
              <a:t>15.4 GFLOPs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3" y="2084832"/>
            <a:ext cx="32461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0" i="0" dirty="0" err="1"/>
              <a:t>DERNet</a:t>
            </a:r>
            <a:r>
              <a:rPr b="0" i="0" dirty="0"/>
              <a:t> screening cost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3429000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8" y="3319272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2243A"/>
                </a:solidFill>
              </a:rPr>
              <a:t>A • Sensitivity / specificity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3712464"/>
            <a:ext cx="3118104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/>
            <a:r>
              <a:rPr sz="1600" b="0" i="0" dirty="0">
                <a:solidFill>
                  <a:srgbClr val="2B323B"/>
                </a:solidFill>
              </a:rPr>
              <a:t>A monolithic model must simultaneously decide whether a study is abnormal and localize fine-grained lesions.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3200400"/>
            <a:ext cx="3429000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26280" y="3319272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2243A"/>
                </a:solidFill>
              </a:rPr>
              <a:t>B • Extreme imbalance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712464"/>
            <a:ext cx="3118104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/>
            <a:r>
              <a:rPr sz="1600" b="0" i="0" dirty="0">
                <a:solidFill>
                  <a:srgbClr val="2B323B"/>
                </a:solidFill>
              </a:rPr>
              <a:t>The dataset is dominated by Osteophytes while rare categories have far fewer annotations.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3200400"/>
            <a:ext cx="3429000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57031" y="3319272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dirty="0">
                <a:solidFill>
                  <a:srgbClr val="12243A"/>
                </a:solidFill>
              </a:rPr>
              <a:t>C • High computational overhead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3712464"/>
            <a:ext cx="3118104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/>
            <a:r>
              <a:rPr sz="1600" b="0" i="0" dirty="0">
                <a:solidFill>
                  <a:srgbClr val="2B323B"/>
                </a:solidFill>
              </a:rPr>
              <a:t>Running a 74.6-GFLOP detector on every study is undesirable in constrained environments.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641848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2243A"/>
                </a:solidFill>
              </a:rPr>
              <a:t>Design implication → screen first, localize second.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6419088"/>
            <a:ext cx="11109960" cy="9144"/>
          </a:xfrm>
          <a:prstGeom prst="rect">
            <a:avLst/>
          </a:prstGeom>
          <a:solidFill>
            <a:srgbClr val="D3D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8503920" cy="2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 dirty="0">
                <a:solidFill>
                  <a:srgbClr val="626C78"/>
                </a:solidFill>
              </a:rPr>
              <a:t> MIRASOL • MICCAI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37376"/>
            <a:ext cx="5029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 dirty="0">
                <a:solidFill>
                  <a:srgbClr val="12243A"/>
                </a:solidFill>
              </a:rPr>
              <a:t>0</a:t>
            </a:r>
            <a:r>
              <a:rPr lang="en-US" sz="800" b="1" i="0" dirty="0">
                <a:solidFill>
                  <a:srgbClr val="12243A"/>
                </a:solidFill>
              </a:rPr>
              <a:t>4</a:t>
            </a:r>
            <a:endParaRPr sz="800" b="1" i="0" dirty="0">
              <a:solidFill>
                <a:srgbClr val="12243A"/>
              </a:solidFill>
            </a:endParaRPr>
          </a:p>
        </p:txBody>
      </p:sp>
      <p:sp>
        <p:nvSpPr>
          <p:cNvPr id="33" name="Rounded Rectangle 9">
            <a:extLst>
              <a:ext uri="{FF2B5EF4-FFF2-40B4-BE49-F238E27FC236}">
                <a16:creationId xmlns:a16="http://schemas.microsoft.com/office/drawing/2014/main" id="{97FFB25D-9665-5675-BE45-7555BF1A7639}"/>
              </a:ext>
            </a:extLst>
          </p:cNvPr>
          <p:cNvSpPr/>
          <p:nvPr/>
        </p:nvSpPr>
        <p:spPr>
          <a:xfrm>
            <a:off x="548640" y="1386840"/>
            <a:ext cx="342900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67C874-651E-93AA-83BB-3E479428A35B}"/>
              </a:ext>
            </a:extLst>
          </p:cNvPr>
          <p:cNvSpPr txBox="1"/>
          <p:nvPr/>
        </p:nvSpPr>
        <p:spPr>
          <a:xfrm>
            <a:off x="603504" y="1524000"/>
            <a:ext cx="3319272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200" b="1" dirty="0">
                <a:solidFill>
                  <a:srgbClr val="2C5E92"/>
                </a:solidFill>
              </a:rPr>
              <a:t>46.9 : 1</a:t>
            </a:r>
            <a:endParaRPr sz="2200" b="1" i="0" dirty="0">
              <a:solidFill>
                <a:srgbClr val="2C5E92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91BE40-191C-287F-22C0-7927CCF5C8EC}"/>
              </a:ext>
            </a:extLst>
          </p:cNvPr>
          <p:cNvSpPr txBox="1"/>
          <p:nvPr/>
        </p:nvSpPr>
        <p:spPr>
          <a:xfrm>
            <a:off x="640080" y="2100072"/>
            <a:ext cx="32461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b="0" i="0" dirty="0"/>
              <a:t>class imbalance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 dirty="0">
                <a:solidFill>
                  <a:srgbClr val="12243A"/>
                </a:solidFill>
              </a:rPr>
              <a:t>Research Objective &amp; 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 dirty="0">
                <a:solidFill>
                  <a:srgbClr val="626C78"/>
                </a:solidFill>
              </a:rPr>
              <a:t>Five design decisions define the proposed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61872"/>
            <a:ext cx="1280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F848B"/>
                </a:solidFill>
              </a:rP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91056"/>
            <a:ext cx="1078992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dirty="0">
                <a:solidFill>
                  <a:srgbClr val="12243A"/>
                </a:solidFill>
              </a:rPr>
              <a:t>Create a sensitivity-gated cascade that filters normal radiographs efficiently and reserves detailed lesion localization for abnormal candidates.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78608"/>
            <a:ext cx="5074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" y="2697479"/>
            <a:ext cx="47640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dirty="0">
                <a:solidFill>
                  <a:srgbClr val="12243A"/>
                </a:solidFill>
              </a:rPr>
              <a:t>01  Sensitivity-gated 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969983"/>
            <a:ext cx="476402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 err="1">
                <a:solidFill>
                  <a:srgbClr val="2B323B"/>
                </a:solidFill>
              </a:rPr>
              <a:t>DERNet</a:t>
            </a:r>
            <a:r>
              <a:rPr sz="1200" b="0" i="0" dirty="0">
                <a:solidFill>
                  <a:srgbClr val="2B323B"/>
                </a:solidFill>
              </a:rPr>
              <a:t> combines DenseNet121, EfficientNetV2-S, and ResNet50 using weighted soft</a:t>
            </a:r>
            <a:r>
              <a:rPr lang="en-US" sz="1200" b="0" i="0" dirty="0">
                <a:solidFill>
                  <a:srgbClr val="2B323B"/>
                </a:solidFill>
              </a:rPr>
              <a:t> </a:t>
            </a:r>
            <a:r>
              <a:rPr sz="1200" b="0" i="0" dirty="0">
                <a:solidFill>
                  <a:srgbClr val="2B323B"/>
                </a:solidFill>
              </a:rPr>
              <a:t>voting.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2578608"/>
            <a:ext cx="5074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0216" y="2697479"/>
            <a:ext cx="47640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dirty="0">
                <a:solidFill>
                  <a:srgbClr val="12243A"/>
                </a:solidFill>
              </a:rPr>
              <a:t>02  Minute-lesion localization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2951387"/>
            <a:ext cx="476402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solidFill>
                  <a:srgbClr val="2B323B"/>
                </a:solidFill>
              </a:rPr>
              <a:t>Customized YOLO11-L with CSP-Darknet, C2PSA attention, </a:t>
            </a:r>
            <a:r>
              <a:rPr sz="1200" b="0" i="0" dirty="0" err="1">
                <a:solidFill>
                  <a:srgbClr val="2B323B"/>
                </a:solidFill>
              </a:rPr>
              <a:t>PANet</a:t>
            </a:r>
            <a:r>
              <a:rPr sz="1200" b="0" i="0" dirty="0">
                <a:solidFill>
                  <a:srgbClr val="2B323B"/>
                </a:solidFill>
              </a:rPr>
              <a:t>, and multi-scale</a:t>
            </a:r>
            <a:r>
              <a:rPr lang="en-US" sz="1200" b="0" i="0" dirty="0">
                <a:solidFill>
                  <a:srgbClr val="2B323B"/>
                </a:solidFill>
              </a:rPr>
              <a:t> </a:t>
            </a:r>
            <a:r>
              <a:rPr sz="1200" b="0" i="0" dirty="0">
                <a:solidFill>
                  <a:srgbClr val="2B323B"/>
                </a:solidFill>
              </a:rPr>
              <a:t>heads.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703320"/>
            <a:ext cx="5074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" y="3822191"/>
            <a:ext cx="4764024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dirty="0">
                <a:solidFill>
                  <a:srgbClr val="12243A"/>
                </a:solidFill>
              </a:rPr>
              <a:t>03  Imbalance mitigation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" y="4064923"/>
            <a:ext cx="476402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solidFill>
                  <a:srgbClr val="2B323B"/>
                </a:solidFill>
              </a:rPr>
              <a:t>Focal loss and 20% copy-paste augmentation address rare foreground</a:t>
            </a:r>
            <a:r>
              <a:rPr lang="en-US" sz="1200" b="0" i="0" dirty="0">
                <a:solidFill>
                  <a:srgbClr val="2B323B"/>
                </a:solidFill>
              </a:rPr>
              <a:t> </a:t>
            </a:r>
            <a:r>
              <a:rPr sz="1200" b="0" i="0" dirty="0">
                <a:solidFill>
                  <a:srgbClr val="2B323B"/>
                </a:solidFill>
              </a:rPr>
              <a:t>classes.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3703320"/>
            <a:ext cx="5074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0216" y="3822191"/>
            <a:ext cx="47640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dirty="0">
                <a:solidFill>
                  <a:srgbClr val="12243A"/>
                </a:solidFill>
              </a:rPr>
              <a:t>04  Explainability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4063907"/>
            <a:ext cx="476402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solidFill>
                  <a:srgbClr val="2B323B"/>
                </a:solidFill>
              </a:rPr>
              <a:t>Saliency Map, Grad-CAM, and LIME test alignment with authentic lesion regions.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828032"/>
            <a:ext cx="5074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" y="4946904"/>
            <a:ext cx="4764024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dirty="0">
                <a:solidFill>
                  <a:srgbClr val="12243A"/>
                </a:solidFill>
              </a:rPr>
              <a:t>05  Compute-aware routing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" y="5239512"/>
            <a:ext cx="4764024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solidFill>
                  <a:srgbClr val="2B323B"/>
                </a:solidFill>
              </a:rPr>
              <a:t>Normal studies can exit before the heavy localization stage.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6419088"/>
            <a:ext cx="11109960" cy="9144"/>
          </a:xfrm>
          <a:prstGeom prst="rect">
            <a:avLst/>
          </a:prstGeom>
          <a:solidFill>
            <a:srgbClr val="D3D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6455664"/>
            <a:ext cx="8503920" cy="2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 dirty="0">
                <a:solidFill>
                  <a:srgbClr val="626C78"/>
                </a:solidFill>
              </a:rPr>
              <a:t>MIRASOL • MICCAI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27080" y="6437376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12243A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384048"/>
            <a:ext cx="110642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i="0" dirty="0" err="1">
                <a:solidFill>
                  <a:srgbClr val="17324D"/>
                </a:solidFill>
                <a:latin typeface="Arial"/>
              </a:rPr>
              <a:t>VinDr-SpineXR</a:t>
            </a:r>
            <a:r>
              <a:rPr lang="en-US" sz="2800" b="1" i="0" dirty="0">
                <a:solidFill>
                  <a:srgbClr val="17324D"/>
                </a:solidFill>
                <a:latin typeface="Arial"/>
              </a:rPr>
              <a:t>: scale, split, and lesion heterogeneity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30111"/>
            <a:ext cx="7787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 dirty="0">
                <a:solidFill>
                  <a:srgbClr val="626C78"/>
                </a:solidFill>
              </a:rPr>
              <a:t>Scale, split, and seven expert-annotated lesion categories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6419088"/>
            <a:ext cx="11109960" cy="9144"/>
          </a:xfrm>
          <a:prstGeom prst="rect">
            <a:avLst/>
          </a:prstGeom>
          <a:solidFill>
            <a:srgbClr val="D3D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6455664"/>
            <a:ext cx="8503920" cy="2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 dirty="0">
                <a:solidFill>
                  <a:srgbClr val="626C78"/>
                </a:solidFill>
              </a:rPr>
              <a:t>MIRASOL • MICCAI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27080" y="6437376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12243A"/>
                </a:solidFill>
              </a:rPr>
              <a:t>06</a:t>
            </a:r>
          </a:p>
        </p:txBody>
      </p:sp>
      <p:sp>
        <p:nvSpPr>
          <p:cNvPr id="27" name="Rounded Rectangle 9">
            <a:extLst>
              <a:ext uri="{FF2B5EF4-FFF2-40B4-BE49-F238E27FC236}">
                <a16:creationId xmlns:a16="http://schemas.microsoft.com/office/drawing/2014/main" id="{9AA5107D-AAF8-14C8-1F4E-FA28118126BC}"/>
              </a:ext>
            </a:extLst>
          </p:cNvPr>
          <p:cNvSpPr/>
          <p:nvPr/>
        </p:nvSpPr>
        <p:spPr>
          <a:xfrm>
            <a:off x="566927" y="1536192"/>
            <a:ext cx="2370455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AA1D70-8895-3F5E-E5CD-9AD7F40AE68D}"/>
              </a:ext>
            </a:extLst>
          </p:cNvPr>
          <p:cNvSpPr/>
          <p:nvPr/>
        </p:nvSpPr>
        <p:spPr>
          <a:xfrm>
            <a:off x="566928" y="1536192"/>
            <a:ext cx="54864" cy="1078992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314999-A214-4A0D-868C-9FF138D096BF}"/>
              </a:ext>
            </a:extLst>
          </p:cNvPr>
          <p:cNvSpPr txBox="1"/>
          <p:nvPr/>
        </p:nvSpPr>
        <p:spPr>
          <a:xfrm>
            <a:off x="713232" y="1655064"/>
            <a:ext cx="196596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 i="0" dirty="0">
                <a:solidFill>
                  <a:srgbClr val="17324D"/>
                </a:solidFill>
                <a:latin typeface="Arial"/>
              </a:rPr>
              <a:t>10,466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A85E1E-B295-0F1D-5E0E-0598F951CB0D}"/>
              </a:ext>
            </a:extLst>
          </p:cNvPr>
          <p:cNvSpPr txBox="1"/>
          <p:nvPr/>
        </p:nvSpPr>
        <p:spPr>
          <a:xfrm>
            <a:off x="722376" y="2020824"/>
            <a:ext cx="125835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D2A33"/>
                </a:solidFill>
                <a:latin typeface="Arial"/>
              </a:rPr>
              <a:t>total radiographs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3A8D47-B936-CCE5-3EF7-5F315E708938}"/>
              </a:ext>
            </a:extLst>
          </p:cNvPr>
          <p:cNvSpPr txBox="1"/>
          <p:nvPr/>
        </p:nvSpPr>
        <p:spPr>
          <a:xfrm>
            <a:off x="672222" y="2286000"/>
            <a:ext cx="2039020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 i="0" dirty="0">
                <a:solidFill>
                  <a:srgbClr val="6B7680"/>
                </a:solidFill>
                <a:latin typeface="Arial"/>
              </a:rPr>
              <a:t>8,389 train + 2,077 independent test</a:t>
            </a:r>
          </a:p>
        </p:txBody>
      </p:sp>
      <p:sp>
        <p:nvSpPr>
          <p:cNvPr id="32" name="Rounded Rectangle 14">
            <a:extLst>
              <a:ext uri="{FF2B5EF4-FFF2-40B4-BE49-F238E27FC236}">
                <a16:creationId xmlns:a16="http://schemas.microsoft.com/office/drawing/2014/main" id="{935CCE4C-27E7-4C03-FEF1-106E8325A09B}"/>
              </a:ext>
            </a:extLst>
          </p:cNvPr>
          <p:cNvSpPr/>
          <p:nvPr/>
        </p:nvSpPr>
        <p:spPr>
          <a:xfrm>
            <a:off x="3468539" y="1538424"/>
            <a:ext cx="2370455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3867AB2-8AC5-09C3-97CD-63436FC43F14}"/>
              </a:ext>
            </a:extLst>
          </p:cNvPr>
          <p:cNvSpPr/>
          <p:nvPr/>
        </p:nvSpPr>
        <p:spPr>
          <a:xfrm>
            <a:off x="3468539" y="1538424"/>
            <a:ext cx="60411" cy="1078992"/>
          </a:xfrm>
          <a:prstGeom prst="rect">
            <a:avLst/>
          </a:prstGeom>
          <a:solidFill>
            <a:srgbClr val="2C6E9B"/>
          </a:solidFill>
          <a:ln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B9F7D2-098C-D736-41BE-59D6691BF421}"/>
              </a:ext>
            </a:extLst>
          </p:cNvPr>
          <p:cNvSpPr txBox="1"/>
          <p:nvPr/>
        </p:nvSpPr>
        <p:spPr>
          <a:xfrm>
            <a:off x="3614844" y="1657296"/>
            <a:ext cx="2003624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 dirty="0">
                <a:solidFill>
                  <a:srgbClr val="17324D"/>
                </a:solidFill>
                <a:latin typeface="Arial"/>
              </a:rPr>
              <a:t>8,389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9AEB12-0FD1-187F-3F93-5AEB293E57DB}"/>
              </a:ext>
            </a:extLst>
          </p:cNvPr>
          <p:cNvSpPr txBox="1"/>
          <p:nvPr/>
        </p:nvSpPr>
        <p:spPr>
          <a:xfrm>
            <a:off x="3623988" y="2023056"/>
            <a:ext cx="125319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D2A33"/>
                </a:solidFill>
                <a:latin typeface="Arial"/>
              </a:rPr>
              <a:t>training images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C6C46D-35D7-2694-AB16-0DFD206A732F}"/>
              </a:ext>
            </a:extLst>
          </p:cNvPr>
          <p:cNvSpPr txBox="1"/>
          <p:nvPr/>
        </p:nvSpPr>
        <p:spPr>
          <a:xfrm>
            <a:off x="3623987" y="2288232"/>
            <a:ext cx="122495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dirty="0">
                <a:solidFill>
                  <a:srgbClr val="6B7680"/>
                </a:solidFill>
                <a:latin typeface="Arial"/>
              </a:rPr>
              <a:t>model development</a:t>
            </a:r>
          </a:p>
        </p:txBody>
      </p:sp>
      <p:sp>
        <p:nvSpPr>
          <p:cNvPr id="37" name="Rounded Rectangle 19">
            <a:extLst>
              <a:ext uri="{FF2B5EF4-FFF2-40B4-BE49-F238E27FC236}">
                <a16:creationId xmlns:a16="http://schemas.microsoft.com/office/drawing/2014/main" id="{1549ABB3-4B63-741D-FFB5-78279338BE70}"/>
              </a:ext>
            </a:extLst>
          </p:cNvPr>
          <p:cNvSpPr/>
          <p:nvPr/>
        </p:nvSpPr>
        <p:spPr>
          <a:xfrm>
            <a:off x="6468894" y="1536192"/>
            <a:ext cx="235934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E3EDA37-C7BA-5451-11C5-A556B7A491D0}"/>
              </a:ext>
            </a:extLst>
          </p:cNvPr>
          <p:cNvSpPr/>
          <p:nvPr/>
        </p:nvSpPr>
        <p:spPr>
          <a:xfrm>
            <a:off x="6424380" y="1515801"/>
            <a:ext cx="54864" cy="1078992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91CD0A-B225-A880-7DB0-CF26E6BBE99F}"/>
              </a:ext>
            </a:extLst>
          </p:cNvPr>
          <p:cNvSpPr txBox="1"/>
          <p:nvPr/>
        </p:nvSpPr>
        <p:spPr>
          <a:xfrm>
            <a:off x="6739340" y="1655064"/>
            <a:ext cx="1819656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 i="0" dirty="0">
                <a:solidFill>
                  <a:srgbClr val="17324D"/>
                </a:solidFill>
                <a:latin typeface="Arial"/>
              </a:rPr>
              <a:t>2,077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7B0C6A-C07E-F909-12AB-E2735CEFE0D2}"/>
              </a:ext>
            </a:extLst>
          </p:cNvPr>
          <p:cNvSpPr txBox="1"/>
          <p:nvPr/>
        </p:nvSpPr>
        <p:spPr>
          <a:xfrm>
            <a:off x="6748484" y="2020824"/>
            <a:ext cx="123271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D2A33"/>
                </a:solidFill>
                <a:latin typeface="Arial"/>
              </a:rPr>
              <a:t>independent test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DE1FA9-1C47-EFD0-E130-FF2274871EE9}"/>
              </a:ext>
            </a:extLst>
          </p:cNvPr>
          <p:cNvSpPr txBox="1"/>
          <p:nvPr/>
        </p:nvSpPr>
        <p:spPr>
          <a:xfrm>
            <a:off x="6748484" y="2286000"/>
            <a:ext cx="849592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 i="0" dirty="0">
                <a:solidFill>
                  <a:srgbClr val="6B7680"/>
                </a:solidFill>
                <a:latin typeface="Arial"/>
              </a:rPr>
              <a:t>final evaluation</a:t>
            </a:r>
          </a:p>
        </p:txBody>
      </p:sp>
      <p:sp>
        <p:nvSpPr>
          <p:cNvPr id="42" name="Rounded Rectangle 24">
            <a:extLst>
              <a:ext uri="{FF2B5EF4-FFF2-40B4-BE49-F238E27FC236}">
                <a16:creationId xmlns:a16="http://schemas.microsoft.com/office/drawing/2014/main" id="{8676B630-4059-F76A-2D3E-EAB459938E52}"/>
              </a:ext>
            </a:extLst>
          </p:cNvPr>
          <p:cNvSpPr/>
          <p:nvPr/>
        </p:nvSpPr>
        <p:spPr>
          <a:xfrm>
            <a:off x="9359392" y="1515801"/>
            <a:ext cx="22352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27434B4-0B31-E322-837A-AB1D4E17A57A}"/>
              </a:ext>
            </a:extLst>
          </p:cNvPr>
          <p:cNvSpPr txBox="1"/>
          <p:nvPr/>
        </p:nvSpPr>
        <p:spPr>
          <a:xfrm>
            <a:off x="9527031" y="1755648"/>
            <a:ext cx="1894841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17324D"/>
                </a:solidFill>
                <a:latin typeface="Arial"/>
              </a:rPr>
              <a:t>7 lesion categories</a:t>
            </a:r>
          </a:p>
        </p:txBody>
      </p:sp>
      <p:sp>
        <p:nvSpPr>
          <p:cNvPr id="60" name="Rounded Rectangle 27">
            <a:extLst>
              <a:ext uri="{FF2B5EF4-FFF2-40B4-BE49-F238E27FC236}">
                <a16:creationId xmlns:a16="http://schemas.microsoft.com/office/drawing/2014/main" id="{548063A1-18F9-D840-C47D-C8CDAF470B93}"/>
              </a:ext>
            </a:extLst>
          </p:cNvPr>
          <p:cNvSpPr/>
          <p:nvPr/>
        </p:nvSpPr>
        <p:spPr>
          <a:xfrm>
            <a:off x="530352" y="3189696"/>
            <a:ext cx="7059168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7B78743-8E97-D9C3-751E-1473C0C68C8C}"/>
              </a:ext>
            </a:extLst>
          </p:cNvPr>
          <p:cNvSpPr txBox="1"/>
          <p:nvPr/>
        </p:nvSpPr>
        <p:spPr>
          <a:xfrm>
            <a:off x="786384" y="3445728"/>
            <a:ext cx="402336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7324D"/>
                </a:solidFill>
                <a:latin typeface="Arial"/>
              </a:rPr>
              <a:t>Representative examples from the benchmark</a:t>
            </a:r>
          </a:p>
        </p:txBody>
      </p:sp>
      <p:pic>
        <p:nvPicPr>
          <p:cNvPr id="62" name="Picture 61" descr="fig1_dataset.png">
            <a:extLst>
              <a:ext uri="{FF2B5EF4-FFF2-40B4-BE49-F238E27FC236}">
                <a16:creationId xmlns:a16="http://schemas.microsoft.com/office/drawing/2014/main" id="{49950E03-98E6-6E86-22AE-473F2F6DC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863812"/>
            <a:ext cx="6565392" cy="1458975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F09F1393-E446-48AD-C33D-BD028C86FFFD}"/>
              </a:ext>
            </a:extLst>
          </p:cNvPr>
          <p:cNvSpPr txBox="1"/>
          <p:nvPr/>
        </p:nvSpPr>
        <p:spPr>
          <a:xfrm>
            <a:off x="804672" y="5393400"/>
            <a:ext cx="649224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80" b="0" i="0">
                <a:solidFill>
                  <a:srgbClr val="6B7680"/>
                </a:solidFill>
                <a:latin typeface="Arial"/>
              </a:rPr>
              <a:t>Seven lesion categories are visually heterogeneous and can occupy only a small fraction of the field of view.</a:t>
            </a:r>
          </a:p>
        </p:txBody>
      </p:sp>
      <p:sp>
        <p:nvSpPr>
          <p:cNvPr id="64" name="Rounded Rectangle 31">
            <a:extLst>
              <a:ext uri="{FF2B5EF4-FFF2-40B4-BE49-F238E27FC236}">
                <a16:creationId xmlns:a16="http://schemas.microsoft.com/office/drawing/2014/main" id="{25DD3E24-D308-199B-8986-59D6EEAC3611}"/>
              </a:ext>
            </a:extLst>
          </p:cNvPr>
          <p:cNvSpPr/>
          <p:nvPr/>
        </p:nvSpPr>
        <p:spPr>
          <a:xfrm>
            <a:off x="7927849" y="3188279"/>
            <a:ext cx="3712463" cy="2697480"/>
          </a:xfrm>
          <a:prstGeom prst="roundRect">
            <a:avLst/>
          </a:prstGeom>
          <a:solidFill>
            <a:srgbClr val="EAF3F9"/>
          </a:solidFill>
          <a:ln w="12700">
            <a:solidFill>
              <a:srgbClr val="C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39735CD-79D0-60BF-7212-F03C1D103B65}"/>
              </a:ext>
            </a:extLst>
          </p:cNvPr>
          <p:cNvSpPr txBox="1"/>
          <p:nvPr/>
        </p:nvSpPr>
        <p:spPr>
          <a:xfrm>
            <a:off x="8220457" y="3499175"/>
            <a:ext cx="215443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7324D"/>
                </a:solidFill>
                <a:latin typeface="Arial"/>
              </a:rPr>
              <a:t>Evaluation protocol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1BB65E7-B30D-421B-4208-DC5D7059651D}"/>
              </a:ext>
            </a:extLst>
          </p:cNvPr>
          <p:cNvSpPr txBox="1"/>
          <p:nvPr/>
        </p:nvSpPr>
        <p:spPr>
          <a:xfrm>
            <a:off x="8220457" y="3947231"/>
            <a:ext cx="3063240" cy="11285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800"/>
              </a:spcAft>
              <a:defRPr sz="919">
                <a:solidFill>
                  <a:srgbClr val="1D2A33"/>
                </a:solidFill>
                <a:latin typeface="Arial"/>
              </a:defRPr>
            </a:pPr>
            <a:r>
              <a:rPr sz="1200" dirty="0">
                <a:latin typeface="Arial"/>
              </a:rPr>
              <a:t>• 5-fold cross-validation for training/model development</a:t>
            </a:r>
          </a:p>
          <a:p>
            <a:pPr algn="just">
              <a:spcAft>
                <a:spcPts val="800"/>
              </a:spcAft>
              <a:defRPr sz="919">
                <a:solidFill>
                  <a:srgbClr val="1D2A33"/>
                </a:solidFill>
                <a:latin typeface="Arial"/>
              </a:defRPr>
            </a:pPr>
            <a:r>
              <a:rPr sz="1200" dirty="0">
                <a:latin typeface="Arial"/>
              </a:rPr>
              <a:t>• Independent test set: 2,077 images</a:t>
            </a:r>
          </a:p>
          <a:p>
            <a:pPr algn="just">
              <a:spcAft>
                <a:spcPts val="800"/>
              </a:spcAft>
              <a:defRPr sz="919">
                <a:solidFill>
                  <a:srgbClr val="1D2A33"/>
                </a:solidFill>
                <a:latin typeface="Arial"/>
              </a:defRPr>
            </a:pPr>
            <a:r>
              <a:rPr sz="1200" dirty="0">
                <a:latin typeface="Arial"/>
              </a:rPr>
              <a:t>• Detection evaluated across seven lesion categories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0923DB4-45F9-D60A-BF3D-D0D2397F1ABD}"/>
              </a:ext>
            </a:extLst>
          </p:cNvPr>
          <p:cNvSpPr txBox="1"/>
          <p:nvPr/>
        </p:nvSpPr>
        <p:spPr>
          <a:xfrm>
            <a:off x="8220457" y="5364551"/>
            <a:ext cx="303281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2C6E9B"/>
                </a:solidFill>
                <a:latin typeface="Arial"/>
              </a:rPr>
              <a:t>Dataset: </a:t>
            </a:r>
            <a:r>
              <a:rPr sz="1400" b="1" i="0" dirty="0" err="1">
                <a:solidFill>
                  <a:srgbClr val="2C6E9B"/>
                </a:solidFill>
                <a:latin typeface="Arial"/>
              </a:rPr>
              <a:t>VinDr-SpineXR</a:t>
            </a:r>
            <a:r>
              <a:rPr sz="1400" b="1" i="0" dirty="0">
                <a:solidFill>
                  <a:srgbClr val="2C6E9B"/>
                </a:solidFill>
                <a:latin typeface="Arial"/>
              </a:rPr>
              <a:t> benchmark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 dirty="0">
                <a:solidFill>
                  <a:srgbClr val="12243A"/>
                </a:solidFill>
              </a:rPr>
              <a:t>Lesion Distribution &amp; Class Imbalance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6291072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 dirty="0">
                <a:solidFill>
                  <a:srgbClr val="626C78"/>
                </a:solidFill>
              </a:rPr>
              <a:t>The long tail directly motivates the detector's loss and augmentation strategy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70648" y="2674316"/>
            <a:ext cx="409651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6096" y="2674316"/>
            <a:ext cx="378561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i="0" dirty="0">
                <a:solidFill>
                  <a:srgbClr val="12243A"/>
                </a:solidFill>
              </a:rPr>
              <a:t>Dominant 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6096" y="3067507"/>
            <a:ext cx="378561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/>
            <a:r>
              <a:rPr sz="1400" b="0" i="0" dirty="0">
                <a:solidFill>
                  <a:srgbClr val="2B323B"/>
                </a:solidFill>
              </a:rPr>
              <a:t>Osteophytes contributes the majority of annotated boxes and can dominate learning.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3828174"/>
            <a:ext cx="409651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44384" y="3947046"/>
            <a:ext cx="378561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i="0" dirty="0">
                <a:solidFill>
                  <a:srgbClr val="12243A"/>
                </a:solidFill>
              </a:rPr>
              <a:t>Rarest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6096" y="4214783"/>
            <a:ext cx="378561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 dirty="0">
                <a:solidFill>
                  <a:srgbClr val="2B323B"/>
                </a:solidFill>
              </a:rPr>
              <a:t>Vertebral Collapse has only 268 annotations in the reported dataset.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0648" y="4960734"/>
            <a:ext cx="409651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26096" y="5079606"/>
            <a:ext cx="378561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i="0" dirty="0">
                <a:solidFill>
                  <a:srgbClr val="12243A"/>
                </a:solidFill>
              </a:rPr>
              <a:t>Training implication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44384" y="5351914"/>
            <a:ext cx="378561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 dirty="0">
                <a:solidFill>
                  <a:srgbClr val="2B323B"/>
                </a:solidFill>
              </a:rPr>
              <a:t>The detector needs explicit emphasis on hard and underrepresented foreground instances.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6419088"/>
            <a:ext cx="11109960" cy="9144"/>
          </a:xfrm>
          <a:prstGeom prst="rect">
            <a:avLst/>
          </a:prstGeom>
          <a:solidFill>
            <a:srgbClr val="D3D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8503920" cy="2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 dirty="0">
                <a:solidFill>
                  <a:srgbClr val="626C78"/>
                </a:solidFill>
              </a:rPr>
              <a:t>MIRASOL • MICCAI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37376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12243A"/>
                </a:solidFill>
              </a:rPr>
              <a:t>07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B953D2F-90AC-0948-3D17-3D83F588F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496311"/>
            <a:ext cx="6434333" cy="3677868"/>
          </a:xfrm>
          <a:prstGeom prst="rect">
            <a:avLst/>
          </a:prstGeom>
        </p:spPr>
      </p:pic>
      <p:sp>
        <p:nvSpPr>
          <p:cNvPr id="22" name="Rounded Rectangle 9">
            <a:extLst>
              <a:ext uri="{FF2B5EF4-FFF2-40B4-BE49-F238E27FC236}">
                <a16:creationId xmlns:a16="http://schemas.microsoft.com/office/drawing/2014/main" id="{29187931-94CA-E245-AC25-012B651B57EB}"/>
              </a:ext>
            </a:extLst>
          </p:cNvPr>
          <p:cNvSpPr/>
          <p:nvPr/>
        </p:nvSpPr>
        <p:spPr>
          <a:xfrm>
            <a:off x="649223" y="1348214"/>
            <a:ext cx="2646125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3E42F7-3045-BD11-8C67-527ACF4236DB}"/>
              </a:ext>
            </a:extLst>
          </p:cNvPr>
          <p:cNvSpPr/>
          <p:nvPr/>
        </p:nvSpPr>
        <p:spPr>
          <a:xfrm>
            <a:off x="649224" y="1348214"/>
            <a:ext cx="54864" cy="987552"/>
          </a:xfrm>
          <a:prstGeom prst="rect">
            <a:avLst/>
          </a:prstGeom>
          <a:solidFill>
            <a:srgbClr val="B24747"/>
          </a:solidFill>
          <a:ln>
            <a:solidFill>
              <a:srgbClr val="B2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A62CB1-648B-BA09-0C56-B61C8C5102EF}"/>
              </a:ext>
            </a:extLst>
          </p:cNvPr>
          <p:cNvSpPr txBox="1"/>
          <p:nvPr/>
        </p:nvSpPr>
        <p:spPr>
          <a:xfrm>
            <a:off x="795528" y="1467086"/>
            <a:ext cx="2002536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7324D"/>
                </a:solidFill>
                <a:latin typeface="Arial"/>
              </a:rPr>
              <a:t>82.1%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43035D-047F-49D5-8774-6933150F0113}"/>
              </a:ext>
            </a:extLst>
          </p:cNvPr>
          <p:cNvSpPr txBox="1"/>
          <p:nvPr/>
        </p:nvSpPr>
        <p:spPr>
          <a:xfrm>
            <a:off x="804672" y="1832846"/>
            <a:ext cx="2002536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D2A33"/>
                </a:solidFill>
                <a:latin typeface="Arial"/>
              </a:rPr>
              <a:t>Osteophytes share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E9A03C-A271-9177-C3EA-DAE0CEE150E8}"/>
              </a:ext>
            </a:extLst>
          </p:cNvPr>
          <p:cNvSpPr txBox="1"/>
          <p:nvPr/>
        </p:nvSpPr>
        <p:spPr>
          <a:xfrm>
            <a:off x="804672" y="2098022"/>
            <a:ext cx="2002536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0" i="0">
                <a:solidFill>
                  <a:srgbClr val="6B7680"/>
                </a:solidFill>
                <a:latin typeface="Arial"/>
              </a:rPr>
              <a:t>12,556 boxes</a:t>
            </a:r>
          </a:p>
        </p:txBody>
      </p:sp>
      <p:sp>
        <p:nvSpPr>
          <p:cNvPr id="27" name="Rounded Rectangle 14">
            <a:extLst>
              <a:ext uri="{FF2B5EF4-FFF2-40B4-BE49-F238E27FC236}">
                <a16:creationId xmlns:a16="http://schemas.microsoft.com/office/drawing/2014/main" id="{85BE6BA4-6999-D7CA-80B0-F501B98FCDD9}"/>
              </a:ext>
            </a:extLst>
          </p:cNvPr>
          <p:cNvSpPr/>
          <p:nvPr/>
        </p:nvSpPr>
        <p:spPr>
          <a:xfrm>
            <a:off x="4589288" y="1365468"/>
            <a:ext cx="2618528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C5B82A1-F2AC-F901-3026-CD6264FCB191}"/>
              </a:ext>
            </a:extLst>
          </p:cNvPr>
          <p:cNvSpPr/>
          <p:nvPr/>
        </p:nvSpPr>
        <p:spPr>
          <a:xfrm>
            <a:off x="4589288" y="1365468"/>
            <a:ext cx="54864" cy="987552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6652A8-753C-07A5-32D4-D84E5CCC1985}"/>
              </a:ext>
            </a:extLst>
          </p:cNvPr>
          <p:cNvSpPr txBox="1"/>
          <p:nvPr/>
        </p:nvSpPr>
        <p:spPr>
          <a:xfrm>
            <a:off x="4735592" y="1484340"/>
            <a:ext cx="1847088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 i="0" dirty="0">
                <a:solidFill>
                  <a:srgbClr val="17324D"/>
                </a:solidFill>
                <a:latin typeface="Arial"/>
              </a:rPr>
              <a:t>1.8%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C4C88B-5794-29CD-910C-E7050DDFBFC0}"/>
              </a:ext>
            </a:extLst>
          </p:cNvPr>
          <p:cNvSpPr txBox="1"/>
          <p:nvPr/>
        </p:nvSpPr>
        <p:spPr>
          <a:xfrm>
            <a:off x="4744735" y="1850100"/>
            <a:ext cx="156267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D2A33"/>
                </a:solidFill>
                <a:latin typeface="Arial"/>
              </a:rPr>
              <a:t>Vertebral Collapse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A099C6-B59E-DB38-89F1-B0E43206F54A}"/>
              </a:ext>
            </a:extLst>
          </p:cNvPr>
          <p:cNvSpPr txBox="1"/>
          <p:nvPr/>
        </p:nvSpPr>
        <p:spPr>
          <a:xfrm>
            <a:off x="4744735" y="2115276"/>
            <a:ext cx="109004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6B7680"/>
                </a:solidFill>
                <a:latin typeface="Arial"/>
              </a:rPr>
              <a:t>268 annotations</a:t>
            </a:r>
          </a:p>
        </p:txBody>
      </p:sp>
      <p:sp>
        <p:nvSpPr>
          <p:cNvPr id="32" name="Rounded Rectangle 19">
            <a:extLst>
              <a:ext uri="{FF2B5EF4-FFF2-40B4-BE49-F238E27FC236}">
                <a16:creationId xmlns:a16="http://schemas.microsoft.com/office/drawing/2014/main" id="{CF3ACCF5-B875-7DDF-A416-E02CE73ACF38}"/>
              </a:ext>
            </a:extLst>
          </p:cNvPr>
          <p:cNvSpPr/>
          <p:nvPr/>
        </p:nvSpPr>
        <p:spPr>
          <a:xfrm>
            <a:off x="8501756" y="1312050"/>
            <a:ext cx="2618528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D6DAFF6-6349-12CC-CED7-438064E968AF}"/>
              </a:ext>
            </a:extLst>
          </p:cNvPr>
          <p:cNvSpPr/>
          <p:nvPr/>
        </p:nvSpPr>
        <p:spPr>
          <a:xfrm>
            <a:off x="8501756" y="1312050"/>
            <a:ext cx="54864" cy="987552"/>
          </a:xfrm>
          <a:prstGeom prst="rect">
            <a:avLst/>
          </a:prstGeom>
          <a:solidFill>
            <a:srgbClr val="12A8A0"/>
          </a:solidFill>
          <a:ln>
            <a:solidFill>
              <a:srgbClr val="12A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E42667-0A98-55A0-06B8-8E4E974D37D0}"/>
              </a:ext>
            </a:extLst>
          </p:cNvPr>
          <p:cNvSpPr txBox="1"/>
          <p:nvPr/>
        </p:nvSpPr>
        <p:spPr>
          <a:xfrm>
            <a:off x="8648060" y="1430922"/>
            <a:ext cx="178308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 i="0" dirty="0">
                <a:solidFill>
                  <a:srgbClr val="17324D"/>
                </a:solidFill>
                <a:latin typeface="Arial"/>
              </a:rPr>
              <a:t>46.9:1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F98A9C-61F5-B0D6-35A1-6422E8F648E7}"/>
              </a:ext>
            </a:extLst>
          </p:cNvPr>
          <p:cNvSpPr txBox="1"/>
          <p:nvPr/>
        </p:nvSpPr>
        <p:spPr>
          <a:xfrm>
            <a:off x="8657204" y="1796682"/>
            <a:ext cx="166231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D2A33"/>
                </a:solidFill>
                <a:latin typeface="Arial"/>
              </a:rPr>
              <a:t>max:min</a:t>
            </a:r>
            <a:r>
              <a:rPr sz="1400" b="1" i="0" dirty="0">
                <a:solidFill>
                  <a:srgbClr val="1D2A33"/>
                </a:solidFill>
                <a:latin typeface="Arial"/>
              </a:rPr>
              <a:t> imbalance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F6FB2F-B921-DD77-D7A9-3031BEC9862D}"/>
              </a:ext>
            </a:extLst>
          </p:cNvPr>
          <p:cNvSpPr txBox="1"/>
          <p:nvPr/>
        </p:nvSpPr>
        <p:spPr>
          <a:xfrm>
            <a:off x="8657204" y="2061858"/>
            <a:ext cx="91210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6B7680"/>
                </a:solidFill>
                <a:latin typeface="Arial"/>
              </a:rPr>
              <a:t>reported ratio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464660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rPr sz="2800" dirty="0"/>
              <a:t>Proposed Cascaded Framework: Structural Decoupling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75384" y="6400800"/>
            <a:ext cx="32893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rPr lang="en-US" dirty="0"/>
              <a:t>08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01352"/>
            <a:ext cx="292608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200"/>
            </a:pPr>
            <a:r>
              <a:rPr sz="1600" dirty="0"/>
              <a:t>• Raw radiographs ingested at 640×640×3.</a:t>
            </a:r>
          </a:p>
          <a:p>
            <a:pPr algn="just">
              <a:defRPr sz="1200"/>
            </a:pPr>
            <a:r>
              <a:rPr sz="1600" dirty="0"/>
              <a:t>• CLAHE equalizes exposure across different X-ray machines.</a:t>
            </a:r>
          </a:p>
          <a:p>
            <a:pPr algn="just">
              <a:defRPr sz="1200"/>
            </a:pPr>
            <a:r>
              <a:rPr sz="1600" dirty="0"/>
              <a:t>• Clip limit prevents noise amplification in dense bone.</a:t>
            </a:r>
          </a:p>
          <a:p>
            <a:pPr algn="just">
              <a:defRPr sz="1200"/>
            </a:pPr>
            <a:r>
              <a:rPr sz="1600" dirty="0"/>
              <a:t>• Prepares clean, normalized inputs for both stages.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2201352"/>
            <a:ext cx="292608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200"/>
            </a:pPr>
            <a:r>
              <a:rPr lang="en-US" sz="1600" dirty="0"/>
              <a:t>• Heterogeneous ensemble: DenseNet121 + EfficientNetV2-S + ResNet50.</a:t>
            </a:r>
          </a:p>
          <a:p>
            <a:pPr algn="just">
              <a:defRPr sz="1200"/>
            </a:pPr>
            <a:r>
              <a:rPr sz="1600" dirty="0"/>
              <a:t>• Lightweight CPU execution: 15.4 GFLOPs, 120 </a:t>
            </a:r>
            <a:r>
              <a:rPr sz="1600" dirty="0" err="1"/>
              <a:t>ms</a:t>
            </a:r>
            <a:r>
              <a:rPr sz="1600" dirty="0"/>
              <a:t> latency.</a:t>
            </a:r>
          </a:p>
          <a:p>
            <a:pPr algn="just">
              <a:defRPr sz="1200"/>
            </a:pPr>
            <a:r>
              <a:rPr sz="1600" dirty="0"/>
              <a:t>• Tuned decision threshold: tau* = 0.4787.</a:t>
            </a:r>
          </a:p>
          <a:p>
            <a:pPr algn="just">
              <a:defRPr sz="1200"/>
            </a:pPr>
            <a:r>
              <a:rPr sz="1600" dirty="0"/>
              <a:t>• Normal studies exit early; abnormal studies are routed forward.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2199332"/>
            <a:ext cx="301752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200"/>
            </a:pPr>
            <a:r>
              <a:rPr sz="1600" dirty="0"/>
              <a:t>• Triggered only on flagged abnormal radiographs.</a:t>
            </a:r>
          </a:p>
          <a:p>
            <a:pPr algn="just">
              <a:defRPr sz="1200"/>
            </a:pPr>
            <a:r>
              <a:rPr sz="1600" dirty="0"/>
              <a:t>• C2PSA spatial attention suppresses background artifacts.</a:t>
            </a:r>
          </a:p>
          <a:p>
            <a:pPr algn="just">
              <a:defRPr sz="1200"/>
            </a:pPr>
            <a:r>
              <a:rPr sz="1600" dirty="0"/>
              <a:t>• </a:t>
            </a:r>
            <a:r>
              <a:rPr sz="1600" dirty="0" err="1"/>
              <a:t>PANet</a:t>
            </a:r>
            <a:r>
              <a:rPr sz="1600" dirty="0"/>
              <a:t> feature fusion captures minute lesions.</a:t>
            </a:r>
          </a:p>
          <a:p>
            <a:pPr algn="just">
              <a:defRPr sz="1200"/>
            </a:pPr>
            <a:r>
              <a:rPr sz="1600" dirty="0"/>
              <a:t>• Predicts fine-grained bounding boxes across 7 lesion classes.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B385D-F506-B122-0B7B-71E4EF49AD2B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55DC19-CB1D-33F3-7E3E-C749FCBA14DF}"/>
              </a:ext>
            </a:extLst>
          </p:cNvPr>
          <p:cNvSpPr/>
          <p:nvPr/>
        </p:nvSpPr>
        <p:spPr>
          <a:xfrm>
            <a:off x="530352" y="6419088"/>
            <a:ext cx="11109960" cy="9144"/>
          </a:xfrm>
          <a:prstGeom prst="rect">
            <a:avLst/>
          </a:prstGeom>
          <a:solidFill>
            <a:srgbClr val="D3D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A4429C-80A0-38D8-4120-E68ED2EB5A52}"/>
              </a:ext>
            </a:extLst>
          </p:cNvPr>
          <p:cNvSpPr txBox="1"/>
          <p:nvPr/>
        </p:nvSpPr>
        <p:spPr>
          <a:xfrm>
            <a:off x="548640" y="6455664"/>
            <a:ext cx="8503920" cy="2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 dirty="0">
                <a:solidFill>
                  <a:srgbClr val="626C78"/>
                </a:solidFill>
              </a:rPr>
              <a:t>MIRASOL • MICCAI 2026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9F40DC-6841-B7B9-A8D2-D109DF91AA49}"/>
              </a:ext>
            </a:extLst>
          </p:cNvPr>
          <p:cNvSpPr txBox="1"/>
          <p:nvPr/>
        </p:nvSpPr>
        <p:spPr>
          <a:xfrm>
            <a:off x="914400" y="1645920"/>
            <a:ext cx="2926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000" b="1" kern="1200" dirty="0">
                <a:solidFill>
                  <a:srgbClr val="1E3A8A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1. Adaptive Preprocessing</a:t>
            </a:r>
            <a:endParaRPr lang="en-US" sz="2800" dirty="0">
              <a:effectLst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856468-A0DC-1A7F-F2FC-227DD7F199BC}"/>
              </a:ext>
            </a:extLst>
          </p:cNvPr>
          <p:cNvSpPr txBox="1"/>
          <p:nvPr/>
        </p:nvSpPr>
        <p:spPr>
          <a:xfrm>
            <a:off x="8275320" y="1645920"/>
            <a:ext cx="2926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1E3A8A"/>
                </a:solidFill>
                <a:latin typeface="Calibri" panose="020F0502020204030204" pitchFamily="34" charset="0"/>
              </a:rPr>
              <a:t>3. Stage 2: YOLO11-L</a:t>
            </a:r>
            <a:endParaRPr lang="en-US" sz="2800" dirty="0">
              <a:effectLst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62C3B0-69A9-F433-3C7C-FA481A9282DB}"/>
              </a:ext>
            </a:extLst>
          </p:cNvPr>
          <p:cNvSpPr txBox="1"/>
          <p:nvPr/>
        </p:nvSpPr>
        <p:spPr>
          <a:xfrm>
            <a:off x="4572000" y="1645920"/>
            <a:ext cx="2926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1E3A8A"/>
                </a:solidFill>
                <a:latin typeface="Calibri" panose="020F0502020204030204" pitchFamily="34" charset="0"/>
              </a:rPr>
              <a:t>2</a:t>
            </a:r>
            <a:r>
              <a:rPr lang="en-US" sz="2000" b="1" kern="1200" dirty="0">
                <a:solidFill>
                  <a:srgbClr val="1E3A8A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. </a:t>
            </a:r>
            <a:r>
              <a:rPr lang="en-US" sz="2000" b="1" dirty="0">
                <a:solidFill>
                  <a:srgbClr val="1E3A8A"/>
                </a:solidFill>
                <a:latin typeface="Calibri" panose="020F0502020204030204" pitchFamily="34" charset="0"/>
              </a:rPr>
              <a:t>Stage 1: </a:t>
            </a:r>
            <a:r>
              <a:rPr lang="en-US" sz="2000" b="1" dirty="0" err="1">
                <a:solidFill>
                  <a:srgbClr val="1E3A8A"/>
                </a:solidFill>
                <a:latin typeface="Calibri" panose="020F0502020204030204" pitchFamily="34" charset="0"/>
              </a:rPr>
              <a:t>DERNet</a:t>
            </a:r>
            <a:endParaRPr lang="en-US" sz="2800" dirty="0">
              <a:effectLst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566928"/>
            <a:ext cx="110642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17324D"/>
                </a:solidFill>
                <a:latin typeface="Arial"/>
              </a:rPr>
              <a:t>Architecture of</a:t>
            </a:r>
            <a:r>
              <a:rPr lang="en-US" sz="2800" b="1" i="0" dirty="0">
                <a:solidFill>
                  <a:srgbClr val="17324D"/>
                </a:solidFill>
                <a:latin typeface="Arial"/>
              </a:rPr>
              <a:t> cascade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5314223"/>
            <a:ext cx="7470648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Fig: Architecture of the cascaded framework for spinal lesion triage and localization.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6419088"/>
            <a:ext cx="11109960" cy="9144"/>
          </a:xfrm>
          <a:prstGeom prst="rect">
            <a:avLst/>
          </a:prstGeom>
          <a:solidFill>
            <a:srgbClr val="D3D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6455664"/>
            <a:ext cx="8503920" cy="2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 dirty="0">
                <a:solidFill>
                  <a:srgbClr val="626C78"/>
                </a:solidFill>
              </a:rPr>
              <a:t>MIRASOL • MICCAI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27080" y="6437376"/>
            <a:ext cx="5029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800" b="1" dirty="0">
                <a:solidFill>
                  <a:srgbClr val="12243A"/>
                </a:solidFill>
              </a:rPr>
              <a:t>09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7A820C0-9807-118F-ECDB-9D978E323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909823"/>
            <a:ext cx="7086368" cy="3119377"/>
          </a:xfrm>
          <a:prstGeom prst="rect">
            <a:avLst/>
          </a:prstGeom>
        </p:spPr>
      </p:pic>
      <p:sp>
        <p:nvSpPr>
          <p:cNvPr id="2" name="Rounded Rectangle 11">
            <a:extLst>
              <a:ext uri="{FF2B5EF4-FFF2-40B4-BE49-F238E27FC236}">
                <a16:creationId xmlns:a16="http://schemas.microsoft.com/office/drawing/2014/main" id="{DDF28ED3-1C3F-90A2-0E01-E76CD717388C}"/>
              </a:ext>
            </a:extLst>
          </p:cNvPr>
          <p:cNvSpPr/>
          <p:nvPr/>
        </p:nvSpPr>
        <p:spPr>
          <a:xfrm>
            <a:off x="8305800" y="2003230"/>
            <a:ext cx="3310128" cy="969264"/>
          </a:xfrm>
          <a:prstGeom prst="roundRect">
            <a:avLst/>
          </a:prstGeom>
          <a:solidFill>
            <a:srgbClr val="E7F5F3"/>
          </a:solidFill>
          <a:ln w="12700">
            <a:solidFill>
              <a:srgbClr val="BF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4674B-C47A-2F85-C158-61E1A0ED0860}"/>
              </a:ext>
            </a:extLst>
          </p:cNvPr>
          <p:cNvSpPr txBox="1"/>
          <p:nvPr/>
        </p:nvSpPr>
        <p:spPr>
          <a:xfrm>
            <a:off x="8618348" y="2354168"/>
            <a:ext cx="268503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just"/>
            <a:r>
              <a:rPr sz="2000" b="1" i="0" dirty="0">
                <a:solidFill>
                  <a:srgbClr val="17324D"/>
                </a:solidFill>
                <a:latin typeface="Arial"/>
              </a:rPr>
              <a:t>Input + preprocessing</a:t>
            </a:r>
          </a:p>
        </p:txBody>
      </p:sp>
      <p:sp>
        <p:nvSpPr>
          <p:cNvPr id="25" name="Rounded Rectangle 14">
            <a:extLst>
              <a:ext uri="{FF2B5EF4-FFF2-40B4-BE49-F238E27FC236}">
                <a16:creationId xmlns:a16="http://schemas.microsoft.com/office/drawing/2014/main" id="{B41E62A6-3625-4401-27AC-3CE687134302}"/>
              </a:ext>
            </a:extLst>
          </p:cNvPr>
          <p:cNvSpPr/>
          <p:nvPr/>
        </p:nvSpPr>
        <p:spPr>
          <a:xfrm>
            <a:off x="8305800" y="3191950"/>
            <a:ext cx="3310128" cy="969264"/>
          </a:xfrm>
          <a:prstGeom prst="roundRect">
            <a:avLst/>
          </a:prstGeom>
          <a:solidFill>
            <a:srgbClr val="EAF3F9"/>
          </a:solidFill>
          <a:ln w="12700">
            <a:solidFill>
              <a:srgbClr val="C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8FA0BE-1ABA-F073-0263-E3BA4DE7EE4F}"/>
              </a:ext>
            </a:extLst>
          </p:cNvPr>
          <p:cNvSpPr txBox="1"/>
          <p:nvPr/>
        </p:nvSpPr>
        <p:spPr>
          <a:xfrm>
            <a:off x="9014110" y="3552032"/>
            <a:ext cx="162544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17324D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17324D"/>
                </a:solidFill>
                <a:latin typeface="Arial"/>
              </a:rPr>
              <a:t>DERNet</a:t>
            </a:r>
            <a:r>
              <a:rPr sz="2000" b="1" i="0" dirty="0">
                <a:solidFill>
                  <a:srgbClr val="17324D"/>
                </a:solidFill>
                <a:latin typeface="Arial"/>
              </a:rPr>
              <a:t> gate</a:t>
            </a:r>
          </a:p>
        </p:txBody>
      </p:sp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1981B4CD-2994-2FD4-B427-1776EA44EFC9}"/>
              </a:ext>
            </a:extLst>
          </p:cNvPr>
          <p:cNvSpPr/>
          <p:nvPr/>
        </p:nvSpPr>
        <p:spPr>
          <a:xfrm>
            <a:off x="8305800" y="4389814"/>
            <a:ext cx="3310128" cy="969264"/>
          </a:xfrm>
          <a:prstGeom prst="roundRect">
            <a:avLst/>
          </a:prstGeom>
          <a:solidFill>
            <a:srgbClr val="FBF3DF"/>
          </a:solidFill>
          <a:ln w="12700">
            <a:solidFill>
              <a:srgbClr val="EDD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C4BC39-BB79-34E5-A18B-F01149D6FCC4}"/>
              </a:ext>
            </a:extLst>
          </p:cNvPr>
          <p:cNvSpPr txBox="1"/>
          <p:nvPr/>
        </p:nvSpPr>
        <p:spPr>
          <a:xfrm>
            <a:off x="8618347" y="4694106"/>
            <a:ext cx="268503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17324D"/>
                </a:solidFill>
                <a:latin typeface="Arial"/>
              </a:rPr>
              <a:t>YOLO11-L localization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 dirty="0">
                <a:solidFill>
                  <a:srgbClr val="12243A"/>
                </a:solidFill>
              </a:rPr>
              <a:t>Adaptive Preprocessing — CLAHE</a:t>
            </a:r>
            <a:r>
              <a:rPr lang="en-US" sz="2700" b="1" i="0" dirty="0">
                <a:solidFill>
                  <a:srgbClr val="12243A"/>
                </a:solidFill>
              </a:rPr>
              <a:t> Optimization</a:t>
            </a:r>
            <a:endParaRPr sz="2700" b="1" i="0" dirty="0">
              <a:solidFill>
                <a:srgbClr val="12243A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 dirty="0">
                <a:solidFill>
                  <a:srgbClr val="626C78"/>
                </a:solidFill>
              </a:rPr>
              <a:t>Handling exposure variation before classification and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8195" y="1584708"/>
            <a:ext cx="4186638" cy="4490026"/>
          </a:xfrm>
          <a:prstGeom prst="roundRect">
            <a:avLst/>
          </a:prstGeom>
          <a:solidFill>
            <a:srgbClr val="E4F1F5"/>
          </a:solidFill>
          <a:ln w="12700">
            <a:solidFill>
              <a:srgbClr val="1F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defRPr sz="1200"/>
            </a:pPr>
            <a:endParaRPr lang="en-US" sz="1400" dirty="0">
              <a:solidFill>
                <a:schemeClr val="tx1"/>
              </a:solidFill>
            </a:endParaRPr>
          </a:p>
          <a:p>
            <a:pPr algn="just">
              <a:defRPr sz="1200"/>
            </a:pPr>
            <a:endParaRPr lang="en-US" sz="1400" dirty="0">
              <a:solidFill>
                <a:schemeClr val="tx1"/>
              </a:solidFill>
            </a:endParaRPr>
          </a:p>
          <a:p>
            <a:pPr algn="just">
              <a:defRPr sz="1200"/>
            </a:pPr>
            <a:endParaRPr lang="en-US" sz="1400" dirty="0">
              <a:solidFill>
                <a:schemeClr val="tx1"/>
              </a:solidFill>
            </a:endParaRPr>
          </a:p>
          <a:p>
            <a:pPr algn="just">
              <a:defRPr sz="1200"/>
            </a:pPr>
            <a:endParaRPr lang="en-US" sz="1400" dirty="0">
              <a:solidFill>
                <a:schemeClr val="tx1"/>
              </a:solidFill>
            </a:endParaRPr>
          </a:p>
          <a:p>
            <a:pPr algn="just">
              <a:defRPr sz="1200"/>
            </a:pPr>
            <a:endParaRPr lang="en-US" sz="1400" dirty="0">
              <a:solidFill>
                <a:schemeClr val="tx1"/>
              </a:solidFill>
            </a:endParaRPr>
          </a:p>
          <a:p>
            <a:pPr algn="just">
              <a:defRPr sz="1200"/>
            </a:pPr>
            <a:endParaRPr lang="en-US" sz="1400" dirty="0">
              <a:solidFill>
                <a:schemeClr val="tx1"/>
              </a:solidFill>
            </a:endParaRPr>
          </a:p>
          <a:p>
            <a:pPr algn="just">
              <a:defRPr sz="1200"/>
            </a:pPr>
            <a:endParaRPr lang="en-US" sz="1400" dirty="0">
              <a:solidFill>
                <a:schemeClr val="tx1"/>
              </a:solidFill>
            </a:endParaRPr>
          </a:p>
          <a:p>
            <a:pPr algn="just">
              <a:defRPr sz="1200"/>
            </a:pPr>
            <a:endParaRPr lang="en-US" sz="1400" dirty="0">
              <a:solidFill>
                <a:schemeClr val="tx1"/>
              </a:solidFill>
            </a:endParaRPr>
          </a:p>
          <a:p>
            <a:pPr algn="just">
              <a:defRPr sz="1200"/>
            </a:pPr>
            <a:endParaRPr lang="en-US" sz="1600" dirty="0">
              <a:solidFill>
                <a:schemeClr val="tx1"/>
              </a:solidFill>
            </a:endParaRPr>
          </a:p>
          <a:p>
            <a:pPr algn="just">
              <a:defRPr sz="1200"/>
            </a:pPr>
            <a:endParaRPr lang="en-US" sz="1600" dirty="0">
              <a:solidFill>
                <a:schemeClr val="tx1"/>
              </a:solidFill>
            </a:endParaRPr>
          </a:p>
          <a:p>
            <a:pPr algn="just">
              <a:defRPr sz="1200"/>
            </a:pPr>
            <a:r>
              <a:rPr lang="en-US" sz="1600" dirty="0">
                <a:solidFill>
                  <a:schemeClr val="tx1"/>
                </a:solidFill>
              </a:rPr>
              <a:t>• Tile Grid (</a:t>
            </a:r>
            <a:r>
              <a:rPr lang="el-GR" sz="1600" dirty="0">
                <a:solidFill>
                  <a:schemeClr val="tx1"/>
                </a:solidFill>
              </a:rPr>
              <a:t>Ω</a:t>
            </a:r>
            <a:r>
              <a:rPr lang="en-US" sz="1600" dirty="0">
                <a:solidFill>
                  <a:schemeClr val="tx1"/>
                </a:solidFill>
              </a:rPr>
              <a:t>k = 8×8): Defines local contextual regions to calculate Cumulative Distribution Functions.</a:t>
            </a:r>
          </a:p>
          <a:p>
            <a:pPr algn="just">
              <a:defRPr sz="1200"/>
            </a:pPr>
            <a:r>
              <a:rPr lang="en-US" sz="1600" dirty="0">
                <a:solidFill>
                  <a:schemeClr val="tx1"/>
                </a:solidFill>
              </a:rPr>
              <a:t>• Dynamic Range Scaling (</a:t>
            </a:r>
            <a:r>
              <a:rPr lang="el-GR" sz="1600" dirty="0">
                <a:solidFill>
                  <a:schemeClr val="tx1"/>
                </a:solidFill>
              </a:rPr>
              <a:t>β = 255): </a:t>
            </a:r>
            <a:r>
              <a:rPr lang="en-US" sz="1600" dirty="0">
                <a:solidFill>
                  <a:schemeClr val="tx1"/>
                </a:solidFill>
              </a:rPr>
              <a:t>Rescales normalized local intensities back to standard 8-bit image depth.</a:t>
            </a:r>
          </a:p>
          <a:p>
            <a:pPr algn="just">
              <a:defRPr sz="1200"/>
            </a:pPr>
            <a:r>
              <a:rPr lang="en-US" sz="1600" dirty="0">
                <a:solidFill>
                  <a:schemeClr val="tx1"/>
                </a:solidFill>
              </a:rPr>
              <a:t>• Clip Limit (</a:t>
            </a:r>
            <a:r>
              <a:rPr lang="el-GR" sz="1600" dirty="0">
                <a:solidFill>
                  <a:schemeClr val="tx1"/>
                </a:solidFill>
              </a:rPr>
              <a:t>τ = 2.0): </a:t>
            </a:r>
            <a:r>
              <a:rPr lang="en-US" sz="1600" dirty="0">
                <a:solidFill>
                  <a:schemeClr val="tx1"/>
                </a:solidFill>
              </a:rPr>
              <a:t>Suppresses local contrast over-amplification, capping noise in homogeneous vertebral bone.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644" y="1703579"/>
            <a:ext cx="3808234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To mitigate radiographic exposure variance CLAHE computes the enhanced intensity by mapping the local CDF as</a:t>
            </a:r>
            <a:endParaRPr sz="1600" b="1" i="0" dirty="0">
              <a:solidFill>
                <a:srgbClr val="12243A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30352" y="6419088"/>
            <a:ext cx="11109960" cy="9144"/>
          </a:xfrm>
          <a:prstGeom prst="rect">
            <a:avLst/>
          </a:prstGeom>
          <a:solidFill>
            <a:srgbClr val="D3D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6455664"/>
            <a:ext cx="8503920" cy="2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 dirty="0">
                <a:solidFill>
                  <a:srgbClr val="626C78"/>
                </a:solidFill>
              </a:rPr>
              <a:t>MIRASOL • MICCAI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27080" y="6437376"/>
            <a:ext cx="5029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800" b="1" dirty="0">
                <a:solidFill>
                  <a:srgbClr val="12243A"/>
                </a:solidFill>
              </a:rPr>
              <a:t>10</a:t>
            </a:r>
            <a:endParaRPr lang="en-US" sz="800" b="1" i="0" dirty="0">
              <a:solidFill>
                <a:srgbClr val="1224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205B10A-14AC-9F22-33F1-580FCFAAA656}"/>
                  </a:ext>
                </a:extLst>
              </p:cNvPr>
              <p:cNvSpPr txBox="1"/>
              <p:nvPr/>
            </p:nvSpPr>
            <p:spPr>
              <a:xfrm>
                <a:off x="600687" y="2825131"/>
                <a:ext cx="4098697" cy="6363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p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𝜷</m:t>
                      </m:r>
                      <m:d>
                        <m:dPr>
                          <m:ctrlPr>
                            <a:rPr lang="pt-BR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  <m:t>𝑪𝑫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0" smtClean="0">
                                          <a:latin typeface="Cambria Math" panose="02040503050406030204" pitchFamily="18" charset="0"/>
                                        </a:rPr>
                                        <m:t>𝛀</m:t>
                                      </m:r>
                                    </m:e>
                                    <m:sub>
                                      <m:r>
                                        <a:rPr lang="en-US" sz="1600" b="1" i="0" smtClean="0">
                                          <a:latin typeface="Cambria Math" panose="02040503050406030204" pitchFamily="18" charset="0"/>
                                        </a:rPr>
                                        <m:t>𝐤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</a:rPr>
                                    <m:t>𝑰</m:t>
                                  </m:r>
                                  <m:d>
                                    <m:dPr>
                                      <m:ctrl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  <m:t>𝑪𝑫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</a:rPr>
                                    <m:t>𝒎𝒊𝒏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0" smtClean="0">
                                          <a:latin typeface="Cambria Math" panose="02040503050406030204" pitchFamily="18" charset="0"/>
                                        </a:rPr>
                                        <m:t>𝛀</m:t>
                                      </m:r>
                                    </m:e>
                                    <m:sub>
                                      <m:r>
                                        <a:rPr lang="en-US" sz="1600" b="1" i="0" smtClean="0">
                                          <a:latin typeface="Cambria Math" panose="02040503050406030204" pitchFamily="18" charset="0"/>
                                        </a:rPr>
                                        <m:t>𝐤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  <m:t>𝑪𝑫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</a:rPr>
                                    <m:t>𝒎𝒊𝒏</m:t>
                                  </m:r>
                                </m:sub>
                              </m:sSub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205B10A-14AC-9F22-33F1-580FCFAAA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687" y="2825131"/>
                <a:ext cx="4098697" cy="6363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ounded Rectangle 12">
            <a:extLst>
              <a:ext uri="{FF2B5EF4-FFF2-40B4-BE49-F238E27FC236}">
                <a16:creationId xmlns:a16="http://schemas.microsoft.com/office/drawing/2014/main" id="{B44E045C-FBCC-FB82-3FFE-EC52D4948809}"/>
              </a:ext>
            </a:extLst>
          </p:cNvPr>
          <p:cNvSpPr/>
          <p:nvPr/>
        </p:nvSpPr>
        <p:spPr>
          <a:xfrm>
            <a:off x="6035040" y="1584708"/>
            <a:ext cx="4186638" cy="4490026"/>
          </a:xfrm>
          <a:prstGeom prst="roundRect">
            <a:avLst/>
          </a:prstGeom>
          <a:solidFill>
            <a:srgbClr val="E4F1F5"/>
          </a:solidFill>
          <a:ln w="12700">
            <a:solidFill>
              <a:srgbClr val="1F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rPr lang="en-US" sz="2000" dirty="0"/>
              <a:t>Why Standard Equalization Fails in X-Rays</a:t>
            </a:r>
          </a:p>
          <a:p>
            <a:pPr>
              <a:defRPr sz="1600" b="1">
                <a:solidFill>
                  <a:srgbClr val="F59E0B"/>
                </a:solidFill>
              </a:defRPr>
            </a:pPr>
            <a:endParaRPr lang="en-US" sz="1600" dirty="0">
              <a:solidFill>
                <a:schemeClr val="tx1"/>
              </a:solidFill>
            </a:endParaRPr>
          </a:p>
          <a:p>
            <a:pPr>
              <a:defRPr sz="1300"/>
            </a:pPr>
            <a:r>
              <a:rPr lang="en-US" sz="1600" dirty="0">
                <a:solidFill>
                  <a:schemeClr val="tx1"/>
                </a:solidFill>
              </a:rPr>
              <a:t>• Global histogram equalization over-enhances background scatter and bone marrow noise, generating false-positive lesions.</a:t>
            </a:r>
          </a:p>
          <a:p>
            <a:pPr>
              <a:defRPr sz="1300"/>
            </a:pPr>
            <a:r>
              <a:rPr lang="en-US" sz="1600" dirty="0">
                <a:solidFill>
                  <a:schemeClr val="tx1"/>
                </a:solidFill>
              </a:rPr>
              <a:t>• CLAHE operates locally to amplify micro-contrast specifically around cortical bone margins.</a:t>
            </a:r>
          </a:p>
          <a:p>
            <a:pPr>
              <a:defRPr sz="1300"/>
            </a:pPr>
            <a:r>
              <a:rPr lang="en-US" sz="1600" dirty="0">
                <a:solidFill>
                  <a:schemeClr val="tx1"/>
                </a:solidFill>
              </a:rPr>
              <a:t>• Reveals minute osteophytes and subtle disc space narrowing obscured by uneven exposure across hospital scanners.</a:t>
            </a:r>
          </a:p>
          <a:p>
            <a:pPr>
              <a:defRPr sz="1300"/>
            </a:pPr>
            <a:r>
              <a:rPr lang="en-US" sz="1600" dirty="0">
                <a:solidFill>
                  <a:schemeClr val="tx1"/>
                </a:solidFill>
              </a:rPr>
              <a:t>• Crucial foundation before feeding images into downstream convolutional backbones.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4E425-4434-6893-93CC-562A246D7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F33F04F-2200-8BFD-801C-A582D11F4ACD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E0F42B-85DD-6F78-7EB6-A618EA61B14C}"/>
              </a:ext>
            </a:extLst>
          </p:cNvPr>
          <p:cNvSpPr txBox="1"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700" b="1" dirty="0">
                <a:solidFill>
                  <a:srgbClr val="12243A"/>
                </a:solidFill>
              </a:rPr>
              <a:t>Stage 1: </a:t>
            </a:r>
            <a:r>
              <a:rPr lang="en-US" sz="2700" b="1" dirty="0" err="1">
                <a:solidFill>
                  <a:srgbClr val="12243A"/>
                </a:solidFill>
              </a:rPr>
              <a:t>DERNet</a:t>
            </a:r>
            <a:r>
              <a:rPr lang="en-US" sz="2700" b="1" dirty="0">
                <a:solidFill>
                  <a:srgbClr val="12243A"/>
                </a:solidFill>
              </a:rPr>
              <a:t> Heterogeneous Ensemble</a:t>
            </a:r>
            <a:endParaRPr sz="2700" b="1" i="0" dirty="0">
              <a:solidFill>
                <a:srgbClr val="12243A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CC6EA8-BA82-9EBD-C3A5-45EA0A2EBE8B}"/>
              </a:ext>
            </a:extLst>
          </p:cNvPr>
          <p:cNvSpPr txBox="1"/>
          <p:nvPr/>
        </p:nvSpPr>
        <p:spPr>
          <a:xfrm>
            <a:off x="310243" y="5491774"/>
            <a:ext cx="774562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Fig: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DERNet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probabilistic ensemble architecture for high-sensitivity radiographic triage.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F195E6-1C67-B63C-2E04-54650783076C}"/>
              </a:ext>
            </a:extLst>
          </p:cNvPr>
          <p:cNvSpPr/>
          <p:nvPr/>
        </p:nvSpPr>
        <p:spPr>
          <a:xfrm>
            <a:off x="530352" y="6419088"/>
            <a:ext cx="11109960" cy="9144"/>
          </a:xfrm>
          <a:prstGeom prst="rect">
            <a:avLst/>
          </a:prstGeom>
          <a:solidFill>
            <a:srgbClr val="D3D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AB3409-330B-C734-58F5-476A8322A2F6}"/>
              </a:ext>
            </a:extLst>
          </p:cNvPr>
          <p:cNvSpPr txBox="1"/>
          <p:nvPr/>
        </p:nvSpPr>
        <p:spPr>
          <a:xfrm>
            <a:off x="548640" y="6455664"/>
            <a:ext cx="8503920" cy="2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 dirty="0">
                <a:solidFill>
                  <a:srgbClr val="626C78"/>
                </a:solidFill>
              </a:rPr>
              <a:t>MIRASOL • MICCAI 2026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8D6E2E-619D-89C3-CE9F-B125F4335087}"/>
              </a:ext>
            </a:extLst>
          </p:cNvPr>
          <p:cNvSpPr txBox="1"/>
          <p:nvPr/>
        </p:nvSpPr>
        <p:spPr>
          <a:xfrm>
            <a:off x="10927080" y="6437376"/>
            <a:ext cx="5029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800" b="1" dirty="0">
                <a:solidFill>
                  <a:srgbClr val="12243A"/>
                </a:solidFill>
              </a:rPr>
              <a:t>11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B15CD8-6864-5F8F-5990-76BA379D6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354869"/>
            <a:ext cx="7113799" cy="39060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B80D0E-05E8-F782-ECA1-B1D97D946324}"/>
              </a:ext>
            </a:extLst>
          </p:cNvPr>
          <p:cNvSpPr txBox="1"/>
          <p:nvPr/>
        </p:nvSpPr>
        <p:spPr>
          <a:xfrm>
            <a:off x="548640" y="978408"/>
            <a:ext cx="571951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6B7680"/>
                </a:solidFill>
                <a:latin typeface="Arial"/>
              </a:rPr>
              <a:t>Three complementary CNN backbones are fused at the probability level.</a:t>
            </a:r>
          </a:p>
        </p:txBody>
      </p:sp>
      <p:sp>
        <p:nvSpPr>
          <p:cNvPr id="25" name="Rounded Rectangle 12">
            <a:extLst>
              <a:ext uri="{FF2B5EF4-FFF2-40B4-BE49-F238E27FC236}">
                <a16:creationId xmlns:a16="http://schemas.microsoft.com/office/drawing/2014/main" id="{F8CED657-7890-1CFF-98D4-5F68F01BFD32}"/>
              </a:ext>
            </a:extLst>
          </p:cNvPr>
          <p:cNvSpPr/>
          <p:nvPr/>
        </p:nvSpPr>
        <p:spPr>
          <a:xfrm>
            <a:off x="8055864" y="1664208"/>
            <a:ext cx="3822191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F2D343-8B20-A732-3A12-EE088ECC3725}"/>
              </a:ext>
            </a:extLst>
          </p:cNvPr>
          <p:cNvSpPr txBox="1"/>
          <p:nvPr/>
        </p:nvSpPr>
        <p:spPr>
          <a:xfrm>
            <a:off x="8321040" y="1792224"/>
            <a:ext cx="144911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7324D"/>
                </a:solidFill>
                <a:latin typeface="Arial"/>
              </a:rPr>
              <a:t>DenseNet121</a:t>
            </a:r>
          </a:p>
        </p:txBody>
      </p:sp>
      <p:sp>
        <p:nvSpPr>
          <p:cNvPr id="28" name="Rounded Rectangle 14">
            <a:extLst>
              <a:ext uri="{FF2B5EF4-FFF2-40B4-BE49-F238E27FC236}">
                <a16:creationId xmlns:a16="http://schemas.microsoft.com/office/drawing/2014/main" id="{9B56C4D0-1A35-905B-CD33-B12BB550BA74}"/>
              </a:ext>
            </a:extLst>
          </p:cNvPr>
          <p:cNvSpPr/>
          <p:nvPr/>
        </p:nvSpPr>
        <p:spPr>
          <a:xfrm>
            <a:off x="10396728" y="1773936"/>
            <a:ext cx="1143000" cy="274320"/>
          </a:xfrm>
          <a:prstGeom prst="roundRect">
            <a:avLst/>
          </a:prstGeom>
          <a:solidFill>
            <a:srgbClr val="E7F5F3"/>
          </a:solidFill>
          <a:ln w="6350">
            <a:solidFill>
              <a:srgbClr val="E7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BDD45A-0D97-1BB0-EDE8-7AD6B2031209}"/>
              </a:ext>
            </a:extLst>
          </p:cNvPr>
          <p:cNvSpPr txBox="1"/>
          <p:nvPr/>
        </p:nvSpPr>
        <p:spPr>
          <a:xfrm>
            <a:off x="10580300" y="1810512"/>
            <a:ext cx="77585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 i="0" dirty="0">
                <a:solidFill>
                  <a:srgbClr val="12A8A0"/>
                </a:solidFill>
                <a:latin typeface="Arial"/>
              </a:rPr>
              <a:t>ω₁ = 0.42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C0F634-1ADF-7179-A472-59AC1D0E711A}"/>
              </a:ext>
            </a:extLst>
          </p:cNvPr>
          <p:cNvSpPr txBox="1"/>
          <p:nvPr/>
        </p:nvSpPr>
        <p:spPr>
          <a:xfrm>
            <a:off x="8321040" y="2200131"/>
            <a:ext cx="290624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1D2A33"/>
                </a:solidFill>
                <a:latin typeface="Arial"/>
              </a:rPr>
              <a:t>textural sensitivity / subtle anomalies</a:t>
            </a:r>
          </a:p>
        </p:txBody>
      </p:sp>
      <p:sp>
        <p:nvSpPr>
          <p:cNvPr id="31" name="Rounded Rectangle 17">
            <a:extLst>
              <a:ext uri="{FF2B5EF4-FFF2-40B4-BE49-F238E27FC236}">
                <a16:creationId xmlns:a16="http://schemas.microsoft.com/office/drawing/2014/main" id="{ABE92E6D-888C-3F98-3C23-4FD5E216633E}"/>
              </a:ext>
            </a:extLst>
          </p:cNvPr>
          <p:cNvSpPr/>
          <p:nvPr/>
        </p:nvSpPr>
        <p:spPr>
          <a:xfrm>
            <a:off x="8055864" y="2866644"/>
            <a:ext cx="3822191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3C7BD50-899B-48ED-E5D3-D8CD9CE54D63}"/>
              </a:ext>
            </a:extLst>
          </p:cNvPr>
          <p:cNvSpPr txBox="1"/>
          <p:nvPr/>
        </p:nvSpPr>
        <p:spPr>
          <a:xfrm>
            <a:off x="8321040" y="2994660"/>
            <a:ext cx="179536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7324D"/>
                </a:solidFill>
                <a:latin typeface="Arial"/>
              </a:rPr>
              <a:t>EfficientNetV2-S</a:t>
            </a:r>
          </a:p>
        </p:txBody>
      </p:sp>
      <p:sp>
        <p:nvSpPr>
          <p:cNvPr id="33" name="Rounded Rectangle 19">
            <a:extLst>
              <a:ext uri="{FF2B5EF4-FFF2-40B4-BE49-F238E27FC236}">
                <a16:creationId xmlns:a16="http://schemas.microsoft.com/office/drawing/2014/main" id="{4276E108-545A-F2BE-BDEF-5AF4399ED106}"/>
              </a:ext>
            </a:extLst>
          </p:cNvPr>
          <p:cNvSpPr/>
          <p:nvPr/>
        </p:nvSpPr>
        <p:spPr>
          <a:xfrm>
            <a:off x="10396728" y="2976372"/>
            <a:ext cx="1143000" cy="274320"/>
          </a:xfrm>
          <a:prstGeom prst="roundRect">
            <a:avLst/>
          </a:prstGeom>
          <a:solidFill>
            <a:srgbClr val="EAF3F9"/>
          </a:solidFill>
          <a:ln w="6350">
            <a:solidFill>
              <a:srgbClr val="EA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DD6EDE-C7FC-923F-A613-94349A8B488A}"/>
              </a:ext>
            </a:extLst>
          </p:cNvPr>
          <p:cNvSpPr txBox="1"/>
          <p:nvPr/>
        </p:nvSpPr>
        <p:spPr>
          <a:xfrm>
            <a:off x="10580300" y="3012948"/>
            <a:ext cx="77585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 i="0" dirty="0">
                <a:solidFill>
                  <a:srgbClr val="2C6E9B"/>
                </a:solidFill>
                <a:latin typeface="Arial"/>
              </a:rPr>
              <a:t>ω₂ = 0.32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95DF639-D220-4F10-F23D-4697CCB69492}"/>
              </a:ext>
            </a:extLst>
          </p:cNvPr>
          <p:cNvSpPr txBox="1"/>
          <p:nvPr/>
        </p:nvSpPr>
        <p:spPr>
          <a:xfrm>
            <a:off x="8321040" y="3378147"/>
            <a:ext cx="316432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1D2A33"/>
                </a:solidFill>
                <a:latin typeface="Arial"/>
              </a:rPr>
              <a:t>specificity-oriented false-positive control</a:t>
            </a:r>
          </a:p>
        </p:txBody>
      </p:sp>
      <p:sp>
        <p:nvSpPr>
          <p:cNvPr id="36" name="Rounded Rectangle 22">
            <a:extLst>
              <a:ext uri="{FF2B5EF4-FFF2-40B4-BE49-F238E27FC236}">
                <a16:creationId xmlns:a16="http://schemas.microsoft.com/office/drawing/2014/main" id="{8FBF910A-9E5C-AFA6-A6E5-AF6A2FC8875F}"/>
              </a:ext>
            </a:extLst>
          </p:cNvPr>
          <p:cNvSpPr/>
          <p:nvPr/>
        </p:nvSpPr>
        <p:spPr>
          <a:xfrm>
            <a:off x="8055864" y="4078224"/>
            <a:ext cx="3822191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8517AEB-77F8-7247-31B1-375820CBE76E}"/>
              </a:ext>
            </a:extLst>
          </p:cNvPr>
          <p:cNvSpPr txBox="1"/>
          <p:nvPr/>
        </p:nvSpPr>
        <p:spPr>
          <a:xfrm>
            <a:off x="8321040" y="4206239"/>
            <a:ext cx="93294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7324D"/>
                </a:solidFill>
                <a:latin typeface="Arial"/>
              </a:rPr>
              <a:t>ResNet50</a:t>
            </a:r>
          </a:p>
        </p:txBody>
      </p:sp>
      <p:sp>
        <p:nvSpPr>
          <p:cNvPr id="38" name="Rounded Rectangle 24">
            <a:extLst>
              <a:ext uri="{FF2B5EF4-FFF2-40B4-BE49-F238E27FC236}">
                <a16:creationId xmlns:a16="http://schemas.microsoft.com/office/drawing/2014/main" id="{89F3A49F-AE38-DBE3-63A1-A3C2A62F0847}"/>
              </a:ext>
            </a:extLst>
          </p:cNvPr>
          <p:cNvSpPr/>
          <p:nvPr/>
        </p:nvSpPr>
        <p:spPr>
          <a:xfrm>
            <a:off x="10396728" y="4187952"/>
            <a:ext cx="1143000" cy="274320"/>
          </a:xfrm>
          <a:prstGeom prst="roundRect">
            <a:avLst/>
          </a:prstGeom>
          <a:solidFill>
            <a:srgbClr val="FBF3DF"/>
          </a:solidFill>
          <a:ln w="6350">
            <a:solidFill>
              <a:srgbClr val="FB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2D77A4-067A-32C8-55A0-61115D788CC1}"/>
              </a:ext>
            </a:extLst>
          </p:cNvPr>
          <p:cNvSpPr txBox="1"/>
          <p:nvPr/>
        </p:nvSpPr>
        <p:spPr>
          <a:xfrm>
            <a:off x="10580300" y="4224528"/>
            <a:ext cx="77585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 i="0" dirty="0">
                <a:solidFill>
                  <a:srgbClr val="D8A23A"/>
                </a:solidFill>
                <a:latin typeface="Arial"/>
              </a:rPr>
              <a:t>ω₃ = 0.26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5028AE6-6A2C-6D22-2C59-F942222103F6}"/>
              </a:ext>
            </a:extLst>
          </p:cNvPr>
          <p:cNvSpPr txBox="1"/>
          <p:nvPr/>
        </p:nvSpPr>
        <p:spPr>
          <a:xfrm>
            <a:off x="8321040" y="4498848"/>
            <a:ext cx="2604880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1D2A33"/>
                </a:solidFill>
                <a:latin typeface="Arial"/>
              </a:rPr>
              <a:t>recall-oriented fail-safe for gross </a:t>
            </a:r>
            <a:endParaRPr lang="en-US" sz="1400" b="0" i="0" dirty="0">
              <a:solidFill>
                <a:srgbClr val="1D2A33"/>
              </a:solidFill>
              <a:latin typeface="Arial"/>
            </a:endParaRPr>
          </a:p>
          <a:p>
            <a:pPr algn="l"/>
            <a:r>
              <a:rPr sz="1400" b="0" i="0" dirty="0">
                <a:solidFill>
                  <a:srgbClr val="1D2A33"/>
                </a:solidFill>
                <a:latin typeface="Arial"/>
              </a:rPr>
              <a:t>abnormalities</a:t>
            </a:r>
          </a:p>
        </p:txBody>
      </p:sp>
    </p:spTree>
    <p:extLst>
      <p:ext uri="{BB962C8B-B14F-4D97-AF65-F5344CB8AC3E}">
        <p14:creationId xmlns:p14="http://schemas.microsoft.com/office/powerpoint/2010/main" val="3202414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 dirty="0" err="1">
                <a:solidFill>
                  <a:srgbClr val="12243A"/>
                </a:solidFill>
              </a:rPr>
              <a:t>DERNet</a:t>
            </a:r>
            <a:r>
              <a:rPr sz="2700" b="1" i="0" dirty="0">
                <a:solidFill>
                  <a:srgbClr val="12243A"/>
                </a:solidFill>
              </a:rPr>
              <a:t> Soft Voting &amp; Threshold Selection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6419088"/>
            <a:ext cx="11109960" cy="9144"/>
          </a:xfrm>
          <a:prstGeom prst="rect">
            <a:avLst/>
          </a:prstGeom>
          <a:solidFill>
            <a:srgbClr val="D3D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6455664"/>
            <a:ext cx="8503920" cy="2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 dirty="0">
                <a:solidFill>
                  <a:srgbClr val="626C78"/>
                </a:solidFill>
              </a:rPr>
              <a:t>MIRASOL • MICCAI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7080" y="6437376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12243A"/>
                </a:solidFill>
              </a:rPr>
              <a:t>12</a:t>
            </a:r>
          </a:p>
        </p:txBody>
      </p:sp>
      <p:sp>
        <p:nvSpPr>
          <p:cNvPr id="26" name="Rounded Rectangle 4">
            <a:extLst>
              <a:ext uri="{FF2B5EF4-FFF2-40B4-BE49-F238E27FC236}">
                <a16:creationId xmlns:a16="http://schemas.microsoft.com/office/drawing/2014/main" id="{33D5E929-5004-18B6-C890-A463302172CD}"/>
              </a:ext>
            </a:extLst>
          </p:cNvPr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931059-3236-BEF8-ADFB-1B02ECEA1CD4}"/>
              </a:ext>
            </a:extLst>
          </p:cNvPr>
          <p:cNvSpPr txBox="1"/>
          <p:nvPr/>
        </p:nvSpPr>
        <p:spPr>
          <a:xfrm>
            <a:off x="914400" y="3429000"/>
            <a:ext cx="475488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endParaRPr lang="en-US" sz="1600" dirty="0"/>
          </a:p>
          <a:p>
            <a:pPr>
              <a:defRPr sz="1200"/>
            </a:pPr>
            <a:r>
              <a:rPr sz="1600" dirty="0"/>
              <a:t>• Exhaustive search over [0.35, 0.60] with step size </a:t>
            </a:r>
            <a:r>
              <a:rPr sz="1600" dirty="0" err="1"/>
              <a:t>Δτ</a:t>
            </a:r>
            <a:r>
              <a:rPr sz="1600" dirty="0"/>
              <a:t> = 0.0002.</a:t>
            </a:r>
          </a:p>
          <a:p>
            <a:pPr>
              <a:defRPr sz="1200"/>
            </a:pPr>
            <a:r>
              <a:rPr sz="1600" dirty="0"/>
              <a:t>• Calibrated strictly on training folds to maximize cross-validation F1.</a:t>
            </a:r>
          </a:p>
          <a:p>
            <a:pPr>
              <a:defRPr sz="1200"/>
            </a:pPr>
            <a:r>
              <a:rPr sz="1600" dirty="0"/>
              <a:t>• Optimal threshold locked at τ* = 0.4787.</a:t>
            </a:r>
          </a:p>
          <a:p>
            <a:pPr>
              <a:defRPr sz="1200"/>
            </a:pPr>
            <a:r>
              <a:rPr sz="1600" dirty="0"/>
              <a:t>• Weighted soft-voting ensemble probability:</a:t>
            </a:r>
            <a:br>
              <a:rPr sz="1600" dirty="0"/>
            </a:br>
            <a:r>
              <a:rPr sz="1600" dirty="0" err="1"/>
              <a:t>P_ens</a:t>
            </a:r>
            <a:r>
              <a:rPr sz="1600" dirty="0"/>
              <a:t> = 0.42·P_Dense + 0.32·P_EffNet + 0.26·P_ResNet</a:t>
            </a:r>
          </a:p>
        </p:txBody>
      </p:sp>
      <p:sp>
        <p:nvSpPr>
          <p:cNvPr id="28" name="Rounded Rectangle 6">
            <a:extLst>
              <a:ext uri="{FF2B5EF4-FFF2-40B4-BE49-F238E27FC236}">
                <a16:creationId xmlns:a16="http://schemas.microsoft.com/office/drawing/2014/main" id="{0D39E015-31FA-7555-2B46-77269375652B}"/>
              </a:ext>
            </a:extLst>
          </p:cNvPr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0D9887-CBC0-82D1-5453-5EC4AC310E87}"/>
              </a:ext>
            </a:extLst>
          </p:cNvPr>
          <p:cNvSpPr txBox="1"/>
          <p:nvPr/>
        </p:nvSpPr>
        <p:spPr>
          <a:xfrm>
            <a:off x="6332220" y="2531374"/>
            <a:ext cx="48463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rPr sz="1600" dirty="0"/>
              <a:t>• Decision Rule 1: If </a:t>
            </a:r>
            <a:r>
              <a:rPr sz="1600" dirty="0" err="1"/>
              <a:t>P_ens</a:t>
            </a:r>
            <a:r>
              <a:rPr sz="1600" dirty="0"/>
              <a:t> ≥ 0.478 → Flag as Abnormal → Route immediately to Stage 2 (YOLO11-L).</a:t>
            </a:r>
            <a:endParaRPr lang="en-US" sz="1600" dirty="0"/>
          </a:p>
          <a:p>
            <a:pPr>
              <a:defRPr sz="1300"/>
            </a:pPr>
            <a:endParaRPr sz="1600" dirty="0"/>
          </a:p>
          <a:p>
            <a:pPr>
              <a:defRPr sz="1300"/>
            </a:pPr>
            <a:r>
              <a:rPr sz="1600" dirty="0"/>
              <a:t>• Decision Rule 2: If </a:t>
            </a:r>
            <a:r>
              <a:rPr sz="1600" dirty="0" err="1"/>
              <a:t>P_ens</a:t>
            </a:r>
            <a:r>
              <a:rPr sz="1600" dirty="0"/>
              <a:t> &lt; 0.478 → Flag as Normal → Exit pipeline early without consuming detector compute.</a:t>
            </a:r>
            <a:endParaRPr lang="en-US" sz="1600" dirty="0"/>
          </a:p>
          <a:p>
            <a:pPr>
              <a:defRPr sz="1300"/>
            </a:pPr>
            <a:endParaRPr sz="1600" dirty="0"/>
          </a:p>
          <a:p>
            <a:pPr>
              <a:defRPr sz="1300"/>
            </a:pPr>
            <a:r>
              <a:rPr sz="1600" dirty="0"/>
              <a:t>• Weight grid search (</a:t>
            </a:r>
            <a:r>
              <a:rPr sz="1600" dirty="0" err="1"/>
              <a:t>Δω</a:t>
            </a:r>
            <a:r>
              <a:rPr sz="1600" dirty="0"/>
              <a:t> = 0.01, </a:t>
            </a:r>
            <a:r>
              <a:rPr sz="1600" dirty="0" err="1"/>
              <a:t>Σω</a:t>
            </a:r>
            <a:r>
              <a:rPr sz="1600" dirty="0"/>
              <a:t> = 1.0) confirmed Ω = [0.42, 0.32, 0.26] as the global Pareto optimum.</a:t>
            </a:r>
            <a:endParaRPr lang="en-US" sz="1600" dirty="0"/>
          </a:p>
          <a:p>
            <a:pPr>
              <a:defRPr sz="1300"/>
            </a:pPr>
            <a:endParaRPr sz="1600" dirty="0"/>
          </a:p>
          <a:p>
            <a:pPr>
              <a:defRPr sz="1300"/>
            </a:pPr>
            <a:r>
              <a:rPr sz="1600" dirty="0"/>
              <a:t>• Harmonizes individual model biases into a single high-precision gatekeeper.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B9C157D-6A0E-03D7-EC43-2BD3552DD85F}"/>
                  </a:ext>
                </a:extLst>
              </p:cNvPr>
              <p:cNvSpPr txBox="1"/>
              <p:nvPr/>
            </p:nvSpPr>
            <p:spPr>
              <a:xfrm>
                <a:off x="1024128" y="2188809"/>
                <a:ext cx="3523488" cy="3297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𝝉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p>
                      <m:r>
                        <a:rPr lang="en-US" sz="20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𝒂𝒓𝒈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𝒎𝒂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𝝉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𝟎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.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𝟑𝟓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 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𝟎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.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𝟔𝟎</m:t>
                              </m:r>
                            </m:e>
                          </m:d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𝝉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B9C157D-6A0E-03D7-EC43-2BD3552DD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128" y="2188809"/>
                <a:ext cx="3523488" cy="329706"/>
              </a:xfrm>
              <a:prstGeom prst="rect">
                <a:avLst/>
              </a:prstGeom>
              <a:blipFill>
                <a:blip r:embed="rId2"/>
                <a:stretch>
                  <a:fillRect l="-1384" r="-2941" b="-2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D30B0D2-92EE-A724-650A-05DAE34AE5BA}"/>
                  </a:ext>
                </a:extLst>
              </p:cNvPr>
              <p:cNvSpPr txBox="1"/>
              <p:nvPr/>
            </p:nvSpPr>
            <p:spPr>
              <a:xfrm>
                <a:off x="914401" y="2730538"/>
                <a:ext cx="3810000" cy="6408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𝝉</m:t>
                          </m:r>
                        </m:e>
                      </m:d>
                      <m:r>
                        <a:rPr lang="en-US" sz="20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𝑻𝑷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𝝉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𝑻𝑷</m:t>
                          </m:r>
                          <m:d>
                            <m:d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𝝉</m:t>
                              </m:r>
                            </m:e>
                          </m:d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𝑭𝑷</m:t>
                          </m:r>
                          <m:d>
                            <m:d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𝝉</m:t>
                              </m:r>
                            </m:e>
                          </m:d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𝑭𝑵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𝝉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D30B0D2-92EE-A724-650A-05DAE34AE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1" y="2730538"/>
                <a:ext cx="3810000" cy="6408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40A6AEDA-D0D3-A0C7-F04D-36CDA19E05E1}"/>
              </a:ext>
            </a:extLst>
          </p:cNvPr>
          <p:cNvSpPr txBox="1"/>
          <p:nvPr/>
        </p:nvSpPr>
        <p:spPr>
          <a:xfrm>
            <a:off x="1008889" y="1669498"/>
            <a:ext cx="4754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400" b="1" kern="1200" dirty="0">
                <a:solidFill>
                  <a:srgbClr val="1E3A8A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Threshold Grid Search Optimization</a:t>
            </a:r>
            <a:endParaRPr lang="en-US" sz="3200" dirty="0">
              <a:effectLst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CC4430-F25B-1EB6-C65A-AB5E175767DB}"/>
              </a:ext>
            </a:extLst>
          </p:cNvPr>
          <p:cNvSpPr txBox="1"/>
          <p:nvPr/>
        </p:nvSpPr>
        <p:spPr>
          <a:xfrm>
            <a:off x="6332220" y="1669498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400" b="1" kern="1200" dirty="0">
                <a:solidFill>
                  <a:srgbClr val="1E3A8A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Triage Decision Rule &amp; Clinical Routing</a:t>
            </a:r>
            <a:endParaRPr lang="en-US" sz="3200" dirty="0">
              <a:effectLst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384048"/>
            <a:ext cx="110642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i="0" dirty="0">
                <a:solidFill>
                  <a:srgbClr val="12243A"/>
                </a:solidFill>
              </a:rPr>
              <a:t>Backbo</a:t>
            </a:r>
            <a:r>
              <a:rPr sz="2800" b="1" i="0" dirty="0">
                <a:solidFill>
                  <a:srgbClr val="12243A"/>
                </a:solidFill>
              </a:rPr>
              <a:t>ne Complementarity &amp; Ablation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 dirty="0">
                <a:solidFill>
                  <a:srgbClr val="626C78"/>
                </a:solidFill>
              </a:rPr>
              <a:t>Each member is given a functional role supported by ablation evidence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976809"/>
              </p:ext>
            </p:extLst>
          </p:nvPr>
        </p:nvGraphicFramePr>
        <p:xfrm>
          <a:off x="621792" y="1463040"/>
          <a:ext cx="10972800" cy="2304288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/>
                        <a:t>Backbone</a:t>
                      </a:r>
                    </a:p>
                  </a:txBody>
                  <a:tcPr marL="22860" marR="22860" marT="9144" marB="9144"/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/>
                        <a:t>Role described in paper</a:t>
                      </a:r>
                    </a:p>
                  </a:txBody>
                  <a:tcPr marL="22860" marR="22860" marT="9144" marB="9144"/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/>
                        <a:t>Weight</a:t>
                      </a:r>
                    </a:p>
                  </a:txBody>
                  <a:tcPr marL="22860" marR="22860" marT="9144" marB="9144"/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/>
                        <a:t>Ablation evidence</a:t>
                      </a:r>
                    </a:p>
                  </a:txBody>
                  <a:tcPr marL="22860" marR="22860" marT="9144" marB="914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B323B"/>
                          </a:solidFill>
                        </a:defRPr>
                      </a:pPr>
                      <a:r>
                        <a:rPr sz="1600" dirty="0"/>
                        <a:t>DenseNet121</a:t>
                      </a:r>
                    </a:p>
                  </a:txBody>
                  <a:tcPr marL="22860" marR="22860" marT="9144" marB="9144"/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B323B"/>
                          </a:solidFill>
                        </a:defRPr>
                      </a:pPr>
                      <a:r>
                        <a:rPr sz="1600" dirty="0"/>
                        <a:t>Textural sensitivity / subtle anomalies</a:t>
                      </a:r>
                    </a:p>
                  </a:txBody>
                  <a:tcPr marL="22860" marR="22860" marT="9144" marB="9144"/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B323B"/>
                          </a:solidFill>
                        </a:defRPr>
                      </a:pPr>
                      <a:r>
                        <a:rPr sz="1600"/>
                        <a:t>0.42</a:t>
                      </a:r>
                    </a:p>
                  </a:txBody>
                  <a:tcPr marL="22860" marR="22860" marT="9144" marB="9144"/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B323B"/>
                          </a:solidFill>
                        </a:defRPr>
                      </a:pPr>
                      <a:r>
                        <a:rPr sz="1600" dirty="0"/>
                        <a:t>Largest fusion weight</a:t>
                      </a:r>
                    </a:p>
                  </a:txBody>
                  <a:tcPr marL="22860" marR="22860" marT="9144" marB="914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B323B"/>
                          </a:solidFill>
                        </a:defRPr>
                      </a:pPr>
                      <a:r>
                        <a:rPr sz="1600" dirty="0"/>
                        <a:t>EfficientNetV2-S</a:t>
                      </a:r>
                    </a:p>
                  </a:txBody>
                  <a:tcPr marL="22860" marR="22860" marT="9144" marB="9144"/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B323B"/>
                          </a:solidFill>
                        </a:defRPr>
                      </a:pPr>
                      <a:r>
                        <a:rPr sz="1600" dirty="0"/>
                        <a:t>Specificity / false-positive control</a:t>
                      </a:r>
                    </a:p>
                  </a:txBody>
                  <a:tcPr marL="22860" marR="22860" marT="9144" marB="9144"/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B323B"/>
                          </a:solidFill>
                        </a:defRPr>
                      </a:pPr>
                      <a:r>
                        <a:rPr sz="1600"/>
                        <a:t>0.32</a:t>
                      </a:r>
                    </a:p>
                  </a:txBody>
                  <a:tcPr marL="22860" marR="22860" marT="9144" marB="9144"/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B323B"/>
                          </a:solidFill>
                        </a:defRPr>
                      </a:pPr>
                      <a:r>
                        <a:rPr sz="1600" dirty="0"/>
                        <a:t>+19 FPs; −1.78% specificity if removed</a:t>
                      </a:r>
                    </a:p>
                  </a:txBody>
                  <a:tcPr marL="22860" marR="22860" marT="9144" marB="914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B323B"/>
                          </a:solidFill>
                        </a:defRPr>
                      </a:pPr>
                      <a:r>
                        <a:rPr sz="1600" dirty="0"/>
                        <a:t>ResNet50</a:t>
                      </a:r>
                    </a:p>
                  </a:txBody>
                  <a:tcPr marL="22860" marR="22860" marT="9144" marB="9144"/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B323B"/>
                          </a:solidFill>
                        </a:defRPr>
                      </a:pPr>
                      <a:r>
                        <a:rPr sz="1600" dirty="0"/>
                        <a:t>Recall fail-safe / gross abnormalities</a:t>
                      </a:r>
                    </a:p>
                  </a:txBody>
                  <a:tcPr marL="22860" marR="22860" marT="9144" marB="9144"/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B323B"/>
                          </a:solidFill>
                        </a:defRPr>
                      </a:pPr>
                      <a:r>
                        <a:rPr sz="1600" dirty="0"/>
                        <a:t>0.26</a:t>
                      </a:r>
                    </a:p>
                  </a:txBody>
                  <a:tcPr marL="22860" marR="22860" marT="9144" marB="9144"/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B323B"/>
                          </a:solidFill>
                        </a:defRPr>
                      </a:pPr>
                      <a:r>
                        <a:rPr sz="1600" dirty="0"/>
                        <a:t>+20 FNs; −1.99% sensitivity if removed</a:t>
                      </a:r>
                    </a:p>
                  </a:txBody>
                  <a:tcPr marL="22860" marR="22860" marT="9144" marB="914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" y="4069080"/>
            <a:ext cx="340156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4187952"/>
            <a:ext cx="309067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12243A"/>
                </a:solidFill>
              </a:rPr>
              <a:t>DenseNet121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81144"/>
            <a:ext cx="3090672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/>
            <a:r>
              <a:rPr sz="1400" b="0" i="0" dirty="0">
                <a:solidFill>
                  <a:srgbClr val="2B323B"/>
                </a:solidFill>
              </a:rPr>
              <a:t>Dense connectivity supports multi-scale feature reuse for subtle boundary / texture abnormalities.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069080"/>
            <a:ext cx="340156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4187952"/>
            <a:ext cx="309067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12243A"/>
                </a:solidFill>
              </a:rPr>
              <a:t>EfficientNetV2-S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4581144"/>
            <a:ext cx="3090672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/>
            <a:r>
              <a:rPr sz="1400" b="0" i="0" dirty="0">
                <a:solidFill>
                  <a:srgbClr val="2B323B"/>
                </a:solidFill>
              </a:rPr>
              <a:t>Its removal increases false positives, supporting its specificity-oriented contribution.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4069080"/>
            <a:ext cx="340156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11896" y="4187952"/>
            <a:ext cx="309067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12243A"/>
                </a:solidFill>
              </a:rPr>
              <a:t>ResNet50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4581144"/>
            <a:ext cx="3090672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/>
            <a:r>
              <a:rPr sz="1400" b="0" i="0" dirty="0">
                <a:solidFill>
                  <a:srgbClr val="2B323B"/>
                </a:solidFill>
              </a:rPr>
              <a:t>Its removal increases false negatives, supporting its recall-oriented contribution.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6419088"/>
            <a:ext cx="11109960" cy="9144"/>
          </a:xfrm>
          <a:prstGeom prst="rect">
            <a:avLst/>
          </a:prstGeom>
          <a:solidFill>
            <a:srgbClr val="D3D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8503920" cy="2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 dirty="0">
                <a:solidFill>
                  <a:srgbClr val="626C78"/>
                </a:solidFill>
              </a:rPr>
              <a:t>MIRASOL • MICCAI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37376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12243A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384048"/>
            <a:ext cx="1106424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rPr lang="en-US" sz="3600" dirty="0"/>
              <a:t>Stage 2: Customized YOLO11-L for </a:t>
            </a:r>
            <a:r>
              <a:rPr lang="en-US" sz="3600" b="1" dirty="0">
                <a:solidFill>
                  <a:srgbClr val="17324D"/>
                </a:solidFill>
                <a:latin typeface="Arial"/>
              </a:rPr>
              <a:t>L</a:t>
            </a:r>
            <a:r>
              <a:rPr lang="en-US" sz="3600" b="1" i="0" dirty="0">
                <a:solidFill>
                  <a:srgbClr val="17324D"/>
                </a:solidFill>
                <a:latin typeface="Arial"/>
              </a:rPr>
              <a:t>ocalization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 dirty="0">
                <a:solidFill>
                  <a:srgbClr val="626C78"/>
                </a:solidFill>
              </a:rPr>
              <a:t>Fine-grained lesion localization for minute spinal pathology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1" y="1621613"/>
            <a:ext cx="3273552" cy="327957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9" y="1740486"/>
            <a:ext cx="296265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7645CF"/>
                </a:solidFill>
              </a:rPr>
              <a:t>Backbone: CSP-Darknet + C2PSA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9" y="2133678"/>
            <a:ext cx="2962656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defRPr sz="1200"/>
            </a:pPr>
            <a:r>
              <a:rPr lang="en-US" sz="1400" dirty="0"/>
              <a:t>• Cross-Stage Partial connections ensure gradient flow while reducing redundant compute.</a:t>
            </a:r>
          </a:p>
          <a:p>
            <a:pPr algn="just">
              <a:defRPr sz="1200"/>
            </a:pPr>
            <a:r>
              <a:rPr lang="en-US" sz="1400" dirty="0"/>
              <a:t>• C2PSA (Cross-Stage Partial with Spatial Attention) preserves high-frequency edge gradients.</a:t>
            </a:r>
          </a:p>
          <a:p>
            <a:pPr algn="just">
              <a:defRPr sz="1200"/>
            </a:pPr>
            <a:r>
              <a:rPr lang="en-US" sz="1400" dirty="0"/>
              <a:t>• Suppresses background anatomical noise across lung and pelvis regions.</a:t>
            </a:r>
          </a:p>
          <a:p>
            <a:pPr algn="just">
              <a:defRPr sz="1200"/>
            </a:pPr>
            <a:r>
              <a:rPr lang="en-US" sz="1400" dirty="0"/>
              <a:t>• Secures 41.40% AP on minute foraminal stenosis.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52545" y="1621614"/>
            <a:ext cx="3273552" cy="327957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07993" y="1740486"/>
            <a:ext cx="296265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7645CF"/>
                </a:solidFill>
              </a:rPr>
              <a:t>Neck: </a:t>
            </a:r>
            <a:r>
              <a:rPr sz="1600" b="1" i="0" dirty="0" err="1">
                <a:solidFill>
                  <a:srgbClr val="7645CF"/>
                </a:solidFill>
              </a:rPr>
              <a:t>PANet</a:t>
            </a:r>
            <a:r>
              <a:rPr sz="1600" b="1" i="0" dirty="0">
                <a:solidFill>
                  <a:srgbClr val="7645CF"/>
                </a:solidFill>
              </a:rPr>
              <a:t> feature fusion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3" y="2133678"/>
            <a:ext cx="2962656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defRPr sz="1200"/>
            </a:pPr>
            <a:r>
              <a:rPr lang="en-US" sz="1400" dirty="0"/>
              <a:t>• Path Aggregation Network with bidirectional feature pyramid flow.</a:t>
            </a:r>
          </a:p>
          <a:p>
            <a:pPr algn="just">
              <a:defRPr sz="1200"/>
            </a:pPr>
            <a:r>
              <a:rPr lang="en-US" sz="1400" dirty="0"/>
              <a:t>• Fuses shallow high-resolution spatial maps with deep semantic maps (N3 to N5).</a:t>
            </a:r>
          </a:p>
          <a:p>
            <a:pPr algn="just">
              <a:defRPr sz="1200"/>
            </a:pPr>
            <a:r>
              <a:rPr lang="en-US" sz="1400" dirty="0"/>
              <a:t>• Preserves fine-grained pathology signals (&lt;0.25% FOV, &lt;32×32 </a:t>
            </a:r>
            <a:r>
              <a:rPr lang="en-US" sz="1400" dirty="0" err="1"/>
              <a:t>px</a:t>
            </a:r>
            <a:r>
              <a:rPr lang="en-US" sz="1400" dirty="0"/>
              <a:t>).</a:t>
            </a:r>
          </a:p>
          <a:p>
            <a:pPr algn="just">
              <a:defRPr sz="1200"/>
            </a:pPr>
            <a:r>
              <a:rPr lang="en-US" sz="1400" dirty="0"/>
              <a:t>• Prevents small lesion coordinates from vanishing during successive pooling.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56448" y="1621614"/>
            <a:ext cx="3273552" cy="327957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11897" y="1740486"/>
            <a:ext cx="296265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7645CF"/>
                </a:solidFill>
              </a:rPr>
              <a:t>Head: multi-scale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7" y="2133529"/>
            <a:ext cx="2962656" cy="20313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defRPr sz="1200"/>
            </a:pPr>
            <a:r>
              <a:rPr lang="en-US" sz="1400" dirty="0"/>
              <a:t>• Triple-grid prediction heads:</a:t>
            </a:r>
          </a:p>
          <a:p>
            <a:pPr algn="just">
              <a:defRPr sz="1200"/>
            </a:pPr>
            <a:r>
              <a:rPr lang="en-US" sz="1400" dirty="0"/>
              <a:t> </a:t>
            </a:r>
            <a:r>
              <a:rPr lang="en-US" sz="1400" b="1" dirty="0"/>
              <a:t> -&gt;  </a:t>
            </a:r>
            <a:r>
              <a:rPr lang="en-US" sz="1400" dirty="0"/>
              <a:t>80×80: Dedicated to minute bone spurs and stenosis.</a:t>
            </a:r>
          </a:p>
          <a:p>
            <a:pPr algn="just">
              <a:defRPr sz="1200"/>
            </a:pPr>
            <a:r>
              <a:rPr lang="en-US" sz="1400" b="1" dirty="0"/>
              <a:t>-&gt;</a:t>
            </a:r>
            <a:r>
              <a:rPr lang="en-US" sz="1400" dirty="0"/>
              <a:t> 40×40: Mid-scale disc space abnormalities.</a:t>
            </a:r>
          </a:p>
          <a:p>
            <a:pPr algn="just">
              <a:defRPr sz="1200"/>
            </a:pPr>
            <a:r>
              <a:rPr lang="en-US" sz="1400" b="1" dirty="0"/>
              <a:t>-&gt;</a:t>
            </a:r>
            <a:r>
              <a:rPr lang="en-US" sz="1400" dirty="0"/>
              <a:t> 20×20: Macro-scale vertebral dislocation.</a:t>
            </a:r>
          </a:p>
          <a:p>
            <a:pPr algn="just">
              <a:defRPr sz="1200"/>
            </a:pPr>
            <a:r>
              <a:rPr lang="en-US" sz="1400" dirty="0"/>
              <a:t>• Filtered via decoupled Non-Maximum Suppression (NMS).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" y="6419088"/>
            <a:ext cx="11109960" cy="9144"/>
          </a:xfrm>
          <a:prstGeom prst="rect">
            <a:avLst/>
          </a:prstGeom>
          <a:solidFill>
            <a:srgbClr val="D3D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8503920" cy="2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 dirty="0">
                <a:solidFill>
                  <a:srgbClr val="626C78"/>
                </a:solidFill>
              </a:rPr>
              <a:t>MIRASOL • MICCAI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27080" y="6437376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12243A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384048"/>
            <a:ext cx="7735823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 dirty="0">
                <a:solidFill>
                  <a:srgbClr val="12243A"/>
                </a:solidFill>
              </a:rPr>
              <a:t>Multi-Scale Detection &amp; Small-Lesion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1"/>
            <a:ext cx="875267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i="0" dirty="0">
                <a:solidFill>
                  <a:srgbClr val="626C78"/>
                </a:solidFill>
              </a:rPr>
              <a:t>Why three detection resolutions are used</a:t>
            </a:r>
            <a:endParaRPr sz="1400" b="0" i="0" dirty="0">
              <a:solidFill>
                <a:srgbClr val="626C78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1481328"/>
            <a:ext cx="914400" cy="914400"/>
          </a:xfrm>
          <a:prstGeom prst="rect">
            <a:avLst/>
          </a:prstGeom>
          <a:solidFill>
            <a:srgbClr val="E4F1F5"/>
          </a:solidFill>
          <a:ln>
            <a:solidFill>
              <a:srgbClr val="1F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188720"/>
            <a:ext cx="100584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 dirty="0">
                <a:solidFill>
                  <a:srgbClr val="1F848B"/>
                </a:solidFill>
              </a:rPr>
              <a:t>N3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444128"/>
            <a:ext cx="13563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 dirty="0">
                <a:solidFill>
                  <a:srgbClr val="12243A"/>
                </a:solidFill>
              </a:rPr>
              <a:t>80 × 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628" y="2751344"/>
            <a:ext cx="1447849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 dirty="0">
                <a:solidFill>
                  <a:srgbClr val="626C78"/>
                </a:solidFill>
              </a:rPr>
              <a:t>fine spatial detail</a:t>
            </a:r>
          </a:p>
        </p:txBody>
      </p:sp>
      <p:cxnSp>
        <p:nvCxnSpPr>
          <p:cNvPr id="11" name="Connector 10"/>
          <p:cNvCxnSpPr>
            <a:cxnSpLocks/>
          </p:cNvCxnSpPr>
          <p:nvPr/>
        </p:nvCxnSpPr>
        <p:spPr>
          <a:xfrm>
            <a:off x="1990049" y="2134583"/>
            <a:ext cx="1027471" cy="0"/>
          </a:xfrm>
          <a:prstGeom prst="line">
            <a:avLst/>
          </a:prstGeom>
          <a:ln w="25400">
            <a:solidFill>
              <a:srgbClr val="1F8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154680" y="1471738"/>
            <a:ext cx="132588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4680" y="1211113"/>
            <a:ext cx="173736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1F848B"/>
                </a:solidFill>
              </a:rPr>
              <a:t>N4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0926" y="2864529"/>
            <a:ext cx="1506794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 dirty="0">
                <a:solidFill>
                  <a:srgbClr val="12243A"/>
                </a:solidFill>
              </a:rPr>
              <a:t>40 × 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5643" y="3202395"/>
            <a:ext cx="1506794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 dirty="0">
                <a:solidFill>
                  <a:srgbClr val="626C78"/>
                </a:solidFill>
              </a:rPr>
              <a:t>mid-scale context</a:t>
            </a:r>
          </a:p>
        </p:txBody>
      </p:sp>
      <p:cxnSp>
        <p:nvCxnSpPr>
          <p:cNvPr id="16" name="Connector 15"/>
          <p:cNvCxnSpPr>
            <a:cxnSpLocks/>
          </p:cNvCxnSpPr>
          <p:nvPr/>
        </p:nvCxnSpPr>
        <p:spPr>
          <a:xfrm>
            <a:off x="4585716" y="2134583"/>
            <a:ext cx="1472184" cy="0"/>
          </a:xfrm>
          <a:prstGeom prst="line">
            <a:avLst/>
          </a:prstGeom>
          <a:ln w="25400">
            <a:solidFill>
              <a:srgbClr val="1F8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163056" y="1481328"/>
            <a:ext cx="1737360" cy="1737360"/>
          </a:xfrm>
          <a:prstGeom prst="rect">
            <a:avLst/>
          </a:prstGeom>
          <a:solidFill>
            <a:srgbClr val="F8F3E9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135821" y="1188721"/>
            <a:ext cx="1764595" cy="2834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1F848B"/>
                </a:solidFill>
              </a:rPr>
              <a:t>N5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6806" y="3218688"/>
            <a:ext cx="1332517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 dirty="0">
                <a:solidFill>
                  <a:srgbClr val="12243A"/>
                </a:solidFill>
              </a:rPr>
              <a:t>20 ×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4907" y="3498247"/>
            <a:ext cx="1715509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 dirty="0">
                <a:solidFill>
                  <a:srgbClr val="626C78"/>
                </a:solidFill>
              </a:rPr>
              <a:t>coarse 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114800"/>
            <a:ext cx="2635438" cy="130758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" y="4233672"/>
            <a:ext cx="1840894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12243A"/>
                </a:solidFill>
              </a:rPr>
              <a:t>N3 — 80×80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705" y="4626864"/>
            <a:ext cx="2614101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/>
            <a:r>
              <a:rPr sz="1400" b="0" i="0" dirty="0">
                <a:solidFill>
                  <a:srgbClr val="2B323B"/>
                </a:solidFill>
              </a:rPr>
              <a:t>More spatial cells represent minute</a:t>
            </a:r>
            <a:r>
              <a:rPr lang="en-US" sz="1400" dirty="0">
                <a:solidFill>
                  <a:srgbClr val="2B323B"/>
                </a:solidFill>
              </a:rPr>
              <a:t> </a:t>
            </a:r>
            <a:r>
              <a:rPr sz="1400" b="0" i="0" dirty="0">
                <a:solidFill>
                  <a:srgbClr val="2B323B"/>
                </a:solidFill>
              </a:rPr>
              <a:t>lesions with less down</a:t>
            </a:r>
            <a:r>
              <a:rPr lang="en-US" sz="1400" b="0" i="0" dirty="0">
                <a:solidFill>
                  <a:srgbClr val="2B323B"/>
                </a:solidFill>
              </a:rPr>
              <a:t> </a:t>
            </a:r>
            <a:r>
              <a:rPr sz="1400" b="0" i="0" dirty="0">
                <a:solidFill>
                  <a:srgbClr val="2B323B"/>
                </a:solidFill>
              </a:rPr>
              <a:t>sampling.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42518" y="4114800"/>
            <a:ext cx="263347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30168" y="4233672"/>
            <a:ext cx="179723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12243A"/>
                </a:solidFill>
              </a:rPr>
              <a:t>N4 — 40×40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19948" y="4626865"/>
            <a:ext cx="243840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/>
            <a:r>
              <a:rPr sz="1400" b="0" i="0" dirty="0">
                <a:solidFill>
                  <a:srgbClr val="2B323B"/>
                </a:solidFill>
              </a:rPr>
              <a:t>Adds intermediate context for distinguishing small pathology from adjacent anatomy.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7081" y="4123945"/>
            <a:ext cx="263347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2530" y="4242817"/>
            <a:ext cx="2082373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12243A"/>
                </a:solidFill>
              </a:rPr>
              <a:t>N5 — 20×20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2530" y="4636009"/>
            <a:ext cx="2279018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/>
            <a:r>
              <a:rPr sz="1400" b="0" i="0" dirty="0">
                <a:solidFill>
                  <a:srgbClr val="2B323B"/>
                </a:solidFill>
              </a:rPr>
              <a:t>Provides coarse anatomical context for larger abnormalities.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660136"/>
            <a:ext cx="10561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 dirty="0">
                <a:solidFill>
                  <a:srgbClr val="12243A"/>
                </a:solidFill>
              </a:rPr>
              <a:t>Together, the hierarchy balances local precision and broader spinal context.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" y="6419088"/>
            <a:ext cx="11109960" cy="9144"/>
          </a:xfrm>
          <a:prstGeom prst="rect">
            <a:avLst/>
          </a:prstGeom>
          <a:solidFill>
            <a:srgbClr val="D3D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8503920" cy="2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 dirty="0">
                <a:solidFill>
                  <a:srgbClr val="626C78"/>
                </a:solidFill>
              </a:rPr>
              <a:t> MIRASOL • MICCAI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27080" y="6437376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12243A"/>
                </a:solidFill>
              </a:rPr>
              <a:t>15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FFE342EC-2086-9BD5-C442-5A62083D3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286" y="1239125"/>
            <a:ext cx="1649274" cy="214884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D9569DA-27C3-3FDD-4B92-115BE17CC0E2}"/>
              </a:ext>
            </a:extLst>
          </p:cNvPr>
          <p:cNvSpPr txBox="1"/>
          <p:nvPr/>
        </p:nvSpPr>
        <p:spPr>
          <a:xfrm>
            <a:off x="9463031" y="3498247"/>
            <a:ext cx="1715509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600" b="1" i="0" dirty="0"/>
              <a:t>Fig: Mid-Scale or Minute lesions</a:t>
            </a:r>
            <a:endParaRPr sz="1600" b="1" i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384048"/>
            <a:ext cx="110642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 dirty="0">
                <a:solidFill>
                  <a:srgbClr val="12243A"/>
                </a:solidFill>
              </a:rPr>
              <a:t>Loss Design &amp;</a:t>
            </a:r>
            <a:r>
              <a:rPr lang="en-US" sz="2800" b="1" i="0" dirty="0">
                <a:solidFill>
                  <a:srgbClr val="12243A"/>
                </a:solidFill>
              </a:rPr>
              <a:t> </a:t>
            </a:r>
            <a:r>
              <a:rPr lang="en-US" sz="2800" b="1" dirty="0"/>
              <a:t>Targeted Copy-Paste Augmentation</a:t>
            </a:r>
            <a:endParaRPr sz="2800" b="1" i="0" dirty="0">
              <a:solidFill>
                <a:srgbClr val="12243A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 dirty="0">
                <a:solidFill>
                  <a:srgbClr val="626C78"/>
                </a:solidFill>
              </a:rPr>
              <a:t>Focal loss + copy-paste augmentation target difficult and rare foreground instances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6419088"/>
            <a:ext cx="11109960" cy="9144"/>
          </a:xfrm>
          <a:prstGeom prst="rect">
            <a:avLst/>
          </a:prstGeom>
          <a:solidFill>
            <a:srgbClr val="D3D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6455664"/>
            <a:ext cx="8503920" cy="2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 dirty="0">
                <a:solidFill>
                  <a:srgbClr val="626C78"/>
                </a:solidFill>
              </a:rPr>
              <a:t>MIRASOL • MICCAI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27080" y="6437376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12243A"/>
                </a:solidFill>
              </a:rPr>
              <a:t>16</a:t>
            </a:r>
          </a:p>
        </p:txBody>
      </p:sp>
      <p:sp>
        <p:nvSpPr>
          <p:cNvPr id="35" name="Rounded Rectangle 4">
            <a:extLst>
              <a:ext uri="{FF2B5EF4-FFF2-40B4-BE49-F238E27FC236}">
                <a16:creationId xmlns:a16="http://schemas.microsoft.com/office/drawing/2014/main" id="{26328054-6D76-6135-D827-188C91EF07A8}"/>
              </a:ext>
            </a:extLst>
          </p:cNvPr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AF0625D-9738-5910-5DCA-2902EA856A2A}"/>
                  </a:ext>
                </a:extLst>
              </p:cNvPr>
              <p:cNvSpPr txBox="1"/>
              <p:nvPr/>
            </p:nvSpPr>
            <p:spPr>
              <a:xfrm>
                <a:off x="944880" y="3806998"/>
                <a:ext cx="4754880" cy="2085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defRPr sz="1200"/>
                </a:pPr>
                <a:r>
                  <a:rPr lang="en-US" sz="1600" dirty="0"/>
                  <a:t>• Standard COCO loss weights: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600" b="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𝑏𝑜𝑥</m:t>
                        </m:r>
                      </m:sub>
                    </m:sSub>
                    <m:r>
                      <a:rPr lang="en-US" sz="16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= 7.5,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600" b="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𝑐𝑙𝑠</m:t>
                        </m:r>
                      </m:sub>
                    </m:sSub>
                  </m:oMath>
                </a14:m>
                <a:r>
                  <a:rPr lang="en-US" sz="1600" dirty="0"/>
                  <a:t> = 0.5,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600" b="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𝑑𝑓𝑙</m:t>
                        </m:r>
                      </m:sub>
                    </m:sSub>
                    <m:r>
                      <a:rPr lang="en-US" sz="16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= 1.5.</a:t>
                </a:r>
              </a:p>
              <a:p>
                <a:pPr algn="just">
                  <a:defRPr sz="1200"/>
                </a:pPr>
                <a:r>
                  <a:rPr sz="1600" dirty="0"/>
                  <a:t>• Empirically tuned focal parameters: γ = 2.0, α_t = 0.25.</a:t>
                </a:r>
              </a:p>
              <a:p>
                <a:pPr algn="just">
                  <a:defRPr sz="1200"/>
                </a:pPr>
                <a:r>
                  <a:rPr sz="1600" dirty="0"/>
                  <a:t>• Down-weights easy, background negative samples and majority osteophytes.</a:t>
                </a:r>
              </a:p>
              <a:p>
                <a:pPr algn="just">
                  <a:defRPr sz="1200"/>
                </a:pPr>
                <a:r>
                  <a:rPr sz="1600" dirty="0"/>
                  <a:t>• Focuses back-propagation gradients on hard-to-detect rare minority classes.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AF0625D-9738-5910-5DCA-2902EA856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880" y="3806998"/>
                <a:ext cx="4754880" cy="2085443"/>
              </a:xfrm>
              <a:prstGeom prst="rect">
                <a:avLst/>
              </a:prstGeom>
              <a:blipFill>
                <a:blip r:embed="rId2"/>
                <a:stretch>
                  <a:fillRect l="-641" t="-877" r="-641" b="-2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ounded Rectangle 6">
            <a:extLst>
              <a:ext uri="{FF2B5EF4-FFF2-40B4-BE49-F238E27FC236}">
                <a16:creationId xmlns:a16="http://schemas.microsoft.com/office/drawing/2014/main" id="{947AD0F0-0FB6-F949-A564-23E61BCEA438}"/>
              </a:ext>
            </a:extLst>
          </p:cNvPr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8">
            <a:extLst>
              <a:ext uri="{FF2B5EF4-FFF2-40B4-BE49-F238E27FC236}">
                <a16:creationId xmlns:a16="http://schemas.microsoft.com/office/drawing/2014/main" id="{74683669-52AF-4D13-5260-EF89D9ED09BC}"/>
              </a:ext>
            </a:extLst>
          </p:cNvPr>
          <p:cNvSpPr/>
          <p:nvPr/>
        </p:nvSpPr>
        <p:spPr>
          <a:xfrm>
            <a:off x="6583680" y="237744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6EF8E00-5AC2-8FE7-19C3-B7B6401C5182}"/>
              </a:ext>
            </a:extLst>
          </p:cNvPr>
          <p:cNvSpPr txBox="1"/>
          <p:nvPr/>
        </p:nvSpPr>
        <p:spPr>
          <a:xfrm>
            <a:off x="6720840" y="2487168"/>
            <a:ext cx="1828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Calibri"/>
              </a:defRPr>
            </a:pPr>
            <a:r>
              <a:rPr dirty="0"/>
              <a:t>40.10%</a:t>
            </a:r>
          </a:p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With Augmentation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rPr sz="1400" dirty="0"/>
              <a:t>Full pipeline</a:t>
            </a:r>
          </a:p>
        </p:txBody>
      </p:sp>
      <p:sp>
        <p:nvSpPr>
          <p:cNvPr id="41" name="Rounded Rectangle 10">
            <a:extLst>
              <a:ext uri="{FF2B5EF4-FFF2-40B4-BE49-F238E27FC236}">
                <a16:creationId xmlns:a16="http://schemas.microsoft.com/office/drawing/2014/main" id="{817B745B-FEC6-F6BF-C161-662CC8BE2250}"/>
              </a:ext>
            </a:extLst>
          </p:cNvPr>
          <p:cNvSpPr/>
          <p:nvPr/>
        </p:nvSpPr>
        <p:spPr>
          <a:xfrm>
            <a:off x="8961120" y="237744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DF63EA-D69E-1CD0-5A83-D3CA50B77DCB}"/>
              </a:ext>
            </a:extLst>
          </p:cNvPr>
          <p:cNvSpPr txBox="1"/>
          <p:nvPr/>
        </p:nvSpPr>
        <p:spPr>
          <a:xfrm>
            <a:off x="9098279" y="2487168"/>
            <a:ext cx="19036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9E0B"/>
                </a:solidFill>
                <a:latin typeface="Calibri"/>
              </a:defRPr>
            </a:pPr>
            <a:r>
              <a:rPr dirty="0"/>
              <a:t>37.70%</a:t>
            </a:r>
          </a:p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Without Augmentation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rPr sz="1400" dirty="0"/>
              <a:t>Baseline ablation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7580E4A-7A54-98D4-14FB-328FEB4F78B2}"/>
              </a:ext>
            </a:extLst>
          </p:cNvPr>
          <p:cNvSpPr txBox="1"/>
          <p:nvPr/>
        </p:nvSpPr>
        <p:spPr>
          <a:xfrm>
            <a:off x="6217920" y="3931920"/>
            <a:ext cx="52120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200">
                <a:solidFill>
                  <a:srgbClr val="0F172A"/>
                </a:solidFill>
              </a:defRPr>
            </a:pPr>
            <a:r>
              <a:rPr sz="1600" dirty="0"/>
              <a:t>Empirical Validation (+2.40% mAP@0.5 Gain):</a:t>
            </a:r>
            <a:br>
              <a:rPr sz="1600" dirty="0"/>
            </a:br>
            <a:r>
              <a:rPr sz="1600" dirty="0"/>
              <a:t>• Ablating copy-paste drops detection accuracy by 2.40%.</a:t>
            </a:r>
            <a:br>
              <a:rPr sz="1600" dirty="0"/>
            </a:br>
            <a:r>
              <a:rPr sz="1600" dirty="0"/>
              <a:t>• Reinforces rare pathologies (vertebral collapse, implants) during training.</a:t>
            </a:r>
            <a:br>
              <a:rPr sz="1600" dirty="0"/>
            </a:br>
            <a:r>
              <a:rPr sz="1600" dirty="0"/>
              <a:t>• Synthesizes realistic pathological co-occurrences without manual radiograph acquisition.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C9C2099-3DEA-5E45-DDEE-D765F0551709}"/>
                  </a:ext>
                </a:extLst>
              </p:cNvPr>
              <p:cNvSpPr txBox="1"/>
              <p:nvPr/>
            </p:nvSpPr>
            <p:spPr>
              <a:xfrm>
                <a:off x="1190025" y="2416925"/>
                <a:ext cx="3199530" cy="3018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𝑭𝑳</m:t>
                        </m:r>
                      </m:e>
                      <m:sub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  <m:sub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l-G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  <m:sub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l-GR" b="1" i="1">
                            <a:latin typeface="Cambria Math" panose="02040503050406030204" pitchFamily="18" charset="0"/>
                          </a:rPr>
                          <m:t>𝜸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𝒍𝒐𝒈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C9C2099-3DEA-5E45-DDEE-D765F0551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0025" y="2416925"/>
                <a:ext cx="3199530" cy="301878"/>
              </a:xfrm>
              <a:prstGeom prst="rect">
                <a:avLst/>
              </a:prstGeom>
              <a:blipFill>
                <a:blip r:embed="rId3"/>
                <a:stretch>
                  <a:fillRect l="-2476" t="-2000" r="-571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FD60139-941C-9C24-CBAF-7DC5C4041760}"/>
                  </a:ext>
                </a:extLst>
              </p:cNvPr>
              <p:cNvSpPr txBox="1"/>
              <p:nvPr/>
            </p:nvSpPr>
            <p:spPr>
              <a:xfrm>
                <a:off x="1070325" y="2910743"/>
                <a:ext cx="4503989" cy="303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𝒕𝒐𝒕𝒂𝒍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l-GR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1" i="1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𝒃𝒐𝒙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𝑪𝑰𝒐𝑼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l-GR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1" i="1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𝒄𝒍𝒔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𝑭𝒐𝒄𝒂𝒍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l-GR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1" i="1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𝒅𝒇𝒍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𝑫𝑭𝑳</m:t>
                          </m:r>
                        </m:sub>
                      </m:sSub>
                    </m:oMath>
                  </m:oMathPara>
                </a14:m>
                <a:endParaRPr lang="en-US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FD60139-941C-9C24-CBAF-7DC5C4041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325" y="2910743"/>
                <a:ext cx="4503989" cy="303225"/>
              </a:xfrm>
              <a:prstGeom prst="rect">
                <a:avLst/>
              </a:prstGeom>
              <a:blipFill>
                <a:blip r:embed="rId4"/>
                <a:stretch>
                  <a:fillRect l="-678" r="-136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 38">
            <a:extLst>
              <a:ext uri="{FF2B5EF4-FFF2-40B4-BE49-F238E27FC236}">
                <a16:creationId xmlns:a16="http://schemas.microsoft.com/office/drawing/2014/main" id="{552088F4-7C40-1B37-4A41-197E20420C9E}"/>
              </a:ext>
            </a:extLst>
          </p:cNvPr>
          <p:cNvSpPr/>
          <p:nvPr/>
        </p:nvSpPr>
        <p:spPr>
          <a:xfrm>
            <a:off x="944880" y="1669530"/>
            <a:ext cx="4629434" cy="54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645C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Composite Objective &amp; Focal Formulation </a:t>
            </a:r>
          </a:p>
        </p:txBody>
      </p:sp>
      <p:sp>
        <p:nvSpPr>
          <p:cNvPr id="48" name="Text 38">
            <a:extLst>
              <a:ext uri="{FF2B5EF4-FFF2-40B4-BE49-F238E27FC236}">
                <a16:creationId xmlns:a16="http://schemas.microsoft.com/office/drawing/2014/main" id="{7E4AF934-262E-9535-D3FC-1709AAA24D0E}"/>
              </a:ext>
            </a:extLst>
          </p:cNvPr>
          <p:cNvSpPr/>
          <p:nvPr/>
        </p:nvSpPr>
        <p:spPr>
          <a:xfrm>
            <a:off x="6646403" y="1669530"/>
            <a:ext cx="4629434" cy="54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20% Copy-Paste Augmentation Ablation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 dirty="0">
                <a:solidFill>
                  <a:srgbClr val="12243A"/>
                </a:solidFill>
              </a:rPr>
              <a:t>Experimental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 dirty="0">
                <a:solidFill>
                  <a:srgbClr val="626C78"/>
                </a:solidFill>
              </a:rPr>
              <a:t>Implementation and evaluation protocol reported by the authors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604823"/>
              </p:ext>
            </p:extLst>
          </p:nvPr>
        </p:nvGraphicFramePr>
        <p:xfrm>
          <a:off x="621792" y="1280160"/>
          <a:ext cx="6172200" cy="4480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/>
                        <a:t>Item</a:t>
                      </a:r>
                    </a:p>
                  </a:txBody>
                  <a:tcPr marL="22860" marR="22860" marT="9144" marB="9144"/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/>
                        <a:t>Reported setting</a:t>
                      </a:r>
                    </a:p>
                  </a:txBody>
                  <a:tcPr marL="22860" marR="22860" marT="9144" marB="914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 dirty="0"/>
                        <a:t>Framework</a:t>
                      </a:r>
                    </a:p>
                  </a:txBody>
                  <a:tcPr marL="22860" marR="22860" marT="9144" marB="9144"/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/>
                        <a:t>PyTorch 2.0.1</a:t>
                      </a:r>
                    </a:p>
                  </a:txBody>
                  <a:tcPr marL="22860" marR="22860" marT="9144" marB="914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 dirty="0"/>
                        <a:t>GPU</a:t>
                      </a:r>
                    </a:p>
                  </a:txBody>
                  <a:tcPr marL="22860" marR="22860" marT="9144" marB="9144"/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/>
                        <a:t>NVIDIA RTX 3050 • 8 GB memory</a:t>
                      </a:r>
                    </a:p>
                  </a:txBody>
                  <a:tcPr marL="22860" marR="22860" marT="9144" marB="914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/>
                        <a:t>Cross-validation</a:t>
                      </a:r>
                    </a:p>
                  </a:txBody>
                  <a:tcPr marL="22860" marR="22860" marT="9144" marB="9144"/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/>
                        <a:t>5-fold</a:t>
                      </a:r>
                    </a:p>
                  </a:txBody>
                  <a:tcPr marL="22860" marR="22860" marT="9144" marB="914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/>
                        <a:t>Reproducibility</a:t>
                      </a:r>
                    </a:p>
                  </a:txBody>
                  <a:tcPr marL="22860" marR="22860" marT="9144" marB="9144"/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/>
                        <a:t>Deterministic algorithms</a:t>
                      </a:r>
                    </a:p>
                  </a:txBody>
                  <a:tcPr marL="22860" marR="22860" marT="9144" marB="914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/>
                        <a:t>Random initialization</a:t>
                      </a:r>
                    </a:p>
                  </a:txBody>
                  <a:tcPr marL="22860" marR="22860" marT="9144" marB="9144"/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/>
                        <a:t>Seed = 42</a:t>
                      </a:r>
                    </a:p>
                  </a:txBody>
                  <a:tcPr marL="22860" marR="22860" marT="9144" marB="914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/>
                        <a:t>Classification metrics</a:t>
                      </a:r>
                    </a:p>
                  </a:txBody>
                  <a:tcPr marL="22860" marR="22860" marT="9144" marB="9144"/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 dirty="0"/>
                        <a:t>AUROC • F1 • Sensitivity • Specificity</a:t>
                      </a:r>
                    </a:p>
                  </a:txBody>
                  <a:tcPr marL="22860" marR="22860" marT="9144" marB="914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/>
                        <a:t>Detection metric</a:t>
                      </a:r>
                    </a:p>
                  </a:txBody>
                  <a:tcPr marL="22860" marR="22860" marT="9144" marB="9144"/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 dirty="0"/>
                        <a:t>AP at </a:t>
                      </a:r>
                      <a:r>
                        <a:rPr sz="1800" dirty="0" err="1"/>
                        <a:t>IoU</a:t>
                      </a:r>
                      <a:r>
                        <a:rPr sz="1800" dirty="0"/>
                        <a:t> = 0.5 • mAP@0.5</a:t>
                      </a:r>
                    </a:p>
                  </a:txBody>
                  <a:tcPr marL="22860" marR="22860" marT="9144" marB="914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086600" y="1325880"/>
            <a:ext cx="4160520" cy="12984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42048" y="1444752"/>
            <a:ext cx="3849624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12243A"/>
                </a:solidFill>
              </a:rPr>
              <a:t>Image-level 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2048" y="1837943"/>
            <a:ext cx="3849624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t">
            <a:spAutoFit/>
          </a:bodyPr>
          <a:lstStyle/>
          <a:p>
            <a:pPr algn="just"/>
            <a:r>
              <a:rPr sz="1600" b="0" i="0" dirty="0">
                <a:solidFill>
                  <a:srgbClr val="2B323B"/>
                </a:solidFill>
              </a:rPr>
              <a:t>Binary abnormality screening evaluates whether the gate identifies studies that require further analysis.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2862072"/>
            <a:ext cx="4160520" cy="12984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42048" y="2980944"/>
            <a:ext cx="3849624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12243A"/>
                </a:solidFill>
              </a:rPr>
              <a:t>Lesion-level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2048" y="3374136"/>
            <a:ext cx="384962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/>
            <a:r>
              <a:rPr sz="1600" b="0" i="0" dirty="0">
                <a:solidFill>
                  <a:srgbClr val="2B323B"/>
                </a:solidFill>
              </a:rPr>
              <a:t>The detector evaluates localization across the seven lesion categories at </a:t>
            </a:r>
            <a:r>
              <a:rPr sz="1600" b="0" i="0" dirty="0" err="1">
                <a:solidFill>
                  <a:srgbClr val="2B323B"/>
                </a:solidFill>
              </a:rPr>
              <a:t>IoU</a:t>
            </a:r>
            <a:r>
              <a:rPr sz="1600" b="0" i="0" dirty="0">
                <a:solidFill>
                  <a:srgbClr val="2B323B"/>
                </a:solidFill>
              </a:rPr>
              <a:t> 0.5.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4398264"/>
            <a:ext cx="4160520" cy="12984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F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42048" y="4517136"/>
            <a:ext cx="3849624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12243A"/>
                </a:solidFill>
              </a:rPr>
              <a:t>Reproducibility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2048" y="4910327"/>
            <a:ext cx="384962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/>
            <a:r>
              <a:rPr lang="en-US" sz="1600" b="0" i="0" dirty="0">
                <a:solidFill>
                  <a:srgbClr val="2B323B"/>
                </a:solidFill>
              </a:rPr>
              <a:t>We</a:t>
            </a:r>
            <a:r>
              <a:rPr sz="1600" b="0" i="0" dirty="0">
                <a:solidFill>
                  <a:srgbClr val="2B323B"/>
                </a:solidFill>
              </a:rPr>
              <a:t> reports deterministic algorithms and a constant initialization seed.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6419088"/>
            <a:ext cx="11109960" cy="9144"/>
          </a:xfrm>
          <a:prstGeom prst="rect">
            <a:avLst/>
          </a:prstGeom>
          <a:solidFill>
            <a:srgbClr val="D3D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8503920" cy="2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 dirty="0">
                <a:solidFill>
                  <a:srgbClr val="626C78"/>
                </a:solidFill>
              </a:rPr>
              <a:t>MIRASOL • MICCAI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37376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12243A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63E38-F26A-C186-76E1-9DBB2EFB4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D3A1ADB-AC85-E9D6-38A7-BF1570B9BCF2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7950AE-D1DC-322D-5D69-2D6D01803BC0}"/>
              </a:ext>
            </a:extLst>
          </p:cNvPr>
          <p:cNvSpPr txBox="1"/>
          <p:nvPr/>
        </p:nvSpPr>
        <p:spPr>
          <a:xfrm>
            <a:off x="548640" y="263497"/>
            <a:ext cx="11661343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rPr lang="en-US" sz="3600" dirty="0"/>
              <a:t>Classification Results: </a:t>
            </a:r>
            <a:r>
              <a:rPr lang="en-US" sz="3600" dirty="0" err="1"/>
              <a:t>DERNet</a:t>
            </a:r>
            <a:r>
              <a:rPr lang="en-US" sz="3600" dirty="0"/>
              <a:t> vs. Baselines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53C4A6-B5EF-F511-1666-CCB462254951}"/>
              </a:ext>
            </a:extLst>
          </p:cNvPr>
          <p:cNvSpPr txBox="1"/>
          <p:nvPr/>
        </p:nvSpPr>
        <p:spPr>
          <a:xfrm>
            <a:off x="548640" y="914400"/>
            <a:ext cx="7296912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 dirty="0" err="1">
                <a:solidFill>
                  <a:srgbClr val="626C78"/>
                </a:solidFill>
              </a:rPr>
              <a:t>DERNet</a:t>
            </a:r>
            <a:r>
              <a:rPr sz="1400" b="0" i="0" dirty="0">
                <a:solidFill>
                  <a:srgbClr val="626C78"/>
                </a:solidFill>
              </a:rPr>
              <a:t> vs. individual backbones and established baselines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4B8BE47-3435-FBE3-C7BD-9230C2737247}"/>
              </a:ext>
            </a:extLst>
          </p:cNvPr>
          <p:cNvGraphicFramePr>
            <a:graphicFrameLocks noGrp="1"/>
          </p:cNvGraphicFramePr>
          <p:nvPr/>
        </p:nvGraphicFramePr>
        <p:xfrm>
          <a:off x="420624" y="1746290"/>
          <a:ext cx="7406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sz="114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/>
                        <a:t>Method</a:t>
                      </a:r>
                    </a:p>
                  </a:txBody>
                  <a:tcPr marL="22860" marR="22860" marT="9144" marB="9144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4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/>
                        <a:t>AUROC (%)</a:t>
                      </a:r>
                    </a:p>
                  </a:txBody>
                  <a:tcPr marL="22860" marR="22860" marT="9144" marB="9144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4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/>
                        <a:t>F1 (%)</a:t>
                      </a:r>
                    </a:p>
                  </a:txBody>
                  <a:tcPr marL="22860" marR="22860" marT="9144" marB="9144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4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/>
                        <a:t>Sens. (%)</a:t>
                      </a:r>
                    </a:p>
                  </a:txBody>
                  <a:tcPr marL="22860" marR="22860" marT="9144" marB="9144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4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/>
                        <a:t>Spec. (%)</a:t>
                      </a:r>
                    </a:p>
                  </a:txBody>
                  <a:tcPr marL="22860" marR="22860" marT="9144" marB="9144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14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 dirty="0"/>
                        <a:t>EfficientNetV2-S</a:t>
                      </a:r>
                    </a:p>
                  </a:txBody>
                  <a:tcPr marL="22860" marR="22860" marT="9144" marB="914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4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/>
                        <a:t>89.44</a:t>
                      </a:r>
                    </a:p>
                  </a:txBody>
                  <a:tcPr marL="22860" marR="22860" marT="9144" marB="914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4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 dirty="0"/>
                        <a:t>79.34</a:t>
                      </a:r>
                    </a:p>
                  </a:txBody>
                  <a:tcPr marL="22860" marR="22860" marT="9144" marB="914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4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 dirty="0"/>
                        <a:t>70.80</a:t>
                      </a:r>
                    </a:p>
                  </a:txBody>
                  <a:tcPr marL="22860" marR="22860" marT="9144" marB="914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4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 dirty="0"/>
                        <a:t>91.12</a:t>
                      </a:r>
                    </a:p>
                  </a:txBody>
                  <a:tcPr marL="22860" marR="22860" marT="9144" marB="9144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14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 dirty="0"/>
                        <a:t>ResNet50</a:t>
                      </a:r>
                    </a:p>
                  </a:txBody>
                  <a:tcPr marL="22860" marR="2286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4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/>
                        <a:t>88.88</a:t>
                      </a:r>
                    </a:p>
                  </a:txBody>
                  <a:tcPr marL="22860" marR="2286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4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 dirty="0"/>
                        <a:t>80.15</a:t>
                      </a:r>
                    </a:p>
                  </a:txBody>
                  <a:tcPr marL="22860" marR="2286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4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 dirty="0"/>
                        <a:t>82.72</a:t>
                      </a:r>
                    </a:p>
                  </a:txBody>
                  <a:tcPr marL="22860" marR="2286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4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/>
                        <a:t>78.13</a:t>
                      </a:r>
                    </a:p>
                  </a:txBody>
                  <a:tcPr marL="22860" marR="22860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14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 dirty="0"/>
                        <a:t>DenseNet121</a:t>
                      </a:r>
                    </a:p>
                  </a:txBody>
                  <a:tcPr marL="22860" marR="22860" marT="9144" marB="914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4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/>
                        <a:t>86.93</a:t>
                      </a:r>
                    </a:p>
                  </a:txBody>
                  <a:tcPr marL="22860" marR="22860" marT="9144" marB="914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4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/>
                        <a:t>79.55</a:t>
                      </a:r>
                    </a:p>
                  </a:txBody>
                  <a:tcPr marL="22860" marR="22860" marT="9144" marB="914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4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 dirty="0"/>
                        <a:t>80.39</a:t>
                      </a:r>
                    </a:p>
                  </a:txBody>
                  <a:tcPr marL="22860" marR="22860" marT="9144" marB="914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4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 dirty="0"/>
                        <a:t>79.32</a:t>
                      </a:r>
                    </a:p>
                  </a:txBody>
                  <a:tcPr marL="22860" marR="22860" marT="9144" marB="9144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14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/>
                        <a:t>VinDr Ensemble</a:t>
                      </a:r>
                    </a:p>
                  </a:txBody>
                  <a:tcPr marL="22860" marR="2286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4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/>
                        <a:t>88.61</a:t>
                      </a:r>
                    </a:p>
                  </a:txBody>
                  <a:tcPr marL="22860" marR="2286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4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/>
                        <a:t>81.06</a:t>
                      </a:r>
                    </a:p>
                  </a:txBody>
                  <a:tcPr marL="22860" marR="2286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4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/>
                        <a:t>83.07</a:t>
                      </a:r>
                    </a:p>
                  </a:txBody>
                  <a:tcPr marL="22860" marR="2286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4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/>
                        <a:t>79.32</a:t>
                      </a:r>
                    </a:p>
                  </a:txBody>
                  <a:tcPr marL="22860" marR="22860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14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 dirty="0" err="1"/>
                        <a:t>HealNNET</a:t>
                      </a:r>
                      <a:endParaRPr sz="1800" dirty="0"/>
                    </a:p>
                  </a:txBody>
                  <a:tcPr marL="22860" marR="22860" marT="9144" marB="914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4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 dirty="0"/>
                        <a:t>88.84</a:t>
                      </a:r>
                    </a:p>
                  </a:txBody>
                  <a:tcPr marL="22860" marR="22860" marT="9144" marB="914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4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 dirty="0"/>
                        <a:t>81.20</a:t>
                      </a:r>
                    </a:p>
                  </a:txBody>
                  <a:tcPr marL="22860" marR="22860" marT="9144" marB="914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4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 dirty="0"/>
                        <a:t>–</a:t>
                      </a:r>
                    </a:p>
                  </a:txBody>
                  <a:tcPr marL="22860" marR="22860" marT="9144" marB="914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40" b="0">
                          <a:solidFill>
                            <a:srgbClr val="2B323B"/>
                          </a:solidFill>
                        </a:defRPr>
                      </a:pPr>
                      <a:r>
                        <a:rPr sz="1800" dirty="0"/>
                        <a:t>–</a:t>
                      </a:r>
                    </a:p>
                  </a:txBody>
                  <a:tcPr marL="22860" marR="22860" marT="9144" marB="9144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pPr algn="ctr">
                        <a:defRPr sz="1140" b="1">
                          <a:solidFill>
                            <a:srgbClr val="2B323B"/>
                          </a:solidFill>
                        </a:defRPr>
                      </a:pPr>
                      <a:r>
                        <a:rPr sz="1800" dirty="0" err="1"/>
                        <a:t>DERNet</a:t>
                      </a:r>
                      <a:endParaRPr sz="1800" dirty="0"/>
                    </a:p>
                  </a:txBody>
                  <a:tcPr marL="22860" marR="22860" marT="9144" marB="9144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40" b="1">
                          <a:solidFill>
                            <a:srgbClr val="2B323B"/>
                          </a:solidFill>
                        </a:defRPr>
                      </a:pPr>
                      <a:r>
                        <a:rPr sz="1800" dirty="0"/>
                        <a:t>91.03</a:t>
                      </a:r>
                    </a:p>
                  </a:txBody>
                  <a:tcPr marL="22860" marR="22860" marT="9144" marB="9144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40" b="1">
                          <a:solidFill>
                            <a:srgbClr val="2B323B"/>
                          </a:solidFill>
                        </a:defRPr>
                      </a:pPr>
                      <a:r>
                        <a:rPr sz="1800" dirty="0"/>
                        <a:t>83.09</a:t>
                      </a:r>
                    </a:p>
                  </a:txBody>
                  <a:tcPr marL="22860" marR="22860" marT="9144" marB="9144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40" b="1">
                          <a:solidFill>
                            <a:srgbClr val="2B323B"/>
                          </a:solidFill>
                        </a:defRPr>
                      </a:pPr>
                      <a:r>
                        <a:rPr sz="1800" dirty="0"/>
                        <a:t>84.91</a:t>
                      </a:r>
                    </a:p>
                  </a:txBody>
                  <a:tcPr marL="22860" marR="22860" marT="9144" marB="9144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40" b="1">
                          <a:solidFill>
                            <a:srgbClr val="2B323B"/>
                          </a:solidFill>
                        </a:defRPr>
                      </a:pPr>
                      <a:r>
                        <a:rPr sz="1800" dirty="0"/>
                        <a:t>81.68</a:t>
                      </a:r>
                    </a:p>
                  </a:txBody>
                  <a:tcPr marL="22860" marR="22860" marT="9144" marB="9144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77296F8-E3C4-7BB0-EAC0-E17FCDC7C287}"/>
              </a:ext>
            </a:extLst>
          </p:cNvPr>
          <p:cNvSpPr/>
          <p:nvPr/>
        </p:nvSpPr>
        <p:spPr>
          <a:xfrm>
            <a:off x="9875520" y="3392210"/>
            <a:ext cx="155448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0C60EB-3623-E3C6-C27F-77CE71B9E368}"/>
              </a:ext>
            </a:extLst>
          </p:cNvPr>
          <p:cNvSpPr txBox="1"/>
          <p:nvPr/>
        </p:nvSpPr>
        <p:spPr>
          <a:xfrm>
            <a:off x="9930384" y="3529370"/>
            <a:ext cx="144475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 dirty="0">
                <a:solidFill>
                  <a:srgbClr val="12243A"/>
                </a:solidFill>
              </a:rPr>
              <a:t>81.68%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5CAE35-B1D1-E72E-69F8-FFAAA0202BDD}"/>
              </a:ext>
            </a:extLst>
          </p:cNvPr>
          <p:cNvSpPr txBox="1"/>
          <p:nvPr/>
        </p:nvSpPr>
        <p:spPr>
          <a:xfrm>
            <a:off x="9966960" y="4105442"/>
            <a:ext cx="1371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 dirty="0"/>
              <a:t>Specificity</a:t>
            </a:r>
            <a:endParaRPr sz="1000" b="1" i="0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C2776A9-35A6-7AA8-F0CD-D6FE87D63C03}"/>
              </a:ext>
            </a:extLst>
          </p:cNvPr>
          <p:cNvSpPr/>
          <p:nvPr/>
        </p:nvSpPr>
        <p:spPr>
          <a:xfrm>
            <a:off x="8119872" y="4919258"/>
            <a:ext cx="3310128" cy="969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07C2C0-0CA6-11BD-65A3-3A0CF34B939D}"/>
              </a:ext>
            </a:extLst>
          </p:cNvPr>
          <p:cNvSpPr txBox="1"/>
          <p:nvPr/>
        </p:nvSpPr>
        <p:spPr>
          <a:xfrm>
            <a:off x="8275320" y="5038130"/>
            <a:ext cx="299923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12243A"/>
                </a:solidFill>
              </a:rPr>
              <a:t>Interpretation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16C5A0-6365-56DB-B915-8D3D26BA052E}"/>
              </a:ext>
            </a:extLst>
          </p:cNvPr>
          <p:cNvSpPr txBox="1"/>
          <p:nvPr/>
        </p:nvSpPr>
        <p:spPr>
          <a:xfrm>
            <a:off x="8275320" y="5372382"/>
            <a:ext cx="299923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/>
            <a:r>
              <a:rPr sz="1400" b="0" i="0" dirty="0">
                <a:solidFill>
                  <a:srgbClr val="2B323B"/>
                </a:solidFill>
              </a:rPr>
              <a:t>Weighted soft voting harmonizes different backbone biases.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174E7F4-7CFB-017D-082F-B22CA46FEB97}"/>
              </a:ext>
            </a:extLst>
          </p:cNvPr>
          <p:cNvSpPr/>
          <p:nvPr/>
        </p:nvSpPr>
        <p:spPr>
          <a:xfrm>
            <a:off x="530352" y="6419088"/>
            <a:ext cx="11109960" cy="9144"/>
          </a:xfrm>
          <a:prstGeom prst="rect">
            <a:avLst/>
          </a:prstGeom>
          <a:solidFill>
            <a:srgbClr val="D3D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EC95A0-2DC1-49C3-4C01-7AD18F207788}"/>
              </a:ext>
            </a:extLst>
          </p:cNvPr>
          <p:cNvSpPr txBox="1"/>
          <p:nvPr/>
        </p:nvSpPr>
        <p:spPr>
          <a:xfrm>
            <a:off x="548640" y="6455664"/>
            <a:ext cx="8503920" cy="2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 dirty="0">
                <a:solidFill>
                  <a:srgbClr val="626C78"/>
                </a:solidFill>
              </a:rPr>
              <a:t>MIRASOL • MICCAI 2026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96C457-492A-260F-65D1-95D0D1405FC4}"/>
              </a:ext>
            </a:extLst>
          </p:cNvPr>
          <p:cNvSpPr txBox="1"/>
          <p:nvPr/>
        </p:nvSpPr>
        <p:spPr>
          <a:xfrm>
            <a:off x="10927080" y="6437376"/>
            <a:ext cx="5029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 dirty="0">
                <a:solidFill>
                  <a:srgbClr val="12243A"/>
                </a:solidFill>
              </a:rPr>
              <a:t>1</a:t>
            </a:r>
            <a:r>
              <a:rPr lang="en-US" sz="800" b="1" i="0" dirty="0">
                <a:solidFill>
                  <a:srgbClr val="12243A"/>
                </a:solidFill>
              </a:rPr>
              <a:t>8</a:t>
            </a:r>
          </a:p>
        </p:txBody>
      </p:sp>
      <p:sp>
        <p:nvSpPr>
          <p:cNvPr id="27" name="Rounded Rectangle 10">
            <a:extLst>
              <a:ext uri="{FF2B5EF4-FFF2-40B4-BE49-F238E27FC236}">
                <a16:creationId xmlns:a16="http://schemas.microsoft.com/office/drawing/2014/main" id="{208363A0-8E6C-5297-A5DF-CF0B8D956FB0}"/>
              </a:ext>
            </a:extLst>
          </p:cNvPr>
          <p:cNvSpPr/>
          <p:nvPr/>
        </p:nvSpPr>
        <p:spPr>
          <a:xfrm>
            <a:off x="9875520" y="1865162"/>
            <a:ext cx="155448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DF887F-92F5-F392-A262-1C793C615CFC}"/>
              </a:ext>
            </a:extLst>
          </p:cNvPr>
          <p:cNvSpPr txBox="1"/>
          <p:nvPr/>
        </p:nvSpPr>
        <p:spPr>
          <a:xfrm>
            <a:off x="10012680" y="1974890"/>
            <a:ext cx="12859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59E0B"/>
                </a:solidFill>
                <a:latin typeface="Calibri"/>
              </a:defRPr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84.91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%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defRPr sz="2600" b="1">
                <a:solidFill>
                  <a:srgbClr val="F59E0B"/>
                </a:solidFill>
                <a:latin typeface="Calibri"/>
              </a:defRPr>
            </a:pPr>
            <a:endParaRPr sz="1200" dirty="0"/>
          </a:p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Sensitivity</a:t>
            </a:r>
            <a:endParaRPr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9" name="Rounded Rectangle 10">
            <a:extLst>
              <a:ext uri="{FF2B5EF4-FFF2-40B4-BE49-F238E27FC236}">
                <a16:creationId xmlns:a16="http://schemas.microsoft.com/office/drawing/2014/main" id="{F7EC6B7E-397E-508C-6411-AE5A824CA649}"/>
              </a:ext>
            </a:extLst>
          </p:cNvPr>
          <p:cNvSpPr/>
          <p:nvPr/>
        </p:nvSpPr>
        <p:spPr>
          <a:xfrm>
            <a:off x="8065008" y="1869734"/>
            <a:ext cx="155448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67BBC0-40D7-A829-A8AA-2172B4ACB882}"/>
              </a:ext>
            </a:extLst>
          </p:cNvPr>
          <p:cNvSpPr txBox="1"/>
          <p:nvPr/>
        </p:nvSpPr>
        <p:spPr>
          <a:xfrm>
            <a:off x="8202168" y="1979462"/>
            <a:ext cx="12859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59E0B"/>
                </a:solidFill>
                <a:latin typeface="Calibri"/>
              </a:defRPr>
            </a:pPr>
            <a:r>
              <a:rPr lang="en-US" dirty="0">
                <a:solidFill>
                  <a:srgbClr val="FF0000"/>
                </a:solidFill>
              </a:rPr>
              <a:t>91.03</a:t>
            </a:r>
            <a:r>
              <a:rPr dirty="0">
                <a:solidFill>
                  <a:srgbClr val="FF0000"/>
                </a:solidFill>
              </a:rPr>
              <a:t>%</a:t>
            </a:r>
            <a:endParaRPr lang="en-US" dirty="0">
              <a:solidFill>
                <a:srgbClr val="FF0000"/>
              </a:solidFill>
            </a:endParaRPr>
          </a:p>
          <a:p>
            <a:pPr algn="ctr">
              <a:defRPr sz="2600" b="1">
                <a:solidFill>
                  <a:srgbClr val="F59E0B"/>
                </a:solidFill>
                <a:latin typeface="Calibri"/>
              </a:defRPr>
            </a:pPr>
            <a:endParaRPr sz="1200" dirty="0"/>
          </a:p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rPr lang="en-US" sz="1600" dirty="0">
                <a:solidFill>
                  <a:srgbClr val="FF0000"/>
                </a:solidFill>
              </a:rPr>
              <a:t>AUROC</a:t>
            </a:r>
            <a:endParaRPr sz="1400" dirty="0">
              <a:solidFill>
                <a:srgbClr val="FF0000"/>
              </a:solidFill>
            </a:endParaRPr>
          </a:p>
        </p:txBody>
      </p:sp>
      <p:sp>
        <p:nvSpPr>
          <p:cNvPr id="31" name="Rounded Rectangle 10">
            <a:extLst>
              <a:ext uri="{FF2B5EF4-FFF2-40B4-BE49-F238E27FC236}">
                <a16:creationId xmlns:a16="http://schemas.microsoft.com/office/drawing/2014/main" id="{E860C4A5-318F-5C87-2FCF-1A6054830E67}"/>
              </a:ext>
            </a:extLst>
          </p:cNvPr>
          <p:cNvSpPr/>
          <p:nvPr/>
        </p:nvSpPr>
        <p:spPr>
          <a:xfrm>
            <a:off x="8065008" y="3392210"/>
            <a:ext cx="155448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742CD3-AE4F-9F43-B195-1D15C5E4C70D}"/>
              </a:ext>
            </a:extLst>
          </p:cNvPr>
          <p:cNvSpPr txBox="1"/>
          <p:nvPr/>
        </p:nvSpPr>
        <p:spPr>
          <a:xfrm>
            <a:off x="8202168" y="3501938"/>
            <a:ext cx="12859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59E0B"/>
                </a:solidFill>
                <a:latin typeface="Calibri"/>
              </a:defRPr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83.09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%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>
              <a:defRPr sz="2600" b="1">
                <a:solidFill>
                  <a:srgbClr val="F59E0B"/>
                </a:solidFill>
                <a:latin typeface="Calibri"/>
              </a:defRPr>
            </a:pPr>
            <a:endParaRPr sz="1200" dirty="0"/>
          </a:p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F1</a:t>
            </a:r>
            <a:endParaRPr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2356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74551"/>
            <a:ext cx="1106424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rPr lang="en-US" sz="3600" dirty="0"/>
              <a:t>Detection Benchmark: Evaluation Across 7 Lesion Classes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509931"/>
            <a:ext cx="115214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400" b="0" i="1" dirty="0">
                <a:solidFill>
                  <a:srgbClr val="4A4A4A"/>
                </a:solidFill>
                <a:effectLst/>
                <a:latin typeface="Noto Sans" panose="020B0502040504020204" pitchFamily="34" charset="0"/>
              </a:rPr>
              <a:t>(*) LT2, LT4, LT6, LT8, LT10, LT11, LT13 denotes for disc space narrowing, foraminal stenosis, osteophytes, spondylolisthesis, surgical implant, vertebral collapse and other lesions, respectively.</a:t>
            </a:r>
            <a:endParaRPr sz="1400" b="0" i="0" dirty="0">
              <a:solidFill>
                <a:srgbClr val="626C78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0352" y="6419088"/>
            <a:ext cx="11109960" cy="9144"/>
          </a:xfrm>
          <a:prstGeom prst="rect">
            <a:avLst/>
          </a:prstGeom>
          <a:solidFill>
            <a:srgbClr val="D3D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455664"/>
            <a:ext cx="8503920" cy="2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 dirty="0">
                <a:solidFill>
                  <a:srgbClr val="626C78"/>
                </a:solidFill>
              </a:rPr>
              <a:t>MIRASOL • MICCAI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37376"/>
            <a:ext cx="5029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800" b="1" i="0" dirty="0">
                <a:solidFill>
                  <a:srgbClr val="12243A"/>
                </a:solidFill>
              </a:rPr>
              <a:t>19</a:t>
            </a:r>
            <a:endParaRPr sz="800" b="1" i="0" dirty="0">
              <a:solidFill>
                <a:srgbClr val="12243A"/>
              </a:solidFill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A8CC5CA-D4B9-32D7-7B8F-CCCE54BD46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04419"/>
              </p:ext>
            </p:extLst>
          </p:nvPr>
        </p:nvGraphicFramePr>
        <p:xfrm>
          <a:off x="550011" y="1145546"/>
          <a:ext cx="11091672" cy="4106345"/>
        </p:xfrm>
        <a:graphic>
          <a:graphicData uri="http://schemas.openxmlformats.org/drawingml/2006/table">
            <a:tbl>
              <a:tblPr/>
              <a:tblGrid>
                <a:gridCol w="2026041">
                  <a:extLst>
                    <a:ext uri="{9D8B030D-6E8A-4147-A177-3AD203B41FA5}">
                      <a16:colId xmlns:a16="http://schemas.microsoft.com/office/drawing/2014/main" val="2920955660"/>
                    </a:ext>
                  </a:extLst>
                </a:gridCol>
                <a:gridCol w="1081548">
                  <a:extLst>
                    <a:ext uri="{9D8B030D-6E8A-4147-A177-3AD203B41FA5}">
                      <a16:colId xmlns:a16="http://schemas.microsoft.com/office/drawing/2014/main" val="2765784719"/>
                    </a:ext>
                  </a:extLst>
                </a:gridCol>
                <a:gridCol w="1095385">
                  <a:extLst>
                    <a:ext uri="{9D8B030D-6E8A-4147-A177-3AD203B41FA5}">
                      <a16:colId xmlns:a16="http://schemas.microsoft.com/office/drawing/2014/main" val="137945432"/>
                    </a:ext>
                  </a:extLst>
                </a:gridCol>
                <a:gridCol w="1061357">
                  <a:extLst>
                    <a:ext uri="{9D8B030D-6E8A-4147-A177-3AD203B41FA5}">
                      <a16:colId xmlns:a16="http://schemas.microsoft.com/office/drawing/2014/main" val="1118173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190758425"/>
                    </a:ext>
                  </a:extLst>
                </a:gridCol>
                <a:gridCol w="1101417">
                  <a:extLst>
                    <a:ext uri="{9D8B030D-6E8A-4147-A177-3AD203B41FA5}">
                      <a16:colId xmlns:a16="http://schemas.microsoft.com/office/drawing/2014/main" val="3760459249"/>
                    </a:ext>
                  </a:extLst>
                </a:gridCol>
                <a:gridCol w="1232408">
                  <a:extLst>
                    <a:ext uri="{9D8B030D-6E8A-4147-A177-3AD203B41FA5}">
                      <a16:colId xmlns:a16="http://schemas.microsoft.com/office/drawing/2014/main" val="2240797020"/>
                    </a:ext>
                  </a:extLst>
                </a:gridCol>
                <a:gridCol w="1232408">
                  <a:extLst>
                    <a:ext uri="{9D8B030D-6E8A-4147-A177-3AD203B41FA5}">
                      <a16:colId xmlns:a16="http://schemas.microsoft.com/office/drawing/2014/main" val="3033408531"/>
                    </a:ext>
                  </a:extLst>
                </a:gridCol>
                <a:gridCol w="1232408">
                  <a:extLst>
                    <a:ext uri="{9D8B030D-6E8A-4147-A177-3AD203B41FA5}">
                      <a16:colId xmlns:a16="http://schemas.microsoft.com/office/drawing/2014/main" val="1251161698"/>
                    </a:ext>
                  </a:extLst>
                </a:gridCol>
              </a:tblGrid>
              <a:tr h="5036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dirty="0">
                          <a:solidFill>
                            <a:srgbClr val="363636"/>
                          </a:solidFill>
                          <a:effectLst/>
                        </a:rPr>
                        <a:t>Method</a:t>
                      </a:r>
                    </a:p>
                  </a:txBody>
                  <a:tcPr marL="39356" marR="39356" marT="19678" marB="19678" anchor="ctr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solidFill>
                            <a:srgbClr val="363636"/>
                          </a:solidFill>
                          <a:effectLst/>
                        </a:rPr>
                        <a:t>LT2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solidFill>
                            <a:srgbClr val="363636"/>
                          </a:solidFill>
                          <a:effectLst/>
                        </a:rPr>
                        <a:t>LT4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solidFill>
                            <a:srgbClr val="363636"/>
                          </a:solidFill>
                          <a:effectLst/>
                        </a:rPr>
                        <a:t>LT6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solidFill>
                            <a:srgbClr val="363636"/>
                          </a:solidFill>
                          <a:effectLst/>
                        </a:rPr>
                        <a:t>LT8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solidFill>
                            <a:srgbClr val="363636"/>
                          </a:solidFill>
                          <a:effectLst/>
                        </a:rPr>
                        <a:t>LT10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solidFill>
                            <a:srgbClr val="363636"/>
                          </a:solidFill>
                          <a:effectLst/>
                        </a:rPr>
                        <a:t>LT11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solidFill>
                            <a:srgbClr val="363636"/>
                          </a:solidFill>
                          <a:effectLst/>
                        </a:rPr>
                        <a:t>LT13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solidFill>
                            <a:srgbClr val="363636"/>
                          </a:solidFill>
                          <a:effectLst/>
                        </a:rPr>
                        <a:t>mAP@0.5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613275"/>
                  </a:ext>
                </a:extLst>
              </a:tr>
              <a:tr h="249559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Dino 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16.58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22.87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28.53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32.71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59.78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41.28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3.24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29.28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124203"/>
                  </a:ext>
                </a:extLst>
              </a:tr>
              <a:tr h="46346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 err="1">
                          <a:effectLst/>
                        </a:rPr>
                        <a:t>RetinaNet</a:t>
                      </a:r>
                      <a:r>
                        <a:rPr lang="en-US" sz="1800" b="1" dirty="0">
                          <a:effectLst/>
                        </a:rPr>
                        <a:t> 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14.53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25.35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41.67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32.14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65.49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51.85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5.30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28.09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434414"/>
                  </a:ext>
                </a:extLst>
              </a:tr>
              <a:tr h="46346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Faster R-CNN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22.66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35.99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49.24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31.68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65.22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51.68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2.16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31.83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761415"/>
                  </a:ext>
                </a:extLst>
              </a:tr>
              <a:tr h="46346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Sparse R-CNN 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20.09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32.67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48.16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45.32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72.20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49.30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5.41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33.15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882396"/>
                  </a:ext>
                </a:extLst>
              </a:tr>
              <a:tr h="40917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 err="1">
                          <a:effectLst/>
                        </a:rPr>
                        <a:t>VinDr-SpineXR</a:t>
                      </a:r>
                      <a:endParaRPr lang="en-US" sz="1800" b="1" dirty="0">
                        <a:effectLst/>
                      </a:endParaRP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21.43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27.36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34.78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41.29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62.53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43.39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4.16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33.56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477098"/>
                  </a:ext>
                </a:extLst>
              </a:tr>
              <a:tr h="32657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EGCA-Net 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22.36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29.75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36.73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44.69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66.58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50.41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2.09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36.09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7475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YOLOv6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23.60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34.90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38.40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37.50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67.30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43.30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3.35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35.50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475953"/>
                  </a:ext>
                </a:extLst>
              </a:tr>
              <a:tr h="35651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>
                          <a:effectLst/>
                        </a:rPr>
                        <a:t>YOLOv12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23.60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37.70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37.00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45.90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67.00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49.80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4.01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37.90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82651"/>
                  </a:ext>
                </a:extLst>
              </a:tr>
              <a:tr h="46346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Ours (YOLO11-L)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26.70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41.40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40.60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54.80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74.10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51.20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2.99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40.10</a:t>
                      </a:r>
                    </a:p>
                  </a:txBody>
                  <a:tcPr marL="39356" marR="39356" marT="19678" marB="19678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534963"/>
                  </a:ext>
                </a:extLst>
              </a:tr>
            </a:tbl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81BBDF5B-94CE-D6FE-B190-C15A8E70D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0100" y="1349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384048"/>
            <a:ext cx="110642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800" b="1" i="0" dirty="0">
                <a:solidFill>
                  <a:srgbClr val="363636"/>
                </a:solidFill>
                <a:effectLst/>
                <a:latin typeface="Noto Sans" panose="020B0502040504020204" pitchFamily="34" charset="0"/>
              </a:rPr>
              <a:t>Ablation Study - Component Impact Analysis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6419088"/>
            <a:ext cx="11109960" cy="9144"/>
          </a:xfrm>
          <a:prstGeom prst="rect">
            <a:avLst/>
          </a:prstGeom>
          <a:solidFill>
            <a:srgbClr val="D3D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6455664"/>
            <a:ext cx="8503920" cy="2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 dirty="0">
                <a:solidFill>
                  <a:srgbClr val="626C78"/>
                </a:solidFill>
              </a:rPr>
              <a:t> MIRASOL • MICCAI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27080" y="6437376"/>
            <a:ext cx="5029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 dirty="0">
                <a:solidFill>
                  <a:srgbClr val="12243A"/>
                </a:solidFill>
              </a:rPr>
              <a:t>2</a:t>
            </a:r>
            <a:r>
              <a:rPr lang="en-US" sz="800" b="1" dirty="0">
                <a:solidFill>
                  <a:srgbClr val="12243A"/>
                </a:solidFill>
              </a:rPr>
              <a:t>0</a:t>
            </a:r>
            <a:endParaRPr sz="800" b="1" i="0" dirty="0">
              <a:solidFill>
                <a:srgbClr val="12243A"/>
              </a:solidFill>
            </a:endParaRP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8BE1FC45-11AF-AB8C-CD74-0D00D50A5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746264"/>
              </p:ext>
            </p:extLst>
          </p:nvPr>
        </p:nvGraphicFramePr>
        <p:xfrm>
          <a:off x="548640" y="1600201"/>
          <a:ext cx="10767064" cy="3791193"/>
        </p:xfrm>
        <a:graphic>
          <a:graphicData uri="http://schemas.openxmlformats.org/drawingml/2006/table">
            <a:tbl>
              <a:tblPr/>
              <a:tblGrid>
                <a:gridCol w="3468189">
                  <a:extLst>
                    <a:ext uri="{9D8B030D-6E8A-4147-A177-3AD203B41FA5}">
                      <a16:colId xmlns:a16="http://schemas.microsoft.com/office/drawing/2014/main" val="231222981"/>
                    </a:ext>
                  </a:extLst>
                </a:gridCol>
                <a:gridCol w="2465614">
                  <a:extLst>
                    <a:ext uri="{9D8B030D-6E8A-4147-A177-3AD203B41FA5}">
                      <a16:colId xmlns:a16="http://schemas.microsoft.com/office/drawing/2014/main" val="3200693419"/>
                    </a:ext>
                  </a:extLst>
                </a:gridCol>
                <a:gridCol w="2318657">
                  <a:extLst>
                    <a:ext uri="{9D8B030D-6E8A-4147-A177-3AD203B41FA5}">
                      <a16:colId xmlns:a16="http://schemas.microsoft.com/office/drawing/2014/main" val="955263051"/>
                    </a:ext>
                  </a:extLst>
                </a:gridCol>
                <a:gridCol w="2514604">
                  <a:extLst>
                    <a:ext uri="{9D8B030D-6E8A-4147-A177-3AD203B41FA5}">
                      <a16:colId xmlns:a16="http://schemas.microsoft.com/office/drawing/2014/main" val="1129856928"/>
                    </a:ext>
                  </a:extLst>
                </a:gridCol>
              </a:tblGrid>
              <a:tr h="497481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solidFill>
                            <a:srgbClr val="363636"/>
                          </a:solidFill>
                          <a:effectLst/>
                        </a:rPr>
                        <a:t>Component Removed</a:t>
                      </a:r>
                    </a:p>
                  </a:txBody>
                  <a:tcPr marL="78034" marR="78034" marT="39017" marB="39017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solidFill>
                            <a:srgbClr val="363636"/>
                          </a:solidFill>
                          <a:effectLst/>
                        </a:rPr>
                        <a:t>mAP@0.5</a:t>
                      </a:r>
                    </a:p>
                  </a:txBody>
                  <a:tcPr marL="78034" marR="78034" marT="39017" marB="39017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l-GR" sz="1800" b="1" dirty="0">
                          <a:solidFill>
                            <a:srgbClr val="363636"/>
                          </a:solidFill>
                          <a:effectLst/>
                        </a:rPr>
                        <a:t>Δ</a:t>
                      </a:r>
                      <a:r>
                        <a:rPr lang="en-US" sz="1800" b="1" dirty="0" err="1">
                          <a:solidFill>
                            <a:srgbClr val="363636"/>
                          </a:solidFill>
                          <a:effectLst/>
                        </a:rPr>
                        <a:t>mAP</a:t>
                      </a:r>
                      <a:endParaRPr lang="en-US" sz="1800" b="1" dirty="0">
                        <a:solidFill>
                          <a:srgbClr val="363636"/>
                        </a:solidFill>
                        <a:effectLst/>
                      </a:endParaRPr>
                    </a:p>
                  </a:txBody>
                  <a:tcPr marL="78034" marR="78034" marT="39017" marB="39017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solidFill>
                            <a:srgbClr val="363636"/>
                          </a:solidFill>
                          <a:effectLst/>
                        </a:rPr>
                        <a:t>Impact Level</a:t>
                      </a:r>
                    </a:p>
                  </a:txBody>
                  <a:tcPr marL="78034" marR="78034" marT="39017" marB="39017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4663277"/>
                  </a:ext>
                </a:extLst>
              </a:tr>
              <a:tr h="71068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- Copy-Paste Augmentation</a:t>
                      </a:r>
                    </a:p>
                  </a:txBody>
                  <a:tcPr marL="78034" marR="78034" marT="39017" marB="39017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37.7%</a:t>
                      </a:r>
                    </a:p>
                  </a:txBody>
                  <a:tcPr marL="78034" marR="78034" marT="39017" marB="39017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D32F2F"/>
                          </a:solidFill>
                          <a:effectLst/>
                        </a:rPr>
                        <a:t>-2.40%</a:t>
                      </a:r>
                      <a:endParaRPr lang="en-US" sz="1800">
                        <a:effectLst/>
                      </a:endParaRPr>
                    </a:p>
                  </a:txBody>
                  <a:tcPr marL="78034" marR="78034" marT="39017" marB="39017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solidFill>
                            <a:srgbClr val="D32F2F"/>
                          </a:solidFill>
                          <a:effectLst/>
                        </a:rPr>
                        <a:t>High</a:t>
                      </a:r>
                      <a:endParaRPr lang="en-US" sz="1800" b="1" dirty="0">
                        <a:effectLst/>
                      </a:endParaRPr>
                    </a:p>
                  </a:txBody>
                  <a:tcPr marL="78034" marR="78034" marT="39017" marB="39017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38092"/>
                  </a:ext>
                </a:extLst>
              </a:tr>
              <a:tr h="71068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- Mosaic Augmentation</a:t>
                      </a:r>
                    </a:p>
                  </a:txBody>
                  <a:tcPr marL="78034" marR="78034" marT="39017" marB="39017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37.1%</a:t>
                      </a:r>
                    </a:p>
                  </a:txBody>
                  <a:tcPr marL="78034" marR="78034" marT="39017" marB="39017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D32F2F"/>
                          </a:solidFill>
                          <a:effectLst/>
                        </a:rPr>
                        <a:t>-2.94%</a:t>
                      </a:r>
                      <a:endParaRPr lang="en-US" sz="1800">
                        <a:effectLst/>
                      </a:endParaRPr>
                    </a:p>
                  </a:txBody>
                  <a:tcPr marL="78034" marR="78034" marT="39017" marB="39017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solidFill>
                            <a:srgbClr val="D32F2F"/>
                          </a:solidFill>
                          <a:effectLst/>
                        </a:rPr>
                        <a:t>High</a:t>
                      </a:r>
                      <a:endParaRPr lang="en-US" sz="1800" b="1" dirty="0">
                        <a:effectLst/>
                      </a:endParaRPr>
                    </a:p>
                  </a:txBody>
                  <a:tcPr marL="78034" marR="78034" marT="39017" marB="39017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608046"/>
                  </a:ext>
                </a:extLst>
              </a:tr>
              <a:tr h="653434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- C2PSA Module (Attention)</a:t>
                      </a:r>
                    </a:p>
                  </a:txBody>
                  <a:tcPr marL="78034" marR="78034" marT="39017" marB="39017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38.5%</a:t>
                      </a:r>
                    </a:p>
                  </a:txBody>
                  <a:tcPr marL="78034" marR="78034" marT="39017" marB="39017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F57C00"/>
                          </a:solidFill>
                          <a:effectLst/>
                        </a:rPr>
                        <a:t>-1.54%</a:t>
                      </a:r>
                      <a:endParaRPr lang="en-US" sz="1800">
                        <a:effectLst/>
                      </a:endParaRPr>
                    </a:p>
                  </a:txBody>
                  <a:tcPr marL="78034" marR="78034" marT="39017" marB="39017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solidFill>
                            <a:srgbClr val="F57C00"/>
                          </a:solidFill>
                          <a:effectLst/>
                        </a:rPr>
                        <a:t>Medium</a:t>
                      </a:r>
                      <a:endParaRPr lang="en-US" sz="1800" b="1" dirty="0">
                        <a:effectLst/>
                      </a:endParaRPr>
                    </a:p>
                  </a:txBody>
                  <a:tcPr marL="78034" marR="78034" marT="39017" marB="39017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583441"/>
                  </a:ext>
                </a:extLst>
              </a:tr>
              <a:tr h="50821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- Focal Loss</a:t>
                      </a:r>
                    </a:p>
                  </a:txBody>
                  <a:tcPr marL="78034" marR="78034" marT="39017" marB="39017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38.9%</a:t>
                      </a:r>
                    </a:p>
                  </a:txBody>
                  <a:tcPr marL="78034" marR="78034" marT="39017" marB="39017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F57C00"/>
                          </a:solidFill>
                          <a:effectLst/>
                        </a:rPr>
                        <a:t>-1.14%</a:t>
                      </a:r>
                      <a:endParaRPr lang="en-US" sz="1800">
                        <a:effectLst/>
                      </a:endParaRPr>
                    </a:p>
                  </a:txBody>
                  <a:tcPr marL="78034" marR="78034" marT="39017" marB="39017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solidFill>
                            <a:srgbClr val="F57C00"/>
                          </a:solidFill>
                          <a:effectLst/>
                        </a:rPr>
                        <a:t>Medium</a:t>
                      </a:r>
                      <a:endParaRPr lang="en-US" sz="1800" b="1" dirty="0">
                        <a:effectLst/>
                      </a:endParaRPr>
                    </a:p>
                  </a:txBody>
                  <a:tcPr marL="78034" marR="78034" marT="39017" marB="39017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324331"/>
                  </a:ext>
                </a:extLst>
              </a:tr>
              <a:tr h="71068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- Task-Aligned Assignment</a:t>
                      </a:r>
                    </a:p>
                  </a:txBody>
                  <a:tcPr marL="78034" marR="78034" marT="39017" marB="39017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39.2%</a:t>
                      </a:r>
                    </a:p>
                  </a:txBody>
                  <a:tcPr marL="78034" marR="78034" marT="39017" marB="39017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388E3C"/>
                          </a:solidFill>
                          <a:effectLst/>
                        </a:rPr>
                        <a:t>-0.84%</a:t>
                      </a:r>
                      <a:endParaRPr lang="en-US" sz="1800">
                        <a:effectLst/>
                      </a:endParaRPr>
                    </a:p>
                  </a:txBody>
                  <a:tcPr marL="78034" marR="78034" marT="39017" marB="39017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solidFill>
                            <a:srgbClr val="388E3C"/>
                          </a:solidFill>
                          <a:effectLst/>
                        </a:rPr>
                        <a:t>Low</a:t>
                      </a:r>
                      <a:endParaRPr lang="en-US" sz="1800" b="1" dirty="0">
                        <a:effectLst/>
                      </a:endParaRPr>
                    </a:p>
                  </a:txBody>
                  <a:tcPr marL="78034" marR="78034" marT="39017" marB="39017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0179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1C37F-0CE5-38DD-334F-CD2C89B75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A6C8161-FBD2-41C6-57AF-B73F75D4BD85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33C348-B8C6-2416-F83B-21AED5932F9C}"/>
              </a:ext>
            </a:extLst>
          </p:cNvPr>
          <p:cNvSpPr txBox="1"/>
          <p:nvPr/>
        </p:nvSpPr>
        <p:spPr>
          <a:xfrm>
            <a:off x="530352" y="219456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 dirty="0">
                <a:solidFill>
                  <a:srgbClr val="12243A"/>
                </a:solidFill>
              </a:rPr>
              <a:t>Explainable AI — Salienc</a:t>
            </a:r>
            <a:r>
              <a:rPr lang="en-US" sz="2700" b="1" i="0" dirty="0">
                <a:solidFill>
                  <a:srgbClr val="12243A"/>
                </a:solidFill>
              </a:rPr>
              <a:t>y Map</a:t>
            </a:r>
            <a:endParaRPr sz="2700" b="1" i="0" dirty="0">
              <a:solidFill>
                <a:srgbClr val="12243A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EE79440-FE0C-7CB8-8C06-4B1A69E365F2}"/>
              </a:ext>
            </a:extLst>
          </p:cNvPr>
          <p:cNvSpPr/>
          <p:nvPr/>
        </p:nvSpPr>
        <p:spPr>
          <a:xfrm>
            <a:off x="8097228" y="1417318"/>
            <a:ext cx="3708691" cy="1803401"/>
          </a:xfrm>
          <a:prstGeom prst="roundRect">
            <a:avLst/>
          </a:prstGeom>
          <a:solidFill>
            <a:srgbClr val="E4F1F5"/>
          </a:solidFill>
          <a:ln w="12700">
            <a:solidFill>
              <a:srgbClr val="1F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A63B16-C4D2-7DC1-DB56-AB4FDD48AAA9}"/>
              </a:ext>
            </a:extLst>
          </p:cNvPr>
          <p:cNvSpPr txBox="1"/>
          <p:nvPr/>
        </p:nvSpPr>
        <p:spPr>
          <a:xfrm>
            <a:off x="8252677" y="1536190"/>
            <a:ext cx="299923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i="0" dirty="0">
                <a:solidFill>
                  <a:srgbClr val="12243A"/>
                </a:solidFill>
              </a:rPr>
              <a:t>Saliency Map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C09C2B-6C8E-A45E-9F6C-34189642011C}"/>
              </a:ext>
            </a:extLst>
          </p:cNvPr>
          <p:cNvSpPr txBox="1"/>
          <p:nvPr/>
        </p:nvSpPr>
        <p:spPr>
          <a:xfrm>
            <a:off x="8252677" y="2184965"/>
            <a:ext cx="3553242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b="0" i="0" dirty="0">
                <a:solidFill>
                  <a:srgbClr val="2B323B"/>
                </a:solidFill>
              </a:rPr>
              <a:t>Mean X-</a:t>
            </a:r>
            <a:r>
              <a:rPr b="0" i="0" dirty="0" err="1">
                <a:solidFill>
                  <a:srgbClr val="2B323B"/>
                </a:solidFill>
              </a:rPr>
              <a:t>IoU</a:t>
            </a:r>
            <a:r>
              <a:rPr b="0" i="0" dirty="0">
                <a:solidFill>
                  <a:srgbClr val="2B323B"/>
                </a:solidFill>
              </a:rPr>
              <a:t> = 0.61. </a:t>
            </a:r>
            <a:r>
              <a:rPr b="0" i="0" dirty="0" err="1">
                <a:solidFill>
                  <a:srgbClr val="2B323B"/>
                </a:solidFill>
              </a:rPr>
              <a:t>Thresholded</a:t>
            </a:r>
            <a:r>
              <a:rPr b="0" i="0" dirty="0">
                <a:solidFill>
                  <a:srgbClr val="2B323B"/>
                </a:solidFill>
              </a:rPr>
              <a:t> attention overlaps lesion regions / vertebral boundaries.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8E39E5-D9E6-7837-084F-965E26569A01}"/>
              </a:ext>
            </a:extLst>
          </p:cNvPr>
          <p:cNvSpPr txBox="1"/>
          <p:nvPr/>
        </p:nvSpPr>
        <p:spPr>
          <a:xfrm>
            <a:off x="8119872" y="4113260"/>
            <a:ext cx="3310128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dirty="0">
                <a:solidFill>
                  <a:srgbClr val="12243A"/>
                </a:solidFill>
              </a:rPr>
              <a:t>Interpretation: XAI is evidence of anatomical grounding, not a substitute for clinical validation.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25F999-68B8-4909-F9B8-379DFB54CEA9}"/>
              </a:ext>
            </a:extLst>
          </p:cNvPr>
          <p:cNvSpPr/>
          <p:nvPr/>
        </p:nvSpPr>
        <p:spPr>
          <a:xfrm>
            <a:off x="530352" y="6419088"/>
            <a:ext cx="11109960" cy="9144"/>
          </a:xfrm>
          <a:prstGeom prst="rect">
            <a:avLst/>
          </a:prstGeom>
          <a:solidFill>
            <a:srgbClr val="D3D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E0BBAB-F3EB-D1AA-B95D-A803DD74EFE8}"/>
              </a:ext>
            </a:extLst>
          </p:cNvPr>
          <p:cNvSpPr txBox="1"/>
          <p:nvPr/>
        </p:nvSpPr>
        <p:spPr>
          <a:xfrm>
            <a:off x="548640" y="6455664"/>
            <a:ext cx="8503920" cy="2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 dirty="0">
                <a:solidFill>
                  <a:srgbClr val="626C78"/>
                </a:solidFill>
              </a:rPr>
              <a:t>MIRASOL • MICCAI 2026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050DA4-504A-5FFA-1BAF-28CA291309EA}"/>
              </a:ext>
            </a:extLst>
          </p:cNvPr>
          <p:cNvSpPr txBox="1"/>
          <p:nvPr/>
        </p:nvSpPr>
        <p:spPr>
          <a:xfrm>
            <a:off x="10927080" y="6437376"/>
            <a:ext cx="5029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 dirty="0">
                <a:solidFill>
                  <a:srgbClr val="12243A"/>
                </a:solidFill>
              </a:rPr>
              <a:t>2</a:t>
            </a:r>
            <a:r>
              <a:rPr lang="en-US" sz="800" b="1" dirty="0">
                <a:solidFill>
                  <a:srgbClr val="12243A"/>
                </a:solidFill>
              </a:rPr>
              <a:t>1</a:t>
            </a:r>
            <a:endParaRPr sz="800" b="1" i="0" dirty="0">
              <a:solidFill>
                <a:srgbClr val="12243A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F4D9630-591C-E008-13FB-43CDB2E1D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643" y="914400"/>
            <a:ext cx="5951437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0513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B910A-E956-8EF1-968F-C037C6383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49E9DFB-DDDA-2516-056F-EEA8700743A6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8521F3-F196-B9E5-95C7-BC7B78E95C51}"/>
              </a:ext>
            </a:extLst>
          </p:cNvPr>
          <p:cNvSpPr txBox="1"/>
          <p:nvPr/>
        </p:nvSpPr>
        <p:spPr>
          <a:xfrm>
            <a:off x="530352" y="219456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 dirty="0">
                <a:solidFill>
                  <a:srgbClr val="12243A"/>
                </a:solidFill>
              </a:rPr>
              <a:t>Explainable AI — </a:t>
            </a:r>
            <a:r>
              <a:rPr lang="en-US" sz="2700" b="1" dirty="0">
                <a:solidFill>
                  <a:srgbClr val="12243A"/>
                </a:solidFill>
              </a:rPr>
              <a:t>Grad-CAM</a:t>
            </a:r>
            <a:endParaRPr sz="2700" b="1" i="0" dirty="0">
              <a:solidFill>
                <a:srgbClr val="12243A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B90E497-C94D-CB9A-A3A8-B8D6EBC557E5}"/>
              </a:ext>
            </a:extLst>
          </p:cNvPr>
          <p:cNvSpPr/>
          <p:nvPr/>
        </p:nvSpPr>
        <p:spPr>
          <a:xfrm>
            <a:off x="7601712" y="1689026"/>
            <a:ext cx="3672840" cy="1879747"/>
          </a:xfrm>
          <a:prstGeom prst="roundRect">
            <a:avLst/>
          </a:prstGeom>
          <a:solidFill>
            <a:srgbClr val="E4F1F5"/>
          </a:solidFill>
          <a:ln w="12700">
            <a:solidFill>
              <a:srgbClr val="1F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5CD5B2-A6A2-1439-ABBB-AEB54C106B16}"/>
              </a:ext>
            </a:extLst>
          </p:cNvPr>
          <p:cNvSpPr txBox="1"/>
          <p:nvPr/>
        </p:nvSpPr>
        <p:spPr>
          <a:xfrm>
            <a:off x="7757160" y="1807898"/>
            <a:ext cx="299923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b="1" i="0" dirty="0">
                <a:solidFill>
                  <a:srgbClr val="12243A"/>
                </a:solidFill>
              </a:rPr>
              <a:t>Grad-CAM</a:t>
            </a:r>
            <a:endParaRPr b="1" i="0" dirty="0">
              <a:solidFill>
                <a:srgbClr val="12243A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73DEC2-7D8C-BCDB-5334-C8971B3DD791}"/>
              </a:ext>
            </a:extLst>
          </p:cNvPr>
          <p:cNvSpPr txBox="1"/>
          <p:nvPr/>
        </p:nvSpPr>
        <p:spPr>
          <a:xfrm>
            <a:off x="7757160" y="2512962"/>
            <a:ext cx="2999232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b="0" i="0" dirty="0">
                <a:solidFill>
                  <a:srgbClr val="2B323B"/>
                </a:solidFill>
              </a:rPr>
              <a:t>Mean X-</a:t>
            </a:r>
            <a:r>
              <a:rPr lang="en-US" b="0" i="0" dirty="0" err="1">
                <a:solidFill>
                  <a:srgbClr val="2B323B"/>
                </a:solidFill>
              </a:rPr>
              <a:t>IoU</a:t>
            </a:r>
            <a:r>
              <a:rPr lang="en-US" b="0" i="0" dirty="0">
                <a:solidFill>
                  <a:srgbClr val="2B323B"/>
                </a:solidFill>
              </a:rPr>
              <a:t> = 0.64. Heatmaps align with the regions localized by YOLO11-L.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3EBB87-678D-EC30-7B39-364612D8FCBC}"/>
              </a:ext>
            </a:extLst>
          </p:cNvPr>
          <p:cNvSpPr txBox="1"/>
          <p:nvPr/>
        </p:nvSpPr>
        <p:spPr>
          <a:xfrm>
            <a:off x="7601712" y="4227141"/>
            <a:ext cx="3310128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 dirty="0">
                <a:solidFill>
                  <a:srgbClr val="12243A"/>
                </a:solidFill>
              </a:rPr>
              <a:t>Interpretation: XAI is evidence of anatomical grounding, not a substitute for clinical validation.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2D5CB36-C5A2-6459-06E4-6E86BC006A10}"/>
              </a:ext>
            </a:extLst>
          </p:cNvPr>
          <p:cNvSpPr/>
          <p:nvPr/>
        </p:nvSpPr>
        <p:spPr>
          <a:xfrm>
            <a:off x="530352" y="6419088"/>
            <a:ext cx="11109960" cy="9144"/>
          </a:xfrm>
          <a:prstGeom prst="rect">
            <a:avLst/>
          </a:prstGeom>
          <a:solidFill>
            <a:srgbClr val="D3D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105F49-D02D-A1C3-BAE2-63A0130FB1B9}"/>
              </a:ext>
            </a:extLst>
          </p:cNvPr>
          <p:cNvSpPr txBox="1"/>
          <p:nvPr/>
        </p:nvSpPr>
        <p:spPr>
          <a:xfrm>
            <a:off x="548640" y="6455664"/>
            <a:ext cx="8503920" cy="2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 dirty="0">
                <a:solidFill>
                  <a:srgbClr val="626C78"/>
                </a:solidFill>
              </a:rPr>
              <a:t>MIRASOL • MICCAI 2026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F59F11-2C70-CED7-216D-3CDD15D8A74D}"/>
              </a:ext>
            </a:extLst>
          </p:cNvPr>
          <p:cNvSpPr txBox="1"/>
          <p:nvPr/>
        </p:nvSpPr>
        <p:spPr>
          <a:xfrm>
            <a:off x="10927080" y="6437376"/>
            <a:ext cx="5029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 dirty="0">
                <a:solidFill>
                  <a:srgbClr val="12243A"/>
                </a:solidFill>
              </a:rPr>
              <a:t>2</a:t>
            </a:r>
            <a:r>
              <a:rPr lang="en-US" sz="800" b="1" i="0" dirty="0">
                <a:solidFill>
                  <a:srgbClr val="12243A"/>
                </a:solidFill>
              </a:rPr>
              <a:t>2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E54F4C5-F539-164F-149F-C76A92EA2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48" y="1207770"/>
            <a:ext cx="4770120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483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219456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 dirty="0">
                <a:solidFill>
                  <a:srgbClr val="12243A"/>
                </a:solidFill>
              </a:rPr>
              <a:t>Explainable AI — </a:t>
            </a:r>
            <a:r>
              <a:rPr lang="en-US" sz="2700" b="1" dirty="0">
                <a:solidFill>
                  <a:srgbClr val="12243A"/>
                </a:solidFill>
              </a:rPr>
              <a:t>LIME</a:t>
            </a:r>
            <a:endParaRPr sz="2700" b="1" i="0" dirty="0">
              <a:solidFill>
                <a:srgbClr val="12243A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601712" y="1689026"/>
            <a:ext cx="3672840" cy="1879747"/>
          </a:xfrm>
          <a:prstGeom prst="roundRect">
            <a:avLst/>
          </a:prstGeom>
          <a:solidFill>
            <a:srgbClr val="E4F1F5"/>
          </a:solidFill>
          <a:ln w="12700">
            <a:solidFill>
              <a:srgbClr val="1F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57160" y="1807898"/>
            <a:ext cx="299923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b="1" dirty="0">
                <a:solidFill>
                  <a:srgbClr val="12243A"/>
                </a:solidFill>
              </a:rPr>
              <a:t>LIME</a:t>
            </a:r>
            <a:endParaRPr b="1" i="0" dirty="0">
              <a:solidFill>
                <a:srgbClr val="12243A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57160" y="2266026"/>
            <a:ext cx="2999232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800" b="0" i="0" dirty="0">
                <a:solidFill>
                  <a:srgbClr val="1D2A33"/>
                </a:solidFill>
                <a:latin typeface="Arial"/>
              </a:rPr>
              <a:t>Local importance highlights meaningful spinal structures rather than random background.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1712" y="4227141"/>
            <a:ext cx="3310128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 dirty="0">
                <a:solidFill>
                  <a:srgbClr val="12243A"/>
                </a:solidFill>
              </a:rPr>
              <a:t>Interpretation: XAI is evidence of anatomical grounding, not a substitute for clinical validation.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6419088"/>
            <a:ext cx="11109960" cy="9144"/>
          </a:xfrm>
          <a:prstGeom prst="rect">
            <a:avLst/>
          </a:prstGeom>
          <a:solidFill>
            <a:srgbClr val="D3D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6455664"/>
            <a:ext cx="8503920" cy="2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 dirty="0">
                <a:solidFill>
                  <a:srgbClr val="626C78"/>
                </a:solidFill>
              </a:rPr>
              <a:t>MIRASOL • MICCAI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840" y="6552613"/>
            <a:ext cx="5029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 dirty="0">
                <a:solidFill>
                  <a:srgbClr val="12243A"/>
                </a:solidFill>
              </a:rPr>
              <a:t>2</a:t>
            </a:r>
            <a:r>
              <a:rPr lang="en-US" sz="800" b="1" dirty="0">
                <a:solidFill>
                  <a:srgbClr val="12243A"/>
                </a:solidFill>
              </a:rPr>
              <a:t>3</a:t>
            </a:r>
            <a:endParaRPr sz="800" b="1" i="0" dirty="0">
              <a:solidFill>
                <a:srgbClr val="12243A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0CCBC7F-7A8B-2266-6922-A19C9D03B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112564"/>
            <a:ext cx="4937760" cy="495295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269748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 dirty="0">
                <a:solidFill>
                  <a:srgbClr val="12243A"/>
                </a:solidFill>
              </a:rPr>
              <a:t>Computational Efficiency &amp; Staged Inference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" y="6419088"/>
            <a:ext cx="11109960" cy="9144"/>
          </a:xfrm>
          <a:prstGeom prst="rect">
            <a:avLst/>
          </a:prstGeom>
          <a:solidFill>
            <a:srgbClr val="D3D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6455664"/>
            <a:ext cx="8503920" cy="2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 dirty="0">
                <a:solidFill>
                  <a:srgbClr val="626C78"/>
                </a:solidFill>
              </a:rPr>
              <a:t>MIRASOL • MICCAI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27080" y="6437376"/>
            <a:ext cx="5029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 dirty="0">
                <a:solidFill>
                  <a:srgbClr val="12243A"/>
                </a:solidFill>
              </a:rPr>
              <a:t>2</a:t>
            </a:r>
            <a:r>
              <a:rPr lang="en-US" sz="800" b="1" dirty="0">
                <a:solidFill>
                  <a:srgbClr val="12243A"/>
                </a:solidFill>
              </a:rPr>
              <a:t>4</a:t>
            </a:r>
            <a:endParaRPr sz="800" b="1" i="0" dirty="0">
              <a:solidFill>
                <a:srgbClr val="12243A"/>
              </a:solidFill>
            </a:endParaRP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F041027C-0ABA-1406-2EED-A8A5EE7633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353536"/>
              </p:ext>
            </p:extLst>
          </p:nvPr>
        </p:nvGraphicFramePr>
        <p:xfrm>
          <a:off x="618748" y="1209559"/>
          <a:ext cx="11109960" cy="3502698"/>
        </p:xfrm>
        <a:graphic>
          <a:graphicData uri="http://schemas.openxmlformats.org/drawingml/2006/table">
            <a:tbl>
              <a:tblPr/>
              <a:tblGrid>
                <a:gridCol w="2221992">
                  <a:extLst>
                    <a:ext uri="{9D8B030D-6E8A-4147-A177-3AD203B41FA5}">
                      <a16:colId xmlns:a16="http://schemas.microsoft.com/office/drawing/2014/main" val="3440744707"/>
                    </a:ext>
                  </a:extLst>
                </a:gridCol>
                <a:gridCol w="1551762">
                  <a:extLst>
                    <a:ext uri="{9D8B030D-6E8A-4147-A177-3AD203B41FA5}">
                      <a16:colId xmlns:a16="http://schemas.microsoft.com/office/drawing/2014/main" val="1079575186"/>
                    </a:ext>
                  </a:extLst>
                </a:gridCol>
                <a:gridCol w="2171156">
                  <a:extLst>
                    <a:ext uri="{9D8B030D-6E8A-4147-A177-3AD203B41FA5}">
                      <a16:colId xmlns:a16="http://schemas.microsoft.com/office/drawing/2014/main" val="2393978469"/>
                    </a:ext>
                  </a:extLst>
                </a:gridCol>
                <a:gridCol w="2047991">
                  <a:extLst>
                    <a:ext uri="{9D8B030D-6E8A-4147-A177-3AD203B41FA5}">
                      <a16:colId xmlns:a16="http://schemas.microsoft.com/office/drawing/2014/main" val="116701067"/>
                    </a:ext>
                  </a:extLst>
                </a:gridCol>
                <a:gridCol w="3117059">
                  <a:extLst>
                    <a:ext uri="{9D8B030D-6E8A-4147-A177-3AD203B41FA5}">
                      <a16:colId xmlns:a16="http://schemas.microsoft.com/office/drawing/2014/main" val="1518597775"/>
                    </a:ext>
                  </a:extLst>
                </a:gridCol>
              </a:tblGrid>
              <a:tr h="56068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dirty="0">
                          <a:solidFill>
                            <a:srgbClr val="363636"/>
                          </a:solidFill>
                          <a:effectLst/>
                        </a:rPr>
                        <a:t>Component</a:t>
                      </a:r>
                    </a:p>
                  </a:txBody>
                  <a:tcPr marL="57291" marR="57291" marT="28645" marB="28645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dirty="0">
                          <a:solidFill>
                            <a:srgbClr val="363636"/>
                          </a:solidFill>
                          <a:effectLst/>
                        </a:rPr>
                        <a:t>GFLOPs</a:t>
                      </a:r>
                    </a:p>
                  </a:txBody>
                  <a:tcPr marL="57291" marR="57291" marT="28645" marB="28645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dirty="0">
                          <a:solidFill>
                            <a:srgbClr val="363636"/>
                          </a:solidFill>
                          <a:effectLst/>
                        </a:rPr>
                        <a:t>Runtime Memory</a:t>
                      </a:r>
                    </a:p>
                  </a:txBody>
                  <a:tcPr marL="57291" marR="57291" marT="28645" marB="28645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dirty="0">
                          <a:solidFill>
                            <a:srgbClr val="363636"/>
                          </a:solidFill>
                          <a:effectLst/>
                        </a:rPr>
                        <a:t>Typical Latency</a:t>
                      </a:r>
                    </a:p>
                  </a:txBody>
                  <a:tcPr marL="57291" marR="57291" marT="28645" marB="28645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dirty="0">
                          <a:solidFill>
                            <a:srgbClr val="363636"/>
                          </a:solidFill>
                          <a:effectLst/>
                        </a:rPr>
                        <a:t>Notes</a:t>
                      </a:r>
                    </a:p>
                  </a:txBody>
                  <a:tcPr marL="57291" marR="57291" marT="28645" marB="28645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273978"/>
                  </a:ext>
                </a:extLst>
              </a:tr>
              <a:tr h="818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 err="1">
                          <a:effectLst/>
                        </a:rPr>
                        <a:t>DERNet</a:t>
                      </a:r>
                      <a:r>
                        <a:rPr lang="en-US" sz="1800" dirty="0">
                          <a:effectLst/>
                        </a:rPr>
                        <a:t> (screening)</a:t>
                      </a:r>
                    </a:p>
                  </a:txBody>
                  <a:tcPr marL="57291" marR="57291" marT="28645" marB="28645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15.4</a:t>
                      </a:r>
                    </a:p>
                  </a:txBody>
                  <a:tcPr marL="57291" marR="57291" marT="28645" marB="28645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0.9 GB</a:t>
                      </a:r>
                    </a:p>
                  </a:txBody>
                  <a:tcPr marL="57291" marR="57291" marT="28645" marB="28645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120 ms</a:t>
                      </a:r>
                    </a:p>
                  </a:txBody>
                  <a:tcPr marL="57291" marR="57291" marT="28645" marB="28645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Ultra-light screening stage; optimized for CPU inference.</a:t>
                      </a:r>
                    </a:p>
                  </a:txBody>
                  <a:tcPr marL="57291" marR="57291" marT="28645" marB="28645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737321"/>
                  </a:ext>
                </a:extLst>
              </a:tr>
              <a:tr h="106160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YOLO11-L (detailed localization)</a:t>
                      </a:r>
                    </a:p>
                  </a:txBody>
                  <a:tcPr marL="57291" marR="57291" marT="28645" marB="28645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effectLst/>
                        </a:rPr>
                        <a:t>74.6</a:t>
                      </a:r>
                    </a:p>
                  </a:txBody>
                  <a:tcPr marL="57291" marR="57291" marT="28645" marB="28645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1.8 GB</a:t>
                      </a:r>
                    </a:p>
                  </a:txBody>
                  <a:tcPr marL="57291" marR="57291" marT="28645" marB="28645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effectLst/>
                        </a:rPr>
                        <a:t>350 </a:t>
                      </a:r>
                      <a:r>
                        <a:rPr lang="en-US" sz="1800" dirty="0" err="1">
                          <a:effectLst/>
                        </a:rPr>
                        <a:t>ms</a:t>
                      </a:r>
                      <a:endParaRPr lang="en-US" sz="1800" dirty="0">
                        <a:effectLst/>
                      </a:endParaRPr>
                    </a:p>
                  </a:txBody>
                  <a:tcPr marL="57291" marR="57291" marT="28645" marB="28645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effectLst/>
                        </a:rPr>
                        <a:t>Executed only for abnormal cases to preserve compute budget.</a:t>
                      </a:r>
                    </a:p>
                  </a:txBody>
                  <a:tcPr marL="57291" marR="57291" marT="28645" marB="28645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179459"/>
                  </a:ext>
                </a:extLst>
              </a:tr>
              <a:tr h="106160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Staged Pipeline (typical)</a:t>
                      </a:r>
                    </a:p>
                  </a:txBody>
                  <a:tcPr marL="57291" marR="57291" marT="28645" marB="28645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</a:rPr>
                        <a:t>15.4 (+74.6 if localized)</a:t>
                      </a:r>
                    </a:p>
                  </a:txBody>
                  <a:tcPr marL="57291" marR="57291" marT="28645" marB="28645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effectLst/>
                        </a:rPr>
                        <a:t>0.9–1.8 GB</a:t>
                      </a:r>
                    </a:p>
                  </a:txBody>
                  <a:tcPr marL="57291" marR="57291" marT="28645" marB="28645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effectLst/>
                        </a:rPr>
                        <a:t>120 </a:t>
                      </a:r>
                      <a:r>
                        <a:rPr lang="en-US" sz="1800" dirty="0" err="1">
                          <a:effectLst/>
                        </a:rPr>
                        <a:t>ms</a:t>
                      </a:r>
                      <a:r>
                        <a:rPr lang="en-US" sz="1800" dirty="0">
                          <a:effectLst/>
                        </a:rPr>
                        <a:t> (screening); +350 </a:t>
                      </a:r>
                      <a:r>
                        <a:rPr lang="en-US" sz="1800" dirty="0" err="1">
                          <a:effectLst/>
                        </a:rPr>
                        <a:t>ms</a:t>
                      </a:r>
                      <a:r>
                        <a:rPr lang="en-US" sz="1800" dirty="0">
                          <a:effectLst/>
                        </a:rPr>
                        <a:t> if localization invoked</a:t>
                      </a:r>
                    </a:p>
                  </a:txBody>
                  <a:tcPr marL="57291" marR="57291" marT="28645" marB="28645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effectLst/>
                        </a:rPr>
                        <a:t>Staging reduces average computation and supports practical CPU deployment.</a:t>
                      </a:r>
                    </a:p>
                  </a:txBody>
                  <a:tcPr marL="57291" marR="57291" marT="28645" marB="28645">
                    <a:lnL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98857"/>
                  </a:ext>
                </a:extLst>
              </a:tr>
            </a:tbl>
          </a:graphicData>
        </a:graphic>
      </p:graphicFrame>
      <p:sp>
        <p:nvSpPr>
          <p:cNvPr id="37" name="Rectangle 1">
            <a:extLst>
              <a:ext uri="{FF2B5EF4-FFF2-40B4-BE49-F238E27FC236}">
                <a16:creationId xmlns:a16="http://schemas.microsoft.com/office/drawing/2014/main" id="{D87F14CD-9C4E-DC5C-9952-8B5926387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9713" y="1600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7B5E0-5ABE-3A37-FE45-9E69A059D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E988483-F422-35CD-8D5E-ECDAA4CEE7A3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FF8C22-5FA9-D215-E42F-CB494B3BA398}"/>
              </a:ext>
            </a:extLst>
          </p:cNvPr>
          <p:cNvSpPr txBox="1"/>
          <p:nvPr/>
        </p:nvSpPr>
        <p:spPr>
          <a:xfrm>
            <a:off x="530352" y="269748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700" b="1" i="0" dirty="0">
                <a:solidFill>
                  <a:srgbClr val="12243A"/>
                </a:solidFill>
              </a:rPr>
              <a:t>Error Analysis</a:t>
            </a:r>
            <a:endParaRPr sz="2700" b="1" i="0" dirty="0">
              <a:solidFill>
                <a:srgbClr val="12243A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AA7BCCA-381C-F51E-85D5-1A7FB417218C}"/>
              </a:ext>
            </a:extLst>
          </p:cNvPr>
          <p:cNvSpPr/>
          <p:nvPr/>
        </p:nvSpPr>
        <p:spPr>
          <a:xfrm>
            <a:off x="530352" y="6419088"/>
            <a:ext cx="11109960" cy="9144"/>
          </a:xfrm>
          <a:prstGeom prst="rect">
            <a:avLst/>
          </a:prstGeom>
          <a:solidFill>
            <a:srgbClr val="D3D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C42672-F006-6785-C3D2-ACB6EB59C992}"/>
              </a:ext>
            </a:extLst>
          </p:cNvPr>
          <p:cNvSpPr txBox="1"/>
          <p:nvPr/>
        </p:nvSpPr>
        <p:spPr>
          <a:xfrm>
            <a:off x="548640" y="6455664"/>
            <a:ext cx="8503920" cy="2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 dirty="0">
                <a:solidFill>
                  <a:srgbClr val="626C78"/>
                </a:solidFill>
              </a:rPr>
              <a:t>MIRASOL • MICCAI 2026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02AC645-549D-D9B6-7190-B7737312D1D5}"/>
              </a:ext>
            </a:extLst>
          </p:cNvPr>
          <p:cNvSpPr txBox="1"/>
          <p:nvPr/>
        </p:nvSpPr>
        <p:spPr>
          <a:xfrm>
            <a:off x="10927080" y="6437376"/>
            <a:ext cx="5029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 dirty="0">
                <a:solidFill>
                  <a:srgbClr val="12243A"/>
                </a:solidFill>
              </a:rPr>
              <a:t>2</a:t>
            </a:r>
            <a:r>
              <a:rPr lang="en-US" sz="800" b="1" i="0" dirty="0">
                <a:solidFill>
                  <a:srgbClr val="12243A"/>
                </a:solidFill>
              </a:rPr>
              <a:t>5</a:t>
            </a:r>
            <a:endParaRPr sz="800" b="1" i="0" dirty="0">
              <a:solidFill>
                <a:srgbClr val="12243A"/>
              </a:solidFill>
            </a:endParaRPr>
          </a:p>
        </p:txBody>
      </p:sp>
      <p:sp>
        <p:nvSpPr>
          <p:cNvPr id="37" name="Rectangle 1">
            <a:extLst>
              <a:ext uri="{FF2B5EF4-FFF2-40B4-BE49-F238E27FC236}">
                <a16:creationId xmlns:a16="http://schemas.microsoft.com/office/drawing/2014/main" id="{2F29731F-3FED-7972-F703-361306FBE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9713" y="1600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0A29AB-D538-41C5-8A99-8CFB5157C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427" y="746754"/>
            <a:ext cx="9025146" cy="536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1292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700" b="1" i="0" dirty="0">
                <a:solidFill>
                  <a:srgbClr val="12243A"/>
                </a:solidFill>
              </a:rPr>
              <a:t>Discu</a:t>
            </a:r>
            <a:r>
              <a:rPr sz="2700" b="1" i="0" dirty="0">
                <a:solidFill>
                  <a:srgbClr val="12243A"/>
                </a:solidFill>
              </a:rPr>
              <a:t>ssion, Limitations &amp; Future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3429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399031"/>
            <a:ext cx="3118104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i="0" dirty="0">
                <a:solidFill>
                  <a:srgbClr val="12243A"/>
                </a:solidFill>
              </a:rPr>
              <a:t>What this study demonstrates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792224"/>
            <a:ext cx="3118104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 dirty="0">
                <a:solidFill>
                  <a:srgbClr val="2B323B"/>
                </a:solidFill>
              </a:rPr>
              <a:t>• Sensitivity-oriented image triage
• Fine-grained lesion localization
• XAI alignment with pathology
• Compute-aware routing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280160"/>
            <a:ext cx="3429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35424" y="1399031"/>
            <a:ext cx="3118104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i="0" dirty="0">
                <a:solidFill>
                  <a:srgbClr val="12243A"/>
                </a:solidFill>
              </a:rPr>
              <a:t>Limitations reported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1792224"/>
            <a:ext cx="3118104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 dirty="0">
                <a:solidFill>
                  <a:srgbClr val="2B323B"/>
                </a:solidFill>
              </a:rPr>
              <a:t>• Single-source dataset
• Rare categories remain difficult
• No longitudinal patient data
• External validation still needed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280160"/>
            <a:ext cx="3429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1365099"/>
            <a:ext cx="3118104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i="0" dirty="0">
                <a:solidFill>
                  <a:srgbClr val="12243A"/>
                </a:solidFill>
              </a:rPr>
              <a:t>Future work reported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792224"/>
            <a:ext cx="3118104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 dirty="0">
                <a:solidFill>
                  <a:srgbClr val="2B323B"/>
                </a:solidFill>
              </a:rPr>
              <a:t>• Multi-center validation
• Better rare-lesion coverage
• Longitudinal radiographic analysis
• Broader deployment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149842"/>
            <a:ext cx="2593848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 dirty="0">
                <a:solidFill>
                  <a:srgbClr val="1F848B"/>
                </a:solidFill>
              </a:rPr>
              <a:t>Important framing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4677293"/>
            <a:ext cx="10725912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b="1" dirty="0">
                <a:solidFill>
                  <a:srgbClr val="12243A"/>
                </a:solidFill>
              </a:rPr>
              <a:t>Our study</a:t>
            </a:r>
            <a:r>
              <a:rPr b="1" i="0" dirty="0">
                <a:solidFill>
                  <a:srgbClr val="12243A"/>
                </a:solidFill>
              </a:rPr>
              <a:t> proposes a screening / localization framework for spinal X-rays. It does not claim to replace MRI or clinical diagnosis.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6419088"/>
            <a:ext cx="11109960" cy="9144"/>
          </a:xfrm>
          <a:prstGeom prst="rect">
            <a:avLst/>
          </a:prstGeom>
          <a:solidFill>
            <a:srgbClr val="D3D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6455664"/>
            <a:ext cx="8503920" cy="2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 dirty="0">
                <a:solidFill>
                  <a:srgbClr val="626C78"/>
                </a:solidFill>
              </a:rPr>
              <a:t>MIRASOL • MICCAI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27080" y="6437376"/>
            <a:ext cx="5029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800" b="1" i="0" dirty="0">
                <a:solidFill>
                  <a:srgbClr val="12243A"/>
                </a:solidFill>
              </a:rPr>
              <a:t>26</a:t>
            </a:r>
            <a:endParaRPr sz="800" b="1" i="0" dirty="0">
              <a:solidFill>
                <a:srgbClr val="12243A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77724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 dirty="0">
                <a:solidFill>
                  <a:srgbClr val="12243A"/>
                </a:solidFill>
              </a:rPr>
              <a:t>Conclusion &amp; Key Takeaways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6419088"/>
            <a:ext cx="11109960" cy="9144"/>
          </a:xfrm>
          <a:prstGeom prst="rect">
            <a:avLst/>
          </a:prstGeom>
          <a:solidFill>
            <a:srgbClr val="D3D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8503920" cy="2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 dirty="0">
                <a:solidFill>
                  <a:srgbClr val="626C78"/>
                </a:solidFill>
              </a:rPr>
              <a:t>MIRASOL • MICCAI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7080" y="6437376"/>
            <a:ext cx="5029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 dirty="0">
                <a:solidFill>
                  <a:srgbClr val="12243A"/>
                </a:solidFill>
              </a:rPr>
              <a:t>2</a:t>
            </a:r>
            <a:r>
              <a:rPr lang="en-US" sz="800" b="1" dirty="0">
                <a:solidFill>
                  <a:srgbClr val="12243A"/>
                </a:solidFill>
              </a:rPr>
              <a:t>7</a:t>
            </a:r>
            <a:endParaRPr sz="800" b="1" i="0" dirty="0">
              <a:solidFill>
                <a:srgbClr val="12243A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D687B2-AD69-0725-42C4-3C97A8B0F86F}"/>
              </a:ext>
            </a:extLst>
          </p:cNvPr>
          <p:cNvSpPr txBox="1"/>
          <p:nvPr/>
        </p:nvSpPr>
        <p:spPr>
          <a:xfrm>
            <a:off x="795528" y="1792224"/>
            <a:ext cx="9537192" cy="32726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algn="just" rtl="0" eaLnBrk="1" latinLnBrk="0" hangingPunct="1">
              <a:spcBef>
                <a:spcPts val="0"/>
              </a:spcBef>
              <a:spcAft>
                <a:spcPts val="800"/>
              </a:spcAft>
            </a:pPr>
            <a:r>
              <a:rPr lang="en-US" sz="2000" kern="1200" dirty="0">
                <a:solidFill>
                  <a:srgbClr val="2B323B"/>
                </a:solidFill>
                <a:effectLst/>
                <a:ea typeface="+mn-ea"/>
                <a:cs typeface="+mn-cs"/>
              </a:rPr>
              <a:t>• </a:t>
            </a:r>
            <a:r>
              <a:rPr lang="en-US" sz="2000" kern="1200" dirty="0" err="1">
                <a:solidFill>
                  <a:srgbClr val="2B323B"/>
                </a:solidFill>
                <a:effectLst/>
                <a:ea typeface="+mn-ea"/>
                <a:cs typeface="+mn-cs"/>
              </a:rPr>
              <a:t>DERNet</a:t>
            </a:r>
            <a:r>
              <a:rPr lang="en-US" sz="2000" kern="1200" dirty="0">
                <a:solidFill>
                  <a:srgbClr val="2B323B"/>
                </a:solidFill>
                <a:effectLst/>
                <a:ea typeface="+mn-ea"/>
                <a:cs typeface="+mn-cs"/>
              </a:rPr>
              <a:t> provides a high-sensitivity image-level gate using complementary DenseNet121, EfficientNetV2-S, and ResNet50 models.</a:t>
            </a:r>
            <a:endParaRPr lang="en-US" sz="2000" dirty="0">
              <a:effectLst/>
            </a:endParaRPr>
          </a:p>
          <a:p>
            <a:pPr marL="0" algn="just" rtl="0" eaLnBrk="1" latinLnBrk="0" hangingPunct="1">
              <a:spcBef>
                <a:spcPts val="0"/>
              </a:spcBef>
              <a:spcAft>
                <a:spcPts val="800"/>
              </a:spcAft>
            </a:pPr>
            <a:r>
              <a:rPr lang="en-US" sz="2000" kern="1200" dirty="0">
                <a:solidFill>
                  <a:srgbClr val="2B323B"/>
                </a:solidFill>
                <a:effectLst/>
                <a:ea typeface="+mn-ea"/>
                <a:cs typeface="+mn-cs"/>
              </a:rPr>
              <a:t>• Customized YOLO11-L performs fine-grained multi-scale localization after abnormal routing.</a:t>
            </a:r>
            <a:endParaRPr lang="en-US" sz="2000" dirty="0">
              <a:effectLst/>
            </a:endParaRPr>
          </a:p>
          <a:p>
            <a:pPr marL="0" algn="just" rtl="0" eaLnBrk="1" latinLnBrk="0" hangingPunct="1">
              <a:spcBef>
                <a:spcPts val="0"/>
              </a:spcBef>
              <a:spcAft>
                <a:spcPts val="800"/>
              </a:spcAft>
            </a:pPr>
            <a:r>
              <a:rPr lang="en-US" sz="2000" kern="1200" dirty="0">
                <a:solidFill>
                  <a:srgbClr val="2B323B"/>
                </a:solidFill>
                <a:effectLst/>
                <a:ea typeface="+mn-ea"/>
                <a:cs typeface="+mn-cs"/>
              </a:rPr>
              <a:t>• Focal loss and 20% copy-paste augmentation address the severe lesion imbalance.</a:t>
            </a:r>
            <a:endParaRPr lang="en-US" sz="2000" dirty="0">
              <a:effectLst/>
            </a:endParaRPr>
          </a:p>
          <a:p>
            <a:pPr marL="0" algn="just" rtl="0" eaLnBrk="1" latinLnBrk="0" hangingPunct="1">
              <a:spcBef>
                <a:spcPts val="0"/>
              </a:spcBef>
              <a:spcAft>
                <a:spcPts val="800"/>
              </a:spcAft>
            </a:pPr>
            <a:r>
              <a:rPr lang="en-US" sz="2000" kern="1200" dirty="0">
                <a:solidFill>
                  <a:srgbClr val="2B323B"/>
                </a:solidFill>
                <a:effectLst/>
                <a:ea typeface="+mn-ea"/>
                <a:cs typeface="+mn-cs"/>
              </a:rPr>
              <a:t>• Saliency Map, Grad-CAM, and LIME provide complementary evidence that model attention aligns with spinal pathology.</a:t>
            </a:r>
            <a:endParaRPr lang="en-US" sz="2000" dirty="0">
              <a:effectLst/>
            </a:endParaRPr>
          </a:p>
          <a:p>
            <a:pPr marL="0" algn="just" rtl="0" eaLnBrk="1" latinLnBrk="0" hangingPunct="1">
              <a:spcBef>
                <a:spcPts val="0"/>
              </a:spcBef>
              <a:spcAft>
                <a:spcPts val="800"/>
              </a:spcAft>
            </a:pPr>
            <a:r>
              <a:rPr lang="en-US" sz="2000" kern="1200" dirty="0">
                <a:solidFill>
                  <a:srgbClr val="2B323B"/>
                </a:solidFill>
                <a:effectLst/>
                <a:ea typeface="+mn-ea"/>
                <a:cs typeface="+mn-cs"/>
              </a:rPr>
              <a:t>• The staged design allocates expensive computation only where detailed localization is required.</a:t>
            </a:r>
            <a:endParaRPr lang="en-US" sz="2000" dirty="0">
              <a:effectLst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98BE7-2531-F30F-B3CB-04C95811E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ACDB28-827A-3242-A26A-1061F826DF40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8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517BC8-8535-3CE8-2796-5FD12C1B5C57}"/>
              </a:ext>
            </a:extLst>
          </p:cNvPr>
          <p:cNvSpPr/>
          <p:nvPr/>
        </p:nvSpPr>
        <p:spPr>
          <a:xfrm>
            <a:off x="530352" y="6419088"/>
            <a:ext cx="11109960" cy="9144"/>
          </a:xfrm>
          <a:prstGeom prst="rect">
            <a:avLst/>
          </a:prstGeom>
          <a:solidFill>
            <a:srgbClr val="D3D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6DCB01-F8C3-6117-B371-2BB347473937}"/>
              </a:ext>
            </a:extLst>
          </p:cNvPr>
          <p:cNvSpPr txBox="1"/>
          <p:nvPr/>
        </p:nvSpPr>
        <p:spPr>
          <a:xfrm>
            <a:off x="548640" y="6455664"/>
            <a:ext cx="8503920" cy="2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 dirty="0">
                <a:solidFill>
                  <a:srgbClr val="626C78"/>
                </a:solidFill>
              </a:rPr>
              <a:t>MIRASOL • MICCAI 2026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492E2F-2DA7-BBAD-6374-46B81EB8225C}"/>
              </a:ext>
            </a:extLst>
          </p:cNvPr>
          <p:cNvSpPr txBox="1"/>
          <p:nvPr/>
        </p:nvSpPr>
        <p:spPr>
          <a:xfrm>
            <a:off x="10927080" y="6437376"/>
            <a:ext cx="5029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 dirty="0">
                <a:solidFill>
                  <a:srgbClr val="12243A"/>
                </a:solidFill>
              </a:rPr>
              <a:t>2</a:t>
            </a:r>
            <a:r>
              <a:rPr lang="en-US" sz="800" b="1" i="0" dirty="0">
                <a:solidFill>
                  <a:srgbClr val="12243A"/>
                </a:solidFill>
              </a:rPr>
              <a:t>8</a:t>
            </a:r>
            <a:endParaRPr sz="800" b="1" i="0" dirty="0">
              <a:solidFill>
                <a:srgbClr val="12243A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255B28-D3D7-3868-5EA7-D8C290CB13D4}"/>
              </a:ext>
            </a:extLst>
          </p:cNvPr>
          <p:cNvSpPr txBox="1"/>
          <p:nvPr/>
        </p:nvSpPr>
        <p:spPr>
          <a:xfrm>
            <a:off x="1386840" y="1767840"/>
            <a:ext cx="954024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4000" b="1" i="0" dirty="0">
                <a:solidFill>
                  <a:srgbClr val="12243A"/>
                </a:solidFill>
              </a:rPr>
              <a:t>Thank You</a:t>
            </a:r>
            <a:endParaRPr sz="4000" b="1" i="0" dirty="0">
              <a:solidFill>
                <a:srgbClr val="12243A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AB32B6-EDA2-BB23-96AC-48EB95305A00}"/>
              </a:ext>
            </a:extLst>
          </p:cNvPr>
          <p:cNvSpPr txBox="1"/>
          <p:nvPr/>
        </p:nvSpPr>
        <p:spPr>
          <a:xfrm>
            <a:off x="1386840" y="2503158"/>
            <a:ext cx="736092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3200" b="1" i="0" dirty="0">
                <a:solidFill>
                  <a:schemeClr val="accent1"/>
                </a:solidFill>
              </a:rPr>
              <a:t>Pamela Ma’am</a:t>
            </a:r>
            <a:endParaRPr sz="3200" b="1" i="0" dirty="0">
              <a:solidFill>
                <a:schemeClr val="accent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5A2A15-F4E5-646D-9162-58B5C86CAA64}"/>
              </a:ext>
            </a:extLst>
          </p:cNvPr>
          <p:cNvSpPr txBox="1"/>
          <p:nvPr/>
        </p:nvSpPr>
        <p:spPr>
          <a:xfrm>
            <a:off x="1386840" y="3369958"/>
            <a:ext cx="1004316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000" i="0" dirty="0"/>
              <a:t>Thank you for your time, attention, valuable guidance,</a:t>
            </a:r>
          </a:p>
          <a:p>
            <a:pPr algn="l"/>
            <a:r>
              <a:rPr lang="en-US" sz="2000" dirty="0"/>
              <a:t>and for agreeing to present our work at MIRASOL.</a:t>
            </a:r>
            <a:endParaRPr sz="2000" i="0" dirty="0"/>
          </a:p>
        </p:txBody>
      </p:sp>
    </p:spTree>
    <p:extLst>
      <p:ext uri="{BB962C8B-B14F-4D97-AF65-F5344CB8AC3E}">
        <p14:creationId xmlns:p14="http://schemas.microsoft.com/office/powerpoint/2010/main" val="2229689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</TotalTime>
  <Words>2804</Words>
  <Application>Microsoft Office PowerPoint</Application>
  <PresentationFormat>Widescreen</PresentationFormat>
  <Paragraphs>559</Paragraphs>
  <Slides>28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Cambria Math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Prosenjit mondol</cp:lastModifiedBy>
  <cp:revision>33</cp:revision>
  <dcterms:created xsi:type="dcterms:W3CDTF">2013-01-27T09:14:16Z</dcterms:created>
  <dcterms:modified xsi:type="dcterms:W3CDTF">2026-09-19T18:10:22Z</dcterms:modified>
  <cp:category/>
</cp:coreProperties>
</file>