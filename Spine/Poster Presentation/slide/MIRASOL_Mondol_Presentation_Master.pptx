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06" autoAdjust="0"/>
  </p:normalViewPr>
  <p:slideViewPr>
    <p:cSldViewPr snapToGrid="0" snapToObjects="1">
      <p:cViewPr varScale="1">
        <p:scale>
          <a:sx n="47" d="100"/>
          <a:sy n="47" d="100"/>
        </p:scale>
        <p:origin x="53" y="5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2232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Dr. Guevara! Thank you so much for meeting today. Our research addresses a vital clinical problem in resource-constrained clinics: how to transform standard, accessible 2D X-rays into a reliable, compute-efficient triage filter so that scarce MRI capacity is preserved strictly for critical spinal cases.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 Guevara, with your deep background in MRI physics, you know how prohibitive scanner access can be. In developing areas, 2D X-rays are ubiquitous, but visual superposition makes subtle lesions easy to miss. Our goal is to give clinicians an automated, reliable gatekeeper that maximizes 2D X-ray utility.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distribution exposes a massive engineering challenge: a 46.9:1 class skew. Osteophytes represent 82% of all bounding boxes, whereas vertebral collapse is just 1.8%. If a monolithic model is trained naively, it simply predicts osteophytes and ignores rare pathologies.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core thesis of the paper: structural decoupling. Rather than forcing a monolithic detector to perform screening and localization simultaneously, we decouple the pipeline: DERNet screens everyone quickly with high sensitivity, and only abnormal studies trigger the computationally heavier YOLO11-L detector.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radiograph processing, scanner variability is notorious. We use CLAHE with an 8x8 tile grid and a clip limit of 2.0. The clip limit is critical: it prevents over-amplifying noise in dense bone while sharpening subtle lesion edges.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DERNet synergizes three complementary inductive biases: DenseNet brings textural sensitivity for marginal bone spurs; EfficientNetV2-S is our specificity anchor to suppress false positives; and ResNet50 acts as our recall fail-safe against catastrophic fractures.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calibrated the triage gate systematically: grid search identified tau* = 0.4787 as the optimal threshold maximizing the 5-fold cross-validation F1-score. Any study scoring above 0.4787 is routed to YOLO11-L; all others exit immediately as normal.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Table 1 benchmarks DERNet against published baselines. Notice how individual backbones exhibit distinct trade-offs: EfficientNetV2-S has high specificity (91.12%) but lower sensitivity (70.80%). Our weighted soft voting harmonizes them, achieving 91.03% AUROC and 83.09% F1.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Stage 2, we customized YOLO11-L with C2PSA spatial attention and PANet feature fusion. The 80x80 spatial head is essential: it gives us fine spatial granularity to bound tiny lesions that occupy less than 0.25% of the field of view.</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counter the 46.9:1 skew, we tuned the focal loss (gamma=2.0, alpha=0.25) and applied 20% copy-paste augmentation. Our ablation shows this copy-paste step delivers an immediate +2.40% jump in mAP@0.5, lifting performance from 37.7% to 40.10%.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Table 2 is the core localization benchmark from the camera-ready paper. Our customized YOLO11-L achieves 40.10% mAP@0.5, outperforming RetinaNet, Faster R-CNN, Sparse R-CNN, and EGCA-Net. Notice how strongly it performs on subtle classes like Foraminal Stenosis (41.40%) and Spondylolisthesis (54.80%).</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medical AI, high metrics alone do not build clinical trust. We introduced quantitative X-IoU to measure overlap between heatmaps and expert radiologist boxes. Achieving 0.61 on Saliency and 0.64 on Grad-CAM proves our pipeline looks at true cortical margins and lesion sites.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someone who optimizes C and C++ algorithms for compute efficiency, Dr. Guevara, you will appreciate this: by running DERNet at just 15.4 GFLOPs, normal cases exit in 120 milliseconds. The 74.6 GFLOP detector only runs on flagged abnormalities. That is why it runs smoothly on standard clinic CPUs.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so much, Dr. Guevara! That concludes our technical overview. How did that flow feel to you? Do you feel the narrative comes across clearly for the attendees in Strasbourg? I would love to answer any questions or hear your suggestions.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914400"/>
            <a:ext cx="10362895" cy="2286000"/>
          </a:xfrm>
          <a:prstGeom prst="rect">
            <a:avLst/>
          </a:prstGeom>
          <a:noFill/>
        </p:spPr>
        <p:txBody>
          <a:bodyPr wrap="square">
            <a:spAutoFit/>
          </a:bodyPr>
          <a:lstStyle/>
          <a:p>
            <a:pPr>
              <a:defRPr sz="1300" b="1">
                <a:solidFill>
                  <a:srgbClr val="0EA5E9"/>
                </a:solidFill>
              </a:defRPr>
            </a:pPr>
            <a:r>
              <a:t>MICCAI 2026 • 3RD MIRASOL WORKSHOP (SUBMISSION #74)</a:t>
            </a:r>
          </a:p>
          <a:p>
            <a:pPr>
              <a:defRPr sz="2800" b="1">
                <a:solidFill>
                  <a:srgbClr val="FFFFFF"/>
                </a:solidFill>
              </a:defRPr>
            </a:pPr>
            <a:r>
              <a:t>A Sensitivity-Gated Cascade for Compute-Efficient</a:t>
            </a:r>
            <a:br/>
            <a:r>
              <a:t>Spinal Lesion Detection in Resource-Constrained Settings</a:t>
            </a:r>
          </a:p>
          <a:p>
            <a:br/>
            <a:r>
              <a:t>Prosenjit Mondol¹  •  Samrat Kumar Dey²  •  Arpita Howlader¹</a:t>
            </a:r>
            <a:br/>
            <a:r>
              <a:t>¹Faculty of CSE, Patuakhali Science and Technology University  •  ²Bangladesh Open University</a:t>
            </a:r>
          </a:p>
        </p:txBody>
      </p:sp>
      <p:sp>
        <p:nvSpPr>
          <p:cNvPr id="4" name="Rounded Rectangle 3"/>
          <p:cNvSpPr/>
          <p:nvPr/>
        </p:nvSpPr>
        <p:spPr>
          <a:xfrm>
            <a:off x="914400" y="4114800"/>
            <a:ext cx="3108960" cy="1645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4224528"/>
            <a:ext cx="2834640" cy="1426464"/>
          </a:xfrm>
          <a:prstGeom prst="rect">
            <a:avLst/>
          </a:prstGeom>
          <a:noFill/>
        </p:spPr>
        <p:txBody>
          <a:bodyPr wrap="square">
            <a:spAutoFit/>
          </a:bodyPr>
          <a:lstStyle/>
          <a:p>
            <a:pPr>
              <a:defRPr sz="2600" b="1">
                <a:solidFill>
                  <a:srgbClr val="0EA5E9"/>
                </a:solidFill>
                <a:latin typeface="Calibri"/>
              </a:defRPr>
            </a:pPr>
            <a:r>
              <a:t>91.03%</a:t>
            </a:r>
          </a:p>
          <a:p>
            <a:pPr>
              <a:defRPr sz="1200" b="1">
                <a:solidFill>
                  <a:srgbClr val="0F172A"/>
                </a:solidFill>
                <a:latin typeface="Calibri"/>
              </a:defRPr>
            </a:pPr>
            <a:r>
              <a:t>Screening AUROC</a:t>
            </a:r>
          </a:p>
          <a:p>
            <a:pPr>
              <a:defRPr sz="1000">
                <a:solidFill>
                  <a:srgbClr val="64748B"/>
                </a:solidFill>
                <a:latin typeface="Calibri"/>
              </a:defRPr>
            </a:pPr>
            <a:r>
              <a:t>DERNet binary triage gate</a:t>
            </a:r>
          </a:p>
        </p:txBody>
      </p:sp>
      <p:sp>
        <p:nvSpPr>
          <p:cNvPr id="6" name="Rounded Rectangle 5"/>
          <p:cNvSpPr/>
          <p:nvPr/>
        </p:nvSpPr>
        <p:spPr>
          <a:xfrm>
            <a:off x="4480560" y="4114800"/>
            <a:ext cx="3108960" cy="1645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17720" y="4224528"/>
            <a:ext cx="2834640" cy="1426464"/>
          </a:xfrm>
          <a:prstGeom prst="rect">
            <a:avLst/>
          </a:prstGeom>
          <a:noFill/>
        </p:spPr>
        <p:txBody>
          <a:bodyPr wrap="square">
            <a:spAutoFit/>
          </a:bodyPr>
          <a:lstStyle/>
          <a:p>
            <a:pPr>
              <a:defRPr sz="2600" b="1">
                <a:solidFill>
                  <a:srgbClr val="1E3A8A"/>
                </a:solidFill>
                <a:latin typeface="Calibri"/>
              </a:defRPr>
            </a:pPr>
            <a:r>
              <a:t>40.10%</a:t>
            </a:r>
          </a:p>
          <a:p>
            <a:pPr>
              <a:defRPr sz="1200" b="1">
                <a:solidFill>
                  <a:srgbClr val="0F172A"/>
                </a:solidFill>
                <a:latin typeface="Calibri"/>
              </a:defRPr>
            </a:pPr>
            <a:r>
              <a:t>Detection mAP@0.5</a:t>
            </a:r>
          </a:p>
          <a:p>
            <a:pPr>
              <a:defRPr sz="1000">
                <a:solidFill>
                  <a:srgbClr val="64748B"/>
                </a:solidFill>
                <a:latin typeface="Calibri"/>
              </a:defRPr>
            </a:pPr>
            <a:r>
              <a:t>Customized YOLO11-L detector</a:t>
            </a:r>
          </a:p>
        </p:txBody>
      </p:sp>
      <p:sp>
        <p:nvSpPr>
          <p:cNvPr id="8" name="Rounded Rectangle 7"/>
          <p:cNvSpPr/>
          <p:nvPr/>
        </p:nvSpPr>
        <p:spPr>
          <a:xfrm>
            <a:off x="8046720" y="4114800"/>
            <a:ext cx="3200400" cy="1645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83880" y="4224528"/>
            <a:ext cx="2926080" cy="1426464"/>
          </a:xfrm>
          <a:prstGeom prst="rect">
            <a:avLst/>
          </a:prstGeom>
          <a:noFill/>
        </p:spPr>
        <p:txBody>
          <a:bodyPr wrap="square">
            <a:spAutoFit/>
          </a:bodyPr>
          <a:lstStyle/>
          <a:p>
            <a:pPr>
              <a:defRPr sz="2600" b="1">
                <a:solidFill>
                  <a:srgbClr val="10B981"/>
                </a:solidFill>
                <a:latin typeface="Calibri"/>
              </a:defRPr>
            </a:pPr>
            <a:r>
              <a:t>15.4 GFLOPs</a:t>
            </a:r>
          </a:p>
          <a:p>
            <a:pPr>
              <a:defRPr sz="1200" b="1">
                <a:solidFill>
                  <a:srgbClr val="0F172A"/>
                </a:solidFill>
                <a:latin typeface="Calibri"/>
              </a:defRPr>
            </a:pPr>
            <a:r>
              <a:t>CPU Screening Cost</a:t>
            </a:r>
          </a:p>
          <a:p>
            <a:pPr>
              <a:defRPr sz="1000">
                <a:solidFill>
                  <a:srgbClr val="64748B"/>
                </a:solidFill>
                <a:latin typeface="Calibri"/>
              </a:defRPr>
            </a:pPr>
            <a:r>
              <a:t>120 ms latency; protects MRI slots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CLINICAL SETTING</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Clinical Background: The 2D Spinal Radiograph Dilemma</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02</a:t>
            </a:r>
          </a:p>
        </p:txBody>
      </p:sp>
      <p:sp>
        <p:nvSpPr>
          <p:cNvPr id="5" name="Rounded Rectangle 4"/>
          <p:cNvSpPr/>
          <p:nvPr/>
        </p:nvSpPr>
        <p:spPr>
          <a:xfrm>
            <a:off x="731520" y="146304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754880" cy="4206240"/>
          </a:xfrm>
          <a:prstGeom prst="rect">
            <a:avLst/>
          </a:prstGeom>
          <a:noFill/>
        </p:spPr>
        <p:txBody>
          <a:bodyPr wrap="square">
            <a:spAutoFit/>
          </a:bodyPr>
          <a:lstStyle/>
          <a:p>
            <a:pPr>
              <a:defRPr sz="1600" b="1">
                <a:solidFill>
                  <a:srgbClr val="1E3A8A"/>
                </a:solidFill>
              </a:defRPr>
            </a:pPr>
            <a:r>
              <a:t>Anatomical Superposition in 2D Space</a:t>
            </a:r>
          </a:p>
          <a:p>
            <a:pPr>
              <a:defRPr sz="1300">
                <a:solidFill>
                  <a:srgbClr val="0F172A"/>
                </a:solidFill>
              </a:defRPr>
            </a:pPr>
            <a:r>
              <a:t>• Complex 3D bone geometry is compressed into a flat 2D projection, masking micro-structural changes.</a:t>
            </a:r>
          </a:p>
          <a:p>
            <a:pPr>
              <a:defRPr sz="1300">
                <a:solidFill>
                  <a:srgbClr val="0F172A"/>
                </a:solidFill>
              </a:defRPr>
            </a:pPr>
            <a:r>
              <a:t>• Critical spinal pathologies (foraminal stenosis, disc narrowing) occupy tiny fractions of the image (&lt;1% FOV).</a:t>
            </a:r>
          </a:p>
          <a:p>
            <a:pPr>
              <a:defRPr sz="1300">
                <a:solidFill>
                  <a:srgbClr val="0F172A"/>
                </a:solidFill>
              </a:defRPr>
            </a:pPr>
            <a:r>
              <a:t>• High inter-observer variability among radiologists reading dense workloads.</a:t>
            </a:r>
          </a:p>
          <a:p>
            <a:pPr>
              <a:defRPr sz="1300">
                <a:solidFill>
                  <a:srgbClr val="0F172A"/>
                </a:solidFill>
              </a:defRPr>
            </a:pPr>
            <a:r>
              <a:t>• Delayed diagnosis elevates the risk of permanent, irreversible neurological sequelae.</a:t>
            </a:r>
          </a:p>
        </p:txBody>
      </p:sp>
      <p:sp>
        <p:nvSpPr>
          <p:cNvPr id="7" name="Rounded Rectangle 6"/>
          <p:cNvSpPr/>
          <p:nvPr/>
        </p:nvSpPr>
        <p:spPr>
          <a:xfrm>
            <a:off x="6217920" y="1463040"/>
            <a:ext cx="52120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645920"/>
            <a:ext cx="4846320" cy="4206240"/>
          </a:xfrm>
          <a:prstGeom prst="rect">
            <a:avLst/>
          </a:prstGeom>
          <a:noFill/>
        </p:spPr>
        <p:txBody>
          <a:bodyPr wrap="square">
            <a:spAutoFit/>
          </a:bodyPr>
          <a:lstStyle/>
          <a:p>
            <a:pPr>
              <a:defRPr sz="1600" b="1">
                <a:solidFill>
                  <a:srgbClr val="1E3A8A"/>
                </a:solidFill>
              </a:defRPr>
            </a:pPr>
            <a:r>
              <a:t>The Resource Gap in Rural &amp; Low-Income Clinics</a:t>
            </a:r>
          </a:p>
          <a:p>
            <a:pPr>
              <a:defRPr sz="1300">
                <a:solidFill>
                  <a:srgbClr val="0F172A"/>
                </a:solidFill>
              </a:defRPr>
            </a:pPr>
            <a:r>
              <a:t>• MRI is the clinical gold standard, but machines are geographically scarce and financially prohibitive.</a:t>
            </a:r>
          </a:p>
          <a:p>
            <a:pPr>
              <a:defRPr sz="1300">
                <a:solidFill>
                  <a:srgbClr val="0F172A"/>
                </a:solidFill>
              </a:defRPr>
            </a:pPr>
            <a:r>
              <a:t>• Standard 2D radiographs remain the primary accessible screening tool across district health centers.</a:t>
            </a:r>
          </a:p>
          <a:p>
            <a:pPr>
              <a:defRPr sz="1300">
                <a:solidFill>
                  <a:srgbClr val="0F172A"/>
                </a:solidFill>
              </a:defRPr>
            </a:pPr>
            <a:r>
              <a:t>• Rural clinics lack high-end GPU workstations needed to execute heavy neural networks.</a:t>
            </a:r>
          </a:p>
          <a:p>
            <a:pPr>
              <a:defRPr sz="1300">
                <a:solidFill>
                  <a:srgbClr val="0F172A"/>
                </a:solidFill>
              </a:defRPr>
            </a:pPr>
            <a:r>
              <a:t>• Urgent Need: A staged, CPU-executable AI system that filters normal studies upfront and prioritizes scarce MRI appointments.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BENCHMARK DATASET</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VinDr-SpineXR: Long-Tailed Distribution &amp; Imbalance</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03</a:t>
            </a:r>
          </a:p>
        </p:txBody>
      </p:sp>
      <p:sp>
        <p:nvSpPr>
          <p:cNvPr id="5" name="Rounded Rectangle 4"/>
          <p:cNvSpPr/>
          <p:nvPr/>
        </p:nvSpPr>
        <p:spPr>
          <a:xfrm>
            <a:off x="731520" y="1463040"/>
            <a:ext cx="329184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572768"/>
            <a:ext cx="3017520" cy="1060704"/>
          </a:xfrm>
          <a:prstGeom prst="rect">
            <a:avLst/>
          </a:prstGeom>
          <a:noFill/>
        </p:spPr>
        <p:txBody>
          <a:bodyPr wrap="square">
            <a:spAutoFit/>
          </a:bodyPr>
          <a:lstStyle/>
          <a:p>
            <a:pPr>
              <a:defRPr sz="2600" b="1">
                <a:solidFill>
                  <a:srgbClr val="0F172A"/>
                </a:solidFill>
                <a:latin typeface="Calibri"/>
              </a:defRPr>
            </a:pPr>
            <a:r>
              <a:t>10,466</a:t>
            </a:r>
          </a:p>
          <a:p>
            <a:pPr>
              <a:defRPr sz="1200" b="1">
                <a:solidFill>
                  <a:srgbClr val="0F172A"/>
                </a:solidFill>
                <a:latin typeface="Calibri"/>
              </a:defRPr>
            </a:pPr>
            <a:r>
              <a:t>Total Radiographs</a:t>
            </a:r>
          </a:p>
          <a:p>
            <a:pPr>
              <a:defRPr sz="1000">
                <a:solidFill>
                  <a:srgbClr val="64748B"/>
                </a:solidFill>
                <a:latin typeface="Calibri"/>
              </a:defRPr>
            </a:pPr>
            <a:r>
              <a:t>8,389 Train (5-Fold CV) | 2,077 Test</a:t>
            </a:r>
          </a:p>
        </p:txBody>
      </p:sp>
      <p:sp>
        <p:nvSpPr>
          <p:cNvPr id="7" name="Rounded Rectangle 6"/>
          <p:cNvSpPr/>
          <p:nvPr/>
        </p:nvSpPr>
        <p:spPr>
          <a:xfrm>
            <a:off x="4389120" y="1463040"/>
            <a:ext cx="329184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26280" y="1572768"/>
            <a:ext cx="3017520" cy="1060704"/>
          </a:xfrm>
          <a:prstGeom prst="rect">
            <a:avLst/>
          </a:prstGeom>
          <a:noFill/>
        </p:spPr>
        <p:txBody>
          <a:bodyPr wrap="square">
            <a:spAutoFit/>
          </a:bodyPr>
          <a:lstStyle/>
          <a:p>
            <a:pPr>
              <a:defRPr sz="2600" b="1">
                <a:solidFill>
                  <a:srgbClr val="F59E0B"/>
                </a:solidFill>
                <a:latin typeface="Calibri"/>
              </a:defRPr>
            </a:pPr>
            <a:r>
              <a:t>46.9 : 1</a:t>
            </a:r>
          </a:p>
          <a:p>
            <a:pPr>
              <a:defRPr sz="1200" b="1">
                <a:solidFill>
                  <a:srgbClr val="0F172A"/>
                </a:solidFill>
                <a:latin typeface="Calibri"/>
              </a:defRPr>
            </a:pPr>
            <a:r>
              <a:t>Imbalance Ratio</a:t>
            </a:r>
          </a:p>
          <a:p>
            <a:pPr>
              <a:defRPr sz="1000">
                <a:solidFill>
                  <a:srgbClr val="64748B"/>
                </a:solidFill>
                <a:latin typeface="Calibri"/>
              </a:defRPr>
            </a:pPr>
            <a:r>
              <a:t>Osteophytes (82.1%) vs Collapse (1.8%)</a:t>
            </a:r>
          </a:p>
        </p:txBody>
      </p:sp>
      <p:sp>
        <p:nvSpPr>
          <p:cNvPr id="9" name="Rounded Rectangle 8"/>
          <p:cNvSpPr/>
          <p:nvPr/>
        </p:nvSpPr>
        <p:spPr>
          <a:xfrm>
            <a:off x="8046720" y="1463040"/>
            <a:ext cx="338328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83880" y="1572768"/>
            <a:ext cx="3108960" cy="1060704"/>
          </a:xfrm>
          <a:prstGeom prst="rect">
            <a:avLst/>
          </a:prstGeom>
          <a:noFill/>
        </p:spPr>
        <p:txBody>
          <a:bodyPr wrap="square">
            <a:spAutoFit/>
          </a:bodyPr>
          <a:lstStyle/>
          <a:p>
            <a:pPr>
              <a:defRPr sz="2600" b="1">
                <a:solidFill>
                  <a:srgbClr val="1E3A8A"/>
                </a:solidFill>
                <a:latin typeface="Calibri"/>
              </a:defRPr>
            </a:pPr>
            <a:r>
              <a:t>&lt; 1% FOV</a:t>
            </a:r>
          </a:p>
          <a:p>
            <a:pPr>
              <a:defRPr sz="1200" b="1">
                <a:solidFill>
                  <a:srgbClr val="0F172A"/>
                </a:solidFill>
                <a:latin typeface="Calibri"/>
              </a:defRPr>
            </a:pPr>
            <a:r>
              <a:t>Minute Lesion Scale</a:t>
            </a:r>
          </a:p>
          <a:p>
            <a:pPr>
              <a:defRPr sz="1000">
                <a:solidFill>
                  <a:srgbClr val="64748B"/>
                </a:solidFill>
                <a:latin typeface="Calibri"/>
              </a:defRPr>
            </a:pPr>
            <a:r>
              <a:t>&lt;32×32 px on normalized 640×640 grid</a:t>
            </a:r>
          </a:p>
        </p:txBody>
      </p:sp>
      <p:graphicFrame>
        <p:nvGraphicFramePr>
          <p:cNvPr id="11" name="Table 10"/>
          <p:cNvGraphicFramePr>
            <a:graphicFrameLocks noGrp="1"/>
          </p:cNvGraphicFramePr>
          <p:nvPr/>
        </p:nvGraphicFramePr>
        <p:xfrm>
          <a:off x="731520" y="3017520"/>
          <a:ext cx="10698480" cy="3108960"/>
        </p:xfrm>
        <a:graphic>
          <a:graphicData uri="http://schemas.openxmlformats.org/drawingml/2006/table">
            <a:tbl>
              <a:tblPr firstRow="1" bandRow="1">
                <a:tableStyleId>{5C22544A-7EE6-4342-B048-85BDC9FD1C3A}</a:tableStyleId>
              </a:tblPr>
              <a:tblGrid>
                <a:gridCol w="2674620">
                  <a:extLst>
                    <a:ext uri="{9D8B030D-6E8A-4147-A177-3AD203B41FA5}">
                      <a16:colId xmlns:a16="http://schemas.microsoft.com/office/drawing/2014/main" val="20000"/>
                    </a:ext>
                  </a:extLst>
                </a:gridCol>
                <a:gridCol w="2674620">
                  <a:extLst>
                    <a:ext uri="{9D8B030D-6E8A-4147-A177-3AD203B41FA5}">
                      <a16:colId xmlns:a16="http://schemas.microsoft.com/office/drawing/2014/main" val="20001"/>
                    </a:ext>
                  </a:extLst>
                </a:gridCol>
                <a:gridCol w="2674620">
                  <a:extLst>
                    <a:ext uri="{9D8B030D-6E8A-4147-A177-3AD203B41FA5}">
                      <a16:colId xmlns:a16="http://schemas.microsoft.com/office/drawing/2014/main" val="20002"/>
                    </a:ext>
                  </a:extLst>
                </a:gridCol>
                <a:gridCol w="2674620">
                  <a:extLst>
                    <a:ext uri="{9D8B030D-6E8A-4147-A177-3AD203B41FA5}">
                      <a16:colId xmlns:a16="http://schemas.microsoft.com/office/drawing/2014/main" val="20003"/>
                    </a:ext>
                  </a:extLst>
                </a:gridCol>
              </a:tblGrid>
              <a:tr h="518160">
                <a:tc>
                  <a:txBody>
                    <a:bodyPr/>
                    <a:lstStyle/>
                    <a:p>
                      <a:pPr algn="l">
                        <a:defRPr sz="1200" b="1">
                          <a:solidFill>
                            <a:srgbClr val="FFFFFF"/>
                          </a:solidFill>
                          <a:latin typeface="Calibri"/>
                        </a:defRPr>
                      </a:pPr>
                      <a:r>
                        <a:t>Lesion Category</a:t>
                      </a:r>
                    </a:p>
                  </a:txBody>
                  <a:tcPr anchor="ctr">
                    <a:solidFill>
                      <a:srgbClr val="1E3A8A"/>
                    </a:solidFill>
                  </a:tcPr>
                </a:tc>
                <a:tc>
                  <a:txBody>
                    <a:bodyPr/>
                    <a:lstStyle/>
                    <a:p>
                      <a:pPr algn="l">
                        <a:defRPr sz="1200" b="1">
                          <a:solidFill>
                            <a:srgbClr val="FFFFFF"/>
                          </a:solidFill>
                          <a:latin typeface="Calibri"/>
                        </a:defRPr>
                      </a:pPr>
                      <a:r>
                        <a:t>Code</a:t>
                      </a:r>
                    </a:p>
                  </a:txBody>
                  <a:tcPr anchor="ctr">
                    <a:solidFill>
                      <a:srgbClr val="1E3A8A"/>
                    </a:solidFill>
                  </a:tcPr>
                </a:tc>
                <a:tc>
                  <a:txBody>
                    <a:bodyPr/>
                    <a:lstStyle/>
                    <a:p>
                      <a:pPr algn="l">
                        <a:defRPr sz="1200" b="1">
                          <a:solidFill>
                            <a:srgbClr val="FFFFFF"/>
                          </a:solidFill>
                          <a:latin typeface="Calibri"/>
                        </a:defRPr>
                      </a:pPr>
                      <a:r>
                        <a:t>Annotation Share (%)</a:t>
                      </a:r>
                    </a:p>
                  </a:txBody>
                  <a:tcPr anchor="ctr">
                    <a:solidFill>
                      <a:srgbClr val="1E3A8A"/>
                    </a:solidFill>
                  </a:tcPr>
                </a:tc>
                <a:tc>
                  <a:txBody>
                    <a:bodyPr/>
                    <a:lstStyle/>
                    <a:p>
                      <a:pPr algn="l">
                        <a:defRPr sz="1200" b="1">
                          <a:solidFill>
                            <a:srgbClr val="FFFFFF"/>
                          </a:solidFill>
                          <a:latin typeface="Calibri"/>
                        </a:defRPr>
                      </a:pPr>
                      <a:r>
                        <a:t>Clinical Impact</a:t>
                      </a:r>
                    </a:p>
                  </a:txBody>
                  <a:tcPr anchor="ctr">
                    <a:solidFill>
                      <a:srgbClr val="1E3A8A"/>
                    </a:solidFill>
                  </a:tcPr>
                </a:tc>
                <a:extLst>
                  <a:ext uri="{0D108BD9-81ED-4DB2-BD59-A6C34878D82A}">
                    <a16:rowId xmlns:a16="http://schemas.microsoft.com/office/drawing/2014/main" val="10000"/>
                  </a:ext>
                </a:extLst>
              </a:tr>
              <a:tr h="518160">
                <a:tc>
                  <a:txBody>
                    <a:bodyPr/>
                    <a:lstStyle/>
                    <a:p>
                      <a:pPr algn="l">
                        <a:defRPr sz="1100" b="1">
                          <a:solidFill>
                            <a:srgbClr val="0F172A"/>
                          </a:solidFill>
                          <a:latin typeface="Calibri"/>
                        </a:defRPr>
                      </a:pPr>
                      <a:r>
                        <a:t>Osteophytes</a:t>
                      </a:r>
                    </a:p>
                  </a:txBody>
                  <a:tcPr anchor="ctr">
                    <a:solidFill>
                      <a:srgbClr val="F1F5F9"/>
                    </a:solidFill>
                  </a:tcPr>
                </a:tc>
                <a:tc>
                  <a:txBody>
                    <a:bodyPr/>
                    <a:lstStyle/>
                    <a:p>
                      <a:pPr algn="l">
                        <a:defRPr sz="1100" b="0">
                          <a:solidFill>
                            <a:srgbClr val="0F172A"/>
                          </a:solidFill>
                          <a:latin typeface="Calibri"/>
                        </a:defRPr>
                      </a:pPr>
                      <a:r>
                        <a:t>LT6</a:t>
                      </a:r>
                    </a:p>
                  </a:txBody>
                  <a:tcPr anchor="ctr">
                    <a:solidFill>
                      <a:srgbClr val="F1F5F9"/>
                    </a:solidFill>
                  </a:tcPr>
                </a:tc>
                <a:tc>
                  <a:txBody>
                    <a:bodyPr/>
                    <a:lstStyle/>
                    <a:p>
                      <a:pPr algn="l">
                        <a:defRPr sz="1100" b="0">
                          <a:solidFill>
                            <a:srgbClr val="0F172A"/>
                          </a:solidFill>
                          <a:latin typeface="Calibri"/>
                        </a:defRPr>
                      </a:pPr>
                      <a:r>
                        <a:t>82.1% (12,556 boxes)</a:t>
                      </a:r>
                    </a:p>
                  </a:txBody>
                  <a:tcPr anchor="ctr">
                    <a:solidFill>
                      <a:srgbClr val="F1F5F9"/>
                    </a:solidFill>
                  </a:tcPr>
                </a:tc>
                <a:tc>
                  <a:txBody>
                    <a:bodyPr/>
                    <a:lstStyle/>
                    <a:p>
                      <a:pPr algn="l">
                        <a:defRPr sz="1100" b="0">
                          <a:solidFill>
                            <a:srgbClr val="0F172A"/>
                          </a:solidFill>
                          <a:latin typeface="Calibri"/>
                        </a:defRPr>
                      </a:pPr>
                      <a:r>
                        <a:t>Dominant majority class; high risk of model bias</a:t>
                      </a:r>
                    </a:p>
                  </a:txBody>
                  <a:tcPr anchor="ctr">
                    <a:solidFill>
                      <a:srgbClr val="F1F5F9"/>
                    </a:solidFill>
                  </a:tcPr>
                </a:tc>
                <a:extLst>
                  <a:ext uri="{0D108BD9-81ED-4DB2-BD59-A6C34878D82A}">
                    <a16:rowId xmlns:a16="http://schemas.microsoft.com/office/drawing/2014/main" val="10001"/>
                  </a:ext>
                </a:extLst>
              </a:tr>
              <a:tr h="518160">
                <a:tc>
                  <a:txBody>
                    <a:bodyPr/>
                    <a:lstStyle/>
                    <a:p>
                      <a:pPr algn="l">
                        <a:defRPr sz="1100" b="1">
                          <a:solidFill>
                            <a:srgbClr val="0F172A"/>
                          </a:solidFill>
                          <a:latin typeface="Calibri"/>
                        </a:defRPr>
                      </a:pPr>
                      <a:r>
                        <a:t>Disc Space Narrowing</a:t>
                      </a:r>
                    </a:p>
                  </a:txBody>
                  <a:tcPr anchor="ctr">
                    <a:solidFill>
                      <a:srgbClr val="FFFFFF"/>
                    </a:solidFill>
                  </a:tcPr>
                </a:tc>
                <a:tc>
                  <a:txBody>
                    <a:bodyPr/>
                    <a:lstStyle/>
                    <a:p>
                      <a:pPr algn="l">
                        <a:defRPr sz="1100" b="0">
                          <a:solidFill>
                            <a:srgbClr val="0F172A"/>
                          </a:solidFill>
                          <a:latin typeface="Calibri"/>
                        </a:defRPr>
                      </a:pPr>
                      <a:r>
                        <a:t>LT2</a:t>
                      </a:r>
                    </a:p>
                  </a:txBody>
                  <a:tcPr anchor="ctr">
                    <a:solidFill>
                      <a:srgbClr val="FFFFFF"/>
                    </a:solidFill>
                  </a:tcPr>
                </a:tc>
                <a:tc>
                  <a:txBody>
                    <a:bodyPr/>
                    <a:lstStyle/>
                    <a:p>
                      <a:pPr algn="l">
                        <a:defRPr sz="1100" b="0">
                          <a:solidFill>
                            <a:srgbClr val="0F172A"/>
                          </a:solidFill>
                          <a:latin typeface="Calibri"/>
                        </a:defRPr>
                      </a:pPr>
                      <a:r>
                        <a:t>6.0%</a:t>
                      </a:r>
                    </a:p>
                  </a:txBody>
                  <a:tcPr anchor="ctr">
                    <a:solidFill>
                      <a:srgbClr val="FFFFFF"/>
                    </a:solidFill>
                  </a:tcPr>
                </a:tc>
                <a:tc>
                  <a:txBody>
                    <a:bodyPr/>
                    <a:lstStyle/>
                    <a:p>
                      <a:pPr algn="l">
                        <a:defRPr sz="1100" b="0">
                          <a:solidFill>
                            <a:srgbClr val="0F172A"/>
                          </a:solidFill>
                          <a:latin typeface="Calibri"/>
                        </a:defRPr>
                      </a:pPr>
                      <a:r>
                        <a:t>Subtle inter-vertebral height collapse</a:t>
                      </a:r>
                    </a:p>
                  </a:txBody>
                  <a:tcPr anchor="ctr">
                    <a:solidFill>
                      <a:srgbClr val="FFFFFF"/>
                    </a:solidFill>
                  </a:tcPr>
                </a:tc>
                <a:extLst>
                  <a:ext uri="{0D108BD9-81ED-4DB2-BD59-A6C34878D82A}">
                    <a16:rowId xmlns:a16="http://schemas.microsoft.com/office/drawing/2014/main" val="10002"/>
                  </a:ext>
                </a:extLst>
              </a:tr>
              <a:tr h="518160">
                <a:tc>
                  <a:txBody>
                    <a:bodyPr/>
                    <a:lstStyle/>
                    <a:p>
                      <a:pPr algn="l">
                        <a:defRPr sz="1100" b="1">
                          <a:solidFill>
                            <a:srgbClr val="0F172A"/>
                          </a:solidFill>
                          <a:latin typeface="Calibri"/>
                        </a:defRPr>
                      </a:pPr>
                      <a:r>
                        <a:t>Surgical Implants</a:t>
                      </a:r>
                    </a:p>
                  </a:txBody>
                  <a:tcPr anchor="ctr">
                    <a:solidFill>
                      <a:srgbClr val="F1F5F9"/>
                    </a:solidFill>
                  </a:tcPr>
                </a:tc>
                <a:tc>
                  <a:txBody>
                    <a:bodyPr/>
                    <a:lstStyle/>
                    <a:p>
                      <a:pPr algn="l">
                        <a:defRPr sz="1100" b="0">
                          <a:solidFill>
                            <a:srgbClr val="0F172A"/>
                          </a:solidFill>
                          <a:latin typeface="Calibri"/>
                        </a:defRPr>
                      </a:pPr>
                      <a:r>
                        <a:t>LT10</a:t>
                      </a:r>
                    </a:p>
                  </a:txBody>
                  <a:tcPr anchor="ctr">
                    <a:solidFill>
                      <a:srgbClr val="F1F5F9"/>
                    </a:solidFill>
                  </a:tcPr>
                </a:tc>
                <a:tc>
                  <a:txBody>
                    <a:bodyPr/>
                    <a:lstStyle/>
                    <a:p>
                      <a:pPr algn="l">
                        <a:defRPr sz="1100" b="0">
                          <a:solidFill>
                            <a:srgbClr val="0F172A"/>
                          </a:solidFill>
                          <a:latin typeface="Calibri"/>
                        </a:defRPr>
                      </a:pPr>
                      <a:r>
                        <a:t>2.8%</a:t>
                      </a:r>
                    </a:p>
                  </a:txBody>
                  <a:tcPr anchor="ctr">
                    <a:solidFill>
                      <a:srgbClr val="F1F5F9"/>
                    </a:solidFill>
                  </a:tcPr>
                </a:tc>
                <a:tc>
                  <a:txBody>
                    <a:bodyPr/>
                    <a:lstStyle/>
                    <a:p>
                      <a:pPr algn="l">
                        <a:defRPr sz="1100" b="0">
                          <a:solidFill>
                            <a:srgbClr val="0F172A"/>
                          </a:solidFill>
                          <a:latin typeface="Calibri"/>
                        </a:defRPr>
                      </a:pPr>
                      <a:r>
                        <a:t>High contrast metallic hardware</a:t>
                      </a:r>
                    </a:p>
                  </a:txBody>
                  <a:tcPr anchor="ctr">
                    <a:solidFill>
                      <a:srgbClr val="F1F5F9"/>
                    </a:solidFill>
                  </a:tcPr>
                </a:tc>
                <a:extLst>
                  <a:ext uri="{0D108BD9-81ED-4DB2-BD59-A6C34878D82A}">
                    <a16:rowId xmlns:a16="http://schemas.microsoft.com/office/drawing/2014/main" val="10003"/>
                  </a:ext>
                </a:extLst>
              </a:tr>
              <a:tr h="518160">
                <a:tc>
                  <a:txBody>
                    <a:bodyPr/>
                    <a:lstStyle/>
                    <a:p>
                      <a:pPr algn="l">
                        <a:defRPr sz="1100" b="1">
                          <a:solidFill>
                            <a:srgbClr val="0F172A"/>
                          </a:solidFill>
                          <a:latin typeface="Calibri"/>
                        </a:defRPr>
                      </a:pPr>
                      <a:r>
                        <a:t>Foraminal Stenosis</a:t>
                      </a:r>
                    </a:p>
                  </a:txBody>
                  <a:tcPr anchor="ctr">
                    <a:solidFill>
                      <a:srgbClr val="FFFFFF"/>
                    </a:solidFill>
                  </a:tcPr>
                </a:tc>
                <a:tc>
                  <a:txBody>
                    <a:bodyPr/>
                    <a:lstStyle/>
                    <a:p>
                      <a:pPr algn="l">
                        <a:defRPr sz="1100" b="0">
                          <a:solidFill>
                            <a:srgbClr val="0F172A"/>
                          </a:solidFill>
                          <a:latin typeface="Calibri"/>
                        </a:defRPr>
                      </a:pPr>
                      <a:r>
                        <a:t>LT4</a:t>
                      </a:r>
                    </a:p>
                  </a:txBody>
                  <a:tcPr anchor="ctr">
                    <a:solidFill>
                      <a:srgbClr val="FFFFFF"/>
                    </a:solidFill>
                  </a:tcPr>
                </a:tc>
                <a:tc>
                  <a:txBody>
                    <a:bodyPr/>
                    <a:lstStyle/>
                    <a:p>
                      <a:pPr algn="l">
                        <a:defRPr sz="1100" b="0">
                          <a:solidFill>
                            <a:srgbClr val="0F172A"/>
                          </a:solidFill>
                          <a:latin typeface="Calibri"/>
                        </a:defRPr>
                      </a:pPr>
                      <a:r>
                        <a:t>2.5%</a:t>
                      </a:r>
                    </a:p>
                  </a:txBody>
                  <a:tcPr anchor="ctr">
                    <a:solidFill>
                      <a:srgbClr val="FFFFFF"/>
                    </a:solidFill>
                  </a:tcPr>
                </a:tc>
                <a:tc>
                  <a:txBody>
                    <a:bodyPr/>
                    <a:lstStyle/>
                    <a:p>
                      <a:pPr algn="l">
                        <a:defRPr sz="1100" b="0">
                          <a:solidFill>
                            <a:srgbClr val="0F172A"/>
                          </a:solidFill>
                          <a:latin typeface="Calibri"/>
                        </a:defRPr>
                      </a:pPr>
                      <a:r>
                        <a:t>Extremely minute boundary narrowing (&lt;0.25% FOV)</a:t>
                      </a:r>
                    </a:p>
                  </a:txBody>
                  <a:tcPr anchor="ctr">
                    <a:solidFill>
                      <a:srgbClr val="FFFFFF"/>
                    </a:solidFill>
                  </a:tcPr>
                </a:tc>
                <a:extLst>
                  <a:ext uri="{0D108BD9-81ED-4DB2-BD59-A6C34878D82A}">
                    <a16:rowId xmlns:a16="http://schemas.microsoft.com/office/drawing/2014/main" val="10004"/>
                  </a:ext>
                </a:extLst>
              </a:tr>
              <a:tr h="518160">
                <a:tc>
                  <a:txBody>
                    <a:bodyPr/>
                    <a:lstStyle/>
                    <a:p>
                      <a:pPr algn="l">
                        <a:defRPr sz="1100" b="1">
                          <a:solidFill>
                            <a:srgbClr val="0F172A"/>
                          </a:solidFill>
                          <a:latin typeface="Calibri"/>
                        </a:defRPr>
                      </a:pPr>
                      <a:r>
                        <a:t>Vertebral Collapse</a:t>
                      </a:r>
                    </a:p>
                  </a:txBody>
                  <a:tcPr anchor="ctr">
                    <a:solidFill>
                      <a:srgbClr val="F1F5F9"/>
                    </a:solidFill>
                  </a:tcPr>
                </a:tc>
                <a:tc>
                  <a:txBody>
                    <a:bodyPr/>
                    <a:lstStyle/>
                    <a:p>
                      <a:pPr algn="l">
                        <a:defRPr sz="1100" b="0">
                          <a:solidFill>
                            <a:srgbClr val="0F172A"/>
                          </a:solidFill>
                          <a:latin typeface="Calibri"/>
                        </a:defRPr>
                      </a:pPr>
                      <a:r>
                        <a:t>LT11</a:t>
                      </a:r>
                    </a:p>
                  </a:txBody>
                  <a:tcPr anchor="ctr">
                    <a:solidFill>
                      <a:srgbClr val="F1F5F9"/>
                    </a:solidFill>
                  </a:tcPr>
                </a:tc>
                <a:tc>
                  <a:txBody>
                    <a:bodyPr/>
                    <a:lstStyle/>
                    <a:p>
                      <a:pPr algn="l">
                        <a:defRPr sz="1100" b="0">
                          <a:solidFill>
                            <a:srgbClr val="0F172A"/>
                          </a:solidFill>
                          <a:latin typeface="Calibri"/>
                        </a:defRPr>
                      </a:pPr>
                      <a:r>
                        <a:t>1.8% (268 boxes)</a:t>
                      </a:r>
                    </a:p>
                  </a:txBody>
                  <a:tcPr anchor="ctr">
                    <a:solidFill>
                      <a:srgbClr val="F1F5F9"/>
                    </a:solidFill>
                  </a:tcPr>
                </a:tc>
                <a:tc>
                  <a:txBody>
                    <a:bodyPr/>
                    <a:lstStyle/>
                    <a:p>
                      <a:pPr algn="l">
                        <a:defRPr sz="1100" b="0">
                          <a:solidFill>
                            <a:srgbClr val="0F172A"/>
                          </a:solidFill>
                          <a:latin typeface="Calibri"/>
                        </a:defRPr>
                      </a:pPr>
                      <a:r>
                        <a:t>Critical minority fail-safe; causes irreversible trauma</a:t>
                      </a:r>
                    </a:p>
                  </a:txBody>
                  <a:tcPr anchor="ctr">
                    <a:solidFill>
                      <a:srgbClr val="F1F5F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METHODOLOGY OVERVIEW</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Proposed Cascaded Framework: Structural Decoupling</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04</a:t>
            </a:r>
          </a:p>
        </p:txBody>
      </p:sp>
      <p:sp>
        <p:nvSpPr>
          <p:cNvPr id="5" name="Rounded Rectangle 4"/>
          <p:cNvSpPr/>
          <p:nvPr/>
        </p:nvSpPr>
        <p:spPr>
          <a:xfrm>
            <a:off x="731520" y="1463040"/>
            <a:ext cx="32918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2926080" cy="4206240"/>
          </a:xfrm>
          <a:prstGeom prst="rect">
            <a:avLst/>
          </a:prstGeom>
          <a:noFill/>
        </p:spPr>
        <p:txBody>
          <a:bodyPr wrap="square">
            <a:spAutoFit/>
          </a:bodyPr>
          <a:lstStyle/>
          <a:p>
            <a:pPr>
              <a:defRPr sz="1600" b="1">
                <a:solidFill>
                  <a:srgbClr val="1E3A8A"/>
                </a:solidFill>
              </a:defRPr>
            </a:pPr>
            <a:r>
              <a:t>1. Adaptive Preprocessing</a:t>
            </a:r>
          </a:p>
          <a:p>
            <a:pPr>
              <a:defRPr sz="1200"/>
            </a:pPr>
            <a:r>
              <a:t>• Raw radiographs ingested at 640×640×3.</a:t>
            </a:r>
          </a:p>
          <a:p>
            <a:pPr>
              <a:defRPr sz="1200"/>
            </a:pPr>
            <a:r>
              <a:t>• CLAHE equalizes exposure across different X-ray machines.</a:t>
            </a:r>
          </a:p>
          <a:p>
            <a:pPr>
              <a:defRPr sz="1200"/>
            </a:pPr>
            <a:r>
              <a:t>• Clip limit prevents noise amplification in dense bone.</a:t>
            </a:r>
          </a:p>
          <a:p>
            <a:pPr>
              <a:defRPr sz="1200"/>
            </a:pPr>
            <a:r>
              <a:t>• Prepares clean, normalized inputs for both stages.</a:t>
            </a:r>
          </a:p>
        </p:txBody>
      </p:sp>
      <p:sp>
        <p:nvSpPr>
          <p:cNvPr id="7" name="Rounded Rectangle 6"/>
          <p:cNvSpPr/>
          <p:nvPr/>
        </p:nvSpPr>
        <p:spPr>
          <a:xfrm>
            <a:off x="4389120" y="1463040"/>
            <a:ext cx="32918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645920"/>
            <a:ext cx="2926080" cy="4206240"/>
          </a:xfrm>
          <a:prstGeom prst="rect">
            <a:avLst/>
          </a:prstGeom>
          <a:noFill/>
        </p:spPr>
        <p:txBody>
          <a:bodyPr wrap="square">
            <a:spAutoFit/>
          </a:bodyPr>
          <a:lstStyle/>
          <a:p>
            <a:pPr>
              <a:defRPr sz="1600" b="1">
                <a:solidFill>
                  <a:srgbClr val="0EA5E9"/>
                </a:solidFill>
              </a:defRPr>
            </a:pPr>
            <a:r>
              <a:t>2. Stage 1: DERNet Gate</a:t>
            </a:r>
          </a:p>
          <a:p>
            <a:pPr>
              <a:defRPr sz="1200"/>
            </a:pPr>
            <a:r>
              <a:t>• Heterogeneous ensemble: DenseNet121 + EfficientNetV2-S + ResNet50.</a:t>
            </a:r>
          </a:p>
          <a:p>
            <a:pPr>
              <a:defRPr sz="1200"/>
            </a:pPr>
            <a:r>
              <a:t>• Lightweight CPU execution: 15.4 GFLOPs, 120 ms latency.</a:t>
            </a:r>
          </a:p>
          <a:p>
            <a:pPr>
              <a:defRPr sz="1200"/>
            </a:pPr>
            <a:r>
              <a:t>• Tuned decision threshold: tau* = 0.4787.</a:t>
            </a:r>
          </a:p>
          <a:p>
            <a:pPr>
              <a:defRPr sz="1200"/>
            </a:pPr>
            <a:r>
              <a:t>• Normal studies exit early; abnormal studies are routed forward.</a:t>
            </a:r>
          </a:p>
        </p:txBody>
      </p:sp>
      <p:sp>
        <p:nvSpPr>
          <p:cNvPr id="9" name="Rounded Rectangle 8"/>
          <p:cNvSpPr/>
          <p:nvPr/>
        </p:nvSpPr>
        <p:spPr>
          <a:xfrm>
            <a:off x="8046720" y="1463040"/>
            <a:ext cx="33832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645920"/>
            <a:ext cx="3017520" cy="4206240"/>
          </a:xfrm>
          <a:prstGeom prst="rect">
            <a:avLst/>
          </a:prstGeom>
          <a:noFill/>
        </p:spPr>
        <p:txBody>
          <a:bodyPr wrap="square">
            <a:spAutoFit/>
          </a:bodyPr>
          <a:lstStyle/>
          <a:p>
            <a:pPr>
              <a:defRPr sz="1600" b="1">
                <a:solidFill>
                  <a:srgbClr val="10B981"/>
                </a:solidFill>
              </a:defRPr>
            </a:pPr>
            <a:r>
              <a:t>3. Stage 2: YOLO11-L</a:t>
            </a:r>
          </a:p>
          <a:p>
            <a:pPr>
              <a:defRPr sz="1200"/>
            </a:pPr>
            <a:r>
              <a:t>• Triggered only on flagged abnormal radiographs.</a:t>
            </a:r>
          </a:p>
          <a:p>
            <a:pPr>
              <a:defRPr sz="1200"/>
            </a:pPr>
            <a:r>
              <a:t>• C2PSA spatial attention suppresses background artifacts.</a:t>
            </a:r>
          </a:p>
          <a:p>
            <a:pPr>
              <a:defRPr sz="1200"/>
            </a:pPr>
            <a:r>
              <a:t>• PANet feature fusion captures minute lesions.</a:t>
            </a:r>
          </a:p>
          <a:p>
            <a:pPr>
              <a:defRPr sz="1200"/>
            </a:pPr>
            <a:r>
              <a:t>• Predicts fine-grained bounding boxes across 7 lesion classes.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DATA PIPELINE</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Adaptive Preprocessing: CLAHE Optimization</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05</a:t>
            </a:r>
          </a:p>
        </p:txBody>
      </p:sp>
      <p:sp>
        <p:nvSpPr>
          <p:cNvPr id="5" name="Rounded Rectangle 4"/>
          <p:cNvSpPr/>
          <p:nvPr/>
        </p:nvSpPr>
        <p:spPr>
          <a:xfrm>
            <a:off x="731520" y="1463040"/>
            <a:ext cx="548640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5120640" cy="4206240"/>
          </a:xfrm>
          <a:prstGeom prst="rect">
            <a:avLst/>
          </a:prstGeom>
          <a:noFill/>
        </p:spPr>
        <p:txBody>
          <a:bodyPr wrap="square">
            <a:spAutoFit/>
          </a:bodyPr>
          <a:lstStyle/>
          <a:p>
            <a:pPr>
              <a:defRPr sz="1600" b="1">
                <a:solidFill>
                  <a:srgbClr val="1E3A8A"/>
                </a:solidFill>
              </a:defRPr>
            </a:pPr>
            <a:r>
              <a:t>Mathematical Formulation (Eq. 1)</a:t>
            </a:r>
          </a:p>
          <a:p>
            <a:br/>
            <a:r>
              <a:t>I'(i, j) = β · [ ( CDF_Ωk(I(i, j)) - CDF_min ) / ( |Ωk| - CDF_min ) ]</a:t>
            </a:r>
            <a:br/>
            <a:endParaRPr/>
          </a:p>
          <a:p>
            <a:pPr>
              <a:defRPr sz="1200"/>
            </a:pPr>
            <a:r>
              <a:t>• Tile Grid (Ωk = 8×8): Defines local contextual regions to calculate Cumulative Distribution Functions.</a:t>
            </a:r>
          </a:p>
          <a:p>
            <a:pPr>
              <a:defRPr sz="1200"/>
            </a:pPr>
            <a:r>
              <a:t>• Dynamic Range Scaling (β = 255): Rescales normalized local intensities back to standard 8-bit image depth.</a:t>
            </a:r>
          </a:p>
          <a:p>
            <a:pPr>
              <a:defRPr sz="1200"/>
            </a:pPr>
            <a:r>
              <a:t>• Clip Limit (τ = 2.0): Suppresses local contrast over-amplification, capping noise in homogeneous vertebral bone.</a:t>
            </a:r>
          </a:p>
        </p:txBody>
      </p:sp>
      <p:sp>
        <p:nvSpPr>
          <p:cNvPr id="7" name="Rounded Rectangle 6"/>
          <p:cNvSpPr/>
          <p:nvPr/>
        </p:nvSpPr>
        <p:spPr>
          <a:xfrm>
            <a:off x="6583680" y="1463040"/>
            <a:ext cx="484632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0" y="1645920"/>
            <a:ext cx="4480560" cy="4206240"/>
          </a:xfrm>
          <a:prstGeom prst="rect">
            <a:avLst/>
          </a:prstGeom>
          <a:noFill/>
        </p:spPr>
        <p:txBody>
          <a:bodyPr wrap="square">
            <a:spAutoFit/>
          </a:bodyPr>
          <a:lstStyle/>
          <a:p>
            <a:pPr>
              <a:defRPr sz="1600" b="1">
                <a:solidFill>
                  <a:srgbClr val="F59E0B"/>
                </a:solidFill>
              </a:defRPr>
            </a:pPr>
            <a:r>
              <a:t>Why Standard Equalization Fails in X-Rays</a:t>
            </a:r>
          </a:p>
          <a:p>
            <a:pPr>
              <a:defRPr sz="1300"/>
            </a:pPr>
            <a:r>
              <a:t>• Global histogram equalization over-enhances background scatter and bone marrow noise, generating false-positive lesions.</a:t>
            </a:r>
          </a:p>
          <a:p>
            <a:pPr>
              <a:defRPr sz="1300"/>
            </a:pPr>
            <a:r>
              <a:t>• CLAHE operates locally to amplify micro-contrast specifically around cortical bone margins.</a:t>
            </a:r>
          </a:p>
          <a:p>
            <a:pPr>
              <a:defRPr sz="1300"/>
            </a:pPr>
            <a:r>
              <a:t>• Reveals minute osteophytes and subtle disc space narrowing obscured by uneven exposure across hospital scanners.</a:t>
            </a:r>
          </a:p>
          <a:p>
            <a:pPr>
              <a:defRPr sz="1300"/>
            </a:pPr>
            <a:r>
              <a:t>• Crucial foundation before feeding images into downstream convolutional backbones.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TRIAGE GATE</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Stage 1: DERNet Heterogeneous Ensemble</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06</a:t>
            </a:r>
          </a:p>
        </p:txBody>
      </p:sp>
      <p:sp>
        <p:nvSpPr>
          <p:cNvPr id="5" name="Rounded Rectangle 4"/>
          <p:cNvSpPr/>
          <p:nvPr/>
        </p:nvSpPr>
        <p:spPr>
          <a:xfrm>
            <a:off x="731520" y="1463040"/>
            <a:ext cx="32918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2926080" cy="4206240"/>
          </a:xfrm>
          <a:prstGeom prst="rect">
            <a:avLst/>
          </a:prstGeom>
          <a:noFill/>
        </p:spPr>
        <p:txBody>
          <a:bodyPr wrap="square">
            <a:spAutoFit/>
          </a:bodyPr>
          <a:lstStyle/>
          <a:p>
            <a:pPr>
              <a:defRPr sz="1600" b="1">
                <a:solidFill>
                  <a:srgbClr val="1E3A8A"/>
                </a:solidFill>
              </a:defRPr>
            </a:pPr>
            <a:r>
              <a:t>DenseNet121 (ω₁ = 0.42)</a:t>
            </a:r>
          </a:p>
          <a:p>
            <a:pPr>
              <a:defRPr sz="1200"/>
            </a:pPr>
            <a:r>
              <a:t>• Highest assigned fusion weight in the ensemble.</a:t>
            </a:r>
          </a:p>
          <a:p>
            <a:pPr>
              <a:defRPr sz="1200"/>
            </a:pPr>
            <a:r>
              <a:t>• Dense layer concatenation enables multi-scale feature reuse.</a:t>
            </a:r>
          </a:p>
          <a:p>
            <a:pPr>
              <a:defRPr sz="1200"/>
            </a:pPr>
            <a:r>
              <a:t>• Specialized in capturing fine textural anomalies along bone boundaries.</a:t>
            </a:r>
          </a:p>
          <a:p>
            <a:pPr>
              <a:defRPr sz="1200"/>
            </a:pPr>
            <a:r>
              <a:t>• Crucial for detecting small, subtle osteophytes.</a:t>
            </a:r>
          </a:p>
        </p:txBody>
      </p:sp>
      <p:sp>
        <p:nvSpPr>
          <p:cNvPr id="7" name="Rounded Rectangle 6"/>
          <p:cNvSpPr/>
          <p:nvPr/>
        </p:nvSpPr>
        <p:spPr>
          <a:xfrm>
            <a:off x="4389120" y="1463040"/>
            <a:ext cx="32918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645920"/>
            <a:ext cx="2926080" cy="4206240"/>
          </a:xfrm>
          <a:prstGeom prst="rect">
            <a:avLst/>
          </a:prstGeom>
          <a:noFill/>
        </p:spPr>
        <p:txBody>
          <a:bodyPr wrap="square">
            <a:spAutoFit/>
          </a:bodyPr>
          <a:lstStyle/>
          <a:p>
            <a:pPr>
              <a:defRPr sz="1600" b="1">
                <a:solidFill>
                  <a:srgbClr val="0EA5E9"/>
                </a:solidFill>
              </a:defRPr>
            </a:pPr>
            <a:r>
              <a:t>EfficientNetV2-S (ω₂ = 0.32)</a:t>
            </a:r>
          </a:p>
          <a:p>
            <a:pPr>
              <a:defRPr sz="1200"/>
            </a:pPr>
            <a:r>
              <a:t>• Primary specificity driver (achieves 91.12% standalone specificity).</a:t>
            </a:r>
          </a:p>
          <a:p>
            <a:pPr>
              <a:defRPr sz="1200"/>
            </a:pPr>
            <a:r>
              <a:t>• Fused-MBConv layers optimize parameter efficiency.</a:t>
            </a:r>
          </a:p>
          <a:p>
            <a:pPr>
              <a:defRPr sz="1200"/>
            </a:pPr>
            <a:r>
              <a:t>• Suppresses false positives across mid-scale lesions (32×32 to 96×96 px).</a:t>
            </a:r>
          </a:p>
          <a:p>
            <a:pPr>
              <a:defRPr sz="1200"/>
            </a:pPr>
            <a:r>
              <a:t>• Ablation: Removing it triggers +19 false positives (-1.78% specificity).</a:t>
            </a:r>
          </a:p>
        </p:txBody>
      </p:sp>
      <p:sp>
        <p:nvSpPr>
          <p:cNvPr id="9" name="Rounded Rectangle 8"/>
          <p:cNvSpPr/>
          <p:nvPr/>
        </p:nvSpPr>
        <p:spPr>
          <a:xfrm>
            <a:off x="8046720" y="1463040"/>
            <a:ext cx="33832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645920"/>
            <a:ext cx="3017520" cy="4206240"/>
          </a:xfrm>
          <a:prstGeom prst="rect">
            <a:avLst/>
          </a:prstGeom>
          <a:noFill/>
        </p:spPr>
        <p:txBody>
          <a:bodyPr wrap="square">
            <a:spAutoFit/>
          </a:bodyPr>
          <a:lstStyle/>
          <a:p>
            <a:pPr>
              <a:defRPr sz="1600" b="1">
                <a:solidFill>
                  <a:srgbClr val="10B981"/>
                </a:solidFill>
              </a:defRPr>
            </a:pPr>
            <a:r>
              <a:t>ResNet50 (ω₃ = 0.26)</a:t>
            </a:r>
          </a:p>
          <a:p>
            <a:pPr>
              <a:defRPr sz="1200"/>
            </a:pPr>
            <a:r>
              <a:t>• Recall fail-safe against severe anatomical collapse.</a:t>
            </a:r>
          </a:p>
          <a:p>
            <a:pPr>
              <a:defRPr sz="1200"/>
            </a:pPr>
            <a:r>
              <a:t>• Deep residual pathways detect gross macroscopic dislocations.</a:t>
            </a:r>
          </a:p>
          <a:p>
            <a:pPr>
              <a:defRPr sz="1200"/>
            </a:pPr>
            <a:r>
              <a:t>• Ablation: Excluding ResNet50 yields +20 false negatives (-1.99% sensitivity).</a:t>
            </a:r>
          </a:p>
          <a:p>
            <a:pPr>
              <a:defRPr sz="1200"/>
            </a:pPr>
            <a:r>
              <a:t>• Guarantees high-risk pathologies are not filtered out.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DECISION OPTIMIZATION</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Probabilistic Soft-Voting &amp; Threshold Calibration</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07</a:t>
            </a:r>
          </a:p>
        </p:txBody>
      </p:sp>
      <p:sp>
        <p:nvSpPr>
          <p:cNvPr id="5" name="Rounded Rectangle 4"/>
          <p:cNvSpPr/>
          <p:nvPr/>
        </p:nvSpPr>
        <p:spPr>
          <a:xfrm>
            <a:off x="731520" y="146304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754880" cy="4206240"/>
          </a:xfrm>
          <a:prstGeom prst="rect">
            <a:avLst/>
          </a:prstGeom>
          <a:noFill/>
        </p:spPr>
        <p:txBody>
          <a:bodyPr wrap="square">
            <a:spAutoFit/>
          </a:bodyPr>
          <a:lstStyle/>
          <a:p>
            <a:pPr>
              <a:defRPr sz="1600" b="1">
                <a:solidFill>
                  <a:srgbClr val="1E3A8A"/>
                </a:solidFill>
              </a:defRPr>
            </a:pPr>
            <a:r>
              <a:t>Threshold Grid Search Optimization</a:t>
            </a:r>
          </a:p>
          <a:p>
            <a:br/>
            <a:r>
              <a:t>τ* = arg max_{τ ∈ [0.35, 0.60]} F₁(τ)</a:t>
            </a:r>
            <a:br/>
            <a:r>
              <a:t>F₁(τ) = 2·TP(τ) / [ 2·TP(τ) + FP(τ) + FN(τ) ]</a:t>
            </a:r>
            <a:br/>
            <a:endParaRPr/>
          </a:p>
          <a:p>
            <a:pPr>
              <a:defRPr sz="1200"/>
            </a:pPr>
            <a:r>
              <a:t>• Exhaustive search over [0.35, 0.60] with step size Δτ = 0.0002.</a:t>
            </a:r>
          </a:p>
          <a:p>
            <a:pPr>
              <a:defRPr sz="1200"/>
            </a:pPr>
            <a:r>
              <a:t>• Calibrated strictly on training folds to maximize cross-validation F1.</a:t>
            </a:r>
          </a:p>
          <a:p>
            <a:pPr>
              <a:defRPr sz="1200"/>
            </a:pPr>
            <a:r>
              <a:t>• Optimal threshold locked at τ* = 0.4787.</a:t>
            </a:r>
          </a:p>
          <a:p>
            <a:pPr>
              <a:defRPr sz="1200"/>
            </a:pPr>
            <a:r>
              <a:t>• Weighted soft-voting ensemble probability:</a:t>
            </a:r>
            <a:br/>
            <a:r>
              <a:t>P_ens = 0.42·P_Dense + 0.32·P_EffNet + 0.26·P_ResNet</a:t>
            </a:r>
          </a:p>
        </p:txBody>
      </p:sp>
      <p:sp>
        <p:nvSpPr>
          <p:cNvPr id="7" name="Rounded Rectangle 6"/>
          <p:cNvSpPr/>
          <p:nvPr/>
        </p:nvSpPr>
        <p:spPr>
          <a:xfrm>
            <a:off x="6217920" y="1463040"/>
            <a:ext cx="52120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645920"/>
            <a:ext cx="4846320" cy="4206240"/>
          </a:xfrm>
          <a:prstGeom prst="rect">
            <a:avLst/>
          </a:prstGeom>
          <a:noFill/>
        </p:spPr>
        <p:txBody>
          <a:bodyPr wrap="square">
            <a:spAutoFit/>
          </a:bodyPr>
          <a:lstStyle/>
          <a:p>
            <a:pPr>
              <a:defRPr sz="1600" b="1">
                <a:solidFill>
                  <a:srgbClr val="10B981"/>
                </a:solidFill>
              </a:defRPr>
            </a:pPr>
            <a:r>
              <a:t>Triage Decision Rule &amp; Clinical Routing</a:t>
            </a:r>
          </a:p>
          <a:p>
            <a:pPr>
              <a:defRPr sz="1300"/>
            </a:pPr>
            <a:r>
              <a:t>• Decision Rule 1: If P_ens ≥ 0.4787 → Flag as Abnormal → Route immediately to Stage 2 (YOLO11-L).</a:t>
            </a:r>
          </a:p>
          <a:p>
            <a:pPr>
              <a:defRPr sz="1300"/>
            </a:pPr>
            <a:r>
              <a:t>• Decision Rule 2: If P_ens &lt; 0.4787 → Flag as Normal → Exit pipeline early without consuming detector compute.</a:t>
            </a:r>
          </a:p>
          <a:p>
            <a:pPr>
              <a:defRPr sz="1300"/>
            </a:pPr>
            <a:r>
              <a:t>• Weight grid search (Δω = 0.01, Σω = 1.0) confirmed Ω = [0.42, 0.32, 0.26] as the global Pareto optimum.</a:t>
            </a:r>
          </a:p>
          <a:p>
            <a:pPr>
              <a:defRPr sz="1300"/>
            </a:pPr>
            <a:r>
              <a:t>• Harmonizes individual model biases into a single high-precision gatekeeper.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CLASSIFICATION BENCHMARK</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Triage Results: DERNet Outperforms Established Baselines</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08</a:t>
            </a:r>
          </a:p>
        </p:txBody>
      </p:sp>
      <p:sp>
        <p:nvSpPr>
          <p:cNvPr id="5" name="Rounded Rectangle 4"/>
          <p:cNvSpPr/>
          <p:nvPr/>
        </p:nvSpPr>
        <p:spPr>
          <a:xfrm>
            <a:off x="731520" y="1463040"/>
            <a:ext cx="246888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572768"/>
            <a:ext cx="2194560" cy="1060704"/>
          </a:xfrm>
          <a:prstGeom prst="rect">
            <a:avLst/>
          </a:prstGeom>
          <a:noFill/>
        </p:spPr>
        <p:txBody>
          <a:bodyPr wrap="square">
            <a:spAutoFit/>
          </a:bodyPr>
          <a:lstStyle/>
          <a:p>
            <a:pPr>
              <a:defRPr sz="2600" b="1">
                <a:solidFill>
                  <a:srgbClr val="10B981"/>
                </a:solidFill>
                <a:latin typeface="Calibri"/>
              </a:defRPr>
            </a:pPr>
            <a:r>
              <a:t>91.03%</a:t>
            </a:r>
          </a:p>
          <a:p>
            <a:pPr>
              <a:defRPr sz="1200" b="1">
                <a:solidFill>
                  <a:srgbClr val="0F172A"/>
                </a:solidFill>
                <a:latin typeface="Calibri"/>
              </a:defRPr>
            </a:pPr>
            <a:r>
              <a:t>AUROC</a:t>
            </a:r>
          </a:p>
          <a:p>
            <a:pPr>
              <a:defRPr sz="1000">
                <a:solidFill>
                  <a:srgbClr val="64748B"/>
                </a:solidFill>
                <a:latin typeface="Calibri"/>
              </a:defRPr>
            </a:pPr>
            <a:r>
              <a:t>+2.42% over VinDr</a:t>
            </a:r>
          </a:p>
        </p:txBody>
      </p:sp>
      <p:sp>
        <p:nvSpPr>
          <p:cNvPr id="7" name="Rounded Rectangle 6"/>
          <p:cNvSpPr/>
          <p:nvPr/>
        </p:nvSpPr>
        <p:spPr>
          <a:xfrm>
            <a:off x="3474720" y="1463040"/>
            <a:ext cx="246888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1880" y="1572768"/>
            <a:ext cx="2194560" cy="1060704"/>
          </a:xfrm>
          <a:prstGeom prst="rect">
            <a:avLst/>
          </a:prstGeom>
          <a:noFill/>
        </p:spPr>
        <p:txBody>
          <a:bodyPr wrap="square">
            <a:spAutoFit/>
          </a:bodyPr>
          <a:lstStyle/>
          <a:p>
            <a:pPr>
              <a:defRPr sz="2600" b="1">
                <a:solidFill>
                  <a:srgbClr val="1E3A8A"/>
                </a:solidFill>
                <a:latin typeface="Calibri"/>
              </a:defRPr>
            </a:pPr>
            <a:r>
              <a:t>83.09%</a:t>
            </a:r>
          </a:p>
          <a:p>
            <a:pPr>
              <a:defRPr sz="1200" b="1">
                <a:solidFill>
                  <a:srgbClr val="0F172A"/>
                </a:solidFill>
                <a:latin typeface="Calibri"/>
              </a:defRPr>
            </a:pPr>
            <a:r>
              <a:t>F1-Score</a:t>
            </a:r>
          </a:p>
          <a:p>
            <a:pPr>
              <a:defRPr sz="1000">
                <a:solidFill>
                  <a:srgbClr val="64748B"/>
                </a:solidFill>
                <a:latin typeface="Calibri"/>
              </a:defRPr>
            </a:pPr>
            <a:r>
              <a:t>Optimal harmonic mean</a:t>
            </a:r>
          </a:p>
        </p:txBody>
      </p:sp>
      <p:sp>
        <p:nvSpPr>
          <p:cNvPr id="9" name="Rounded Rectangle 8"/>
          <p:cNvSpPr/>
          <p:nvPr/>
        </p:nvSpPr>
        <p:spPr>
          <a:xfrm>
            <a:off x="6217920" y="1463040"/>
            <a:ext cx="246888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1572768"/>
            <a:ext cx="2194560" cy="1060704"/>
          </a:xfrm>
          <a:prstGeom prst="rect">
            <a:avLst/>
          </a:prstGeom>
          <a:noFill/>
        </p:spPr>
        <p:txBody>
          <a:bodyPr wrap="square">
            <a:spAutoFit/>
          </a:bodyPr>
          <a:lstStyle/>
          <a:p>
            <a:pPr>
              <a:defRPr sz="2600" b="1">
                <a:solidFill>
                  <a:srgbClr val="0EA5E9"/>
                </a:solidFill>
                <a:latin typeface="Calibri"/>
              </a:defRPr>
            </a:pPr>
            <a:r>
              <a:t>84.91%</a:t>
            </a:r>
          </a:p>
          <a:p>
            <a:pPr>
              <a:defRPr sz="1200" b="1">
                <a:solidFill>
                  <a:srgbClr val="0F172A"/>
                </a:solidFill>
                <a:latin typeface="Calibri"/>
              </a:defRPr>
            </a:pPr>
            <a:r>
              <a:t>Sensitivity</a:t>
            </a:r>
          </a:p>
          <a:p>
            <a:pPr>
              <a:defRPr sz="1000">
                <a:solidFill>
                  <a:srgbClr val="64748B"/>
                </a:solidFill>
                <a:latin typeface="Calibri"/>
              </a:defRPr>
            </a:pPr>
            <a:r>
              <a:t>Minimizes missed lesions</a:t>
            </a:r>
          </a:p>
        </p:txBody>
      </p:sp>
      <p:sp>
        <p:nvSpPr>
          <p:cNvPr id="11" name="Rounded Rectangle 10"/>
          <p:cNvSpPr/>
          <p:nvPr/>
        </p:nvSpPr>
        <p:spPr>
          <a:xfrm>
            <a:off x="8961120" y="1463040"/>
            <a:ext cx="246888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98280" y="1572768"/>
            <a:ext cx="2194560" cy="1060704"/>
          </a:xfrm>
          <a:prstGeom prst="rect">
            <a:avLst/>
          </a:prstGeom>
          <a:noFill/>
        </p:spPr>
        <p:txBody>
          <a:bodyPr wrap="square">
            <a:spAutoFit/>
          </a:bodyPr>
          <a:lstStyle/>
          <a:p>
            <a:pPr>
              <a:defRPr sz="2600" b="1">
                <a:solidFill>
                  <a:srgbClr val="0F172A"/>
                </a:solidFill>
                <a:latin typeface="Calibri"/>
              </a:defRPr>
            </a:pPr>
            <a:r>
              <a:t>81.68%</a:t>
            </a:r>
          </a:p>
          <a:p>
            <a:pPr>
              <a:defRPr sz="1200" b="1">
                <a:solidFill>
                  <a:srgbClr val="0F172A"/>
                </a:solidFill>
                <a:latin typeface="Calibri"/>
              </a:defRPr>
            </a:pPr>
            <a:r>
              <a:t>Specificity</a:t>
            </a:r>
          </a:p>
          <a:p>
            <a:pPr>
              <a:defRPr sz="1000">
                <a:solidFill>
                  <a:srgbClr val="64748B"/>
                </a:solidFill>
                <a:latin typeface="Calibri"/>
              </a:defRPr>
            </a:pPr>
            <a:r>
              <a:t>Filters normal studies</a:t>
            </a:r>
          </a:p>
        </p:txBody>
      </p:sp>
      <p:graphicFrame>
        <p:nvGraphicFramePr>
          <p:cNvPr id="13" name="Table 12"/>
          <p:cNvGraphicFramePr>
            <a:graphicFrameLocks noGrp="1"/>
          </p:cNvGraphicFramePr>
          <p:nvPr/>
        </p:nvGraphicFramePr>
        <p:xfrm>
          <a:off x="731520" y="3017520"/>
          <a:ext cx="10698480" cy="3291840"/>
        </p:xfrm>
        <a:graphic>
          <a:graphicData uri="http://schemas.openxmlformats.org/drawingml/2006/table">
            <a:tbl>
              <a:tblPr firstRow="1" bandRow="1">
                <a:tableStyleId>{5C22544A-7EE6-4342-B048-85BDC9FD1C3A}</a:tableStyleId>
              </a:tblPr>
              <a:tblGrid>
                <a:gridCol w="2139696">
                  <a:extLst>
                    <a:ext uri="{9D8B030D-6E8A-4147-A177-3AD203B41FA5}">
                      <a16:colId xmlns:a16="http://schemas.microsoft.com/office/drawing/2014/main" val="20000"/>
                    </a:ext>
                  </a:extLst>
                </a:gridCol>
                <a:gridCol w="2139696">
                  <a:extLst>
                    <a:ext uri="{9D8B030D-6E8A-4147-A177-3AD203B41FA5}">
                      <a16:colId xmlns:a16="http://schemas.microsoft.com/office/drawing/2014/main" val="20001"/>
                    </a:ext>
                  </a:extLst>
                </a:gridCol>
                <a:gridCol w="2139696">
                  <a:extLst>
                    <a:ext uri="{9D8B030D-6E8A-4147-A177-3AD203B41FA5}">
                      <a16:colId xmlns:a16="http://schemas.microsoft.com/office/drawing/2014/main" val="20002"/>
                    </a:ext>
                  </a:extLst>
                </a:gridCol>
                <a:gridCol w="2139696">
                  <a:extLst>
                    <a:ext uri="{9D8B030D-6E8A-4147-A177-3AD203B41FA5}">
                      <a16:colId xmlns:a16="http://schemas.microsoft.com/office/drawing/2014/main" val="20003"/>
                    </a:ext>
                  </a:extLst>
                </a:gridCol>
                <a:gridCol w="2139696">
                  <a:extLst>
                    <a:ext uri="{9D8B030D-6E8A-4147-A177-3AD203B41FA5}">
                      <a16:colId xmlns:a16="http://schemas.microsoft.com/office/drawing/2014/main" val="20004"/>
                    </a:ext>
                  </a:extLst>
                </a:gridCol>
              </a:tblGrid>
              <a:tr h="470262">
                <a:tc>
                  <a:txBody>
                    <a:bodyPr/>
                    <a:lstStyle/>
                    <a:p>
                      <a:pPr algn="l">
                        <a:defRPr sz="1200" b="1">
                          <a:solidFill>
                            <a:srgbClr val="FFFFFF"/>
                          </a:solidFill>
                          <a:latin typeface="Calibri"/>
                        </a:defRPr>
                      </a:pPr>
                      <a:r>
                        <a:t>Method / Architecture</a:t>
                      </a:r>
                    </a:p>
                  </a:txBody>
                  <a:tcPr anchor="ctr">
                    <a:solidFill>
                      <a:srgbClr val="1E3A8A"/>
                    </a:solidFill>
                  </a:tcPr>
                </a:tc>
                <a:tc>
                  <a:txBody>
                    <a:bodyPr/>
                    <a:lstStyle/>
                    <a:p>
                      <a:pPr algn="l">
                        <a:defRPr sz="1200" b="1">
                          <a:solidFill>
                            <a:srgbClr val="FFFFFF"/>
                          </a:solidFill>
                          <a:latin typeface="Calibri"/>
                        </a:defRPr>
                      </a:pPr>
                      <a:r>
                        <a:t>AUROC (%)</a:t>
                      </a:r>
                    </a:p>
                  </a:txBody>
                  <a:tcPr anchor="ctr">
                    <a:solidFill>
                      <a:srgbClr val="1E3A8A"/>
                    </a:solidFill>
                  </a:tcPr>
                </a:tc>
                <a:tc>
                  <a:txBody>
                    <a:bodyPr/>
                    <a:lstStyle/>
                    <a:p>
                      <a:pPr algn="l">
                        <a:defRPr sz="1200" b="1">
                          <a:solidFill>
                            <a:srgbClr val="FFFFFF"/>
                          </a:solidFill>
                          <a:latin typeface="Calibri"/>
                        </a:defRPr>
                      </a:pPr>
                      <a:r>
                        <a:t>F1 (%)</a:t>
                      </a:r>
                    </a:p>
                  </a:txBody>
                  <a:tcPr anchor="ctr">
                    <a:solidFill>
                      <a:srgbClr val="1E3A8A"/>
                    </a:solidFill>
                  </a:tcPr>
                </a:tc>
                <a:tc>
                  <a:txBody>
                    <a:bodyPr/>
                    <a:lstStyle/>
                    <a:p>
                      <a:pPr algn="l">
                        <a:defRPr sz="1200" b="1">
                          <a:solidFill>
                            <a:srgbClr val="FFFFFF"/>
                          </a:solidFill>
                          <a:latin typeface="Calibri"/>
                        </a:defRPr>
                      </a:pPr>
                      <a:r>
                        <a:t>Sensitivity (%)</a:t>
                      </a:r>
                    </a:p>
                  </a:txBody>
                  <a:tcPr anchor="ctr">
                    <a:solidFill>
                      <a:srgbClr val="1E3A8A"/>
                    </a:solidFill>
                  </a:tcPr>
                </a:tc>
                <a:tc>
                  <a:txBody>
                    <a:bodyPr/>
                    <a:lstStyle/>
                    <a:p>
                      <a:pPr algn="l">
                        <a:defRPr sz="1200" b="1">
                          <a:solidFill>
                            <a:srgbClr val="FFFFFF"/>
                          </a:solidFill>
                          <a:latin typeface="Calibri"/>
                        </a:defRPr>
                      </a:pPr>
                      <a:r>
                        <a:t>Specificity (%)</a:t>
                      </a:r>
                    </a:p>
                  </a:txBody>
                  <a:tcPr anchor="ctr">
                    <a:solidFill>
                      <a:srgbClr val="1E3A8A"/>
                    </a:solidFill>
                  </a:tcPr>
                </a:tc>
                <a:extLst>
                  <a:ext uri="{0D108BD9-81ED-4DB2-BD59-A6C34878D82A}">
                    <a16:rowId xmlns:a16="http://schemas.microsoft.com/office/drawing/2014/main" val="10000"/>
                  </a:ext>
                </a:extLst>
              </a:tr>
              <a:tr h="470262">
                <a:tc>
                  <a:txBody>
                    <a:bodyPr/>
                    <a:lstStyle/>
                    <a:p>
                      <a:pPr algn="l">
                        <a:defRPr sz="1100" b="1">
                          <a:solidFill>
                            <a:srgbClr val="0F172A"/>
                          </a:solidFill>
                          <a:latin typeface="Calibri"/>
                        </a:defRPr>
                      </a:pPr>
                      <a:r>
                        <a:t>EfficientNetV2-S</a:t>
                      </a:r>
                    </a:p>
                  </a:txBody>
                  <a:tcPr anchor="ctr">
                    <a:solidFill>
                      <a:srgbClr val="F1F5F9"/>
                    </a:solidFill>
                  </a:tcPr>
                </a:tc>
                <a:tc>
                  <a:txBody>
                    <a:bodyPr/>
                    <a:lstStyle/>
                    <a:p>
                      <a:pPr algn="l">
                        <a:defRPr sz="1100" b="0">
                          <a:solidFill>
                            <a:srgbClr val="0F172A"/>
                          </a:solidFill>
                          <a:latin typeface="Calibri"/>
                        </a:defRPr>
                      </a:pPr>
                      <a:r>
                        <a:t>89.44</a:t>
                      </a:r>
                    </a:p>
                  </a:txBody>
                  <a:tcPr anchor="ctr">
                    <a:solidFill>
                      <a:srgbClr val="F1F5F9"/>
                    </a:solidFill>
                  </a:tcPr>
                </a:tc>
                <a:tc>
                  <a:txBody>
                    <a:bodyPr/>
                    <a:lstStyle/>
                    <a:p>
                      <a:pPr algn="l">
                        <a:defRPr sz="1100" b="0">
                          <a:solidFill>
                            <a:srgbClr val="0F172A"/>
                          </a:solidFill>
                          <a:latin typeface="Calibri"/>
                        </a:defRPr>
                      </a:pPr>
                      <a:r>
                        <a:t>79.34</a:t>
                      </a:r>
                    </a:p>
                  </a:txBody>
                  <a:tcPr anchor="ctr">
                    <a:solidFill>
                      <a:srgbClr val="F1F5F9"/>
                    </a:solidFill>
                  </a:tcPr>
                </a:tc>
                <a:tc>
                  <a:txBody>
                    <a:bodyPr/>
                    <a:lstStyle/>
                    <a:p>
                      <a:pPr algn="l">
                        <a:defRPr sz="1100" b="0">
                          <a:solidFill>
                            <a:srgbClr val="0F172A"/>
                          </a:solidFill>
                          <a:latin typeface="Calibri"/>
                        </a:defRPr>
                      </a:pPr>
                      <a:r>
                        <a:t>70.80</a:t>
                      </a:r>
                    </a:p>
                  </a:txBody>
                  <a:tcPr anchor="ctr">
                    <a:solidFill>
                      <a:srgbClr val="F1F5F9"/>
                    </a:solidFill>
                  </a:tcPr>
                </a:tc>
                <a:tc>
                  <a:txBody>
                    <a:bodyPr/>
                    <a:lstStyle/>
                    <a:p>
                      <a:pPr algn="l">
                        <a:defRPr sz="1100" b="0">
                          <a:solidFill>
                            <a:srgbClr val="0F172A"/>
                          </a:solidFill>
                          <a:latin typeface="Calibri"/>
                        </a:defRPr>
                      </a:pPr>
                      <a:r>
                        <a:t>91.12</a:t>
                      </a:r>
                    </a:p>
                  </a:txBody>
                  <a:tcPr anchor="ctr">
                    <a:solidFill>
                      <a:srgbClr val="F1F5F9"/>
                    </a:solidFill>
                  </a:tcPr>
                </a:tc>
                <a:extLst>
                  <a:ext uri="{0D108BD9-81ED-4DB2-BD59-A6C34878D82A}">
                    <a16:rowId xmlns:a16="http://schemas.microsoft.com/office/drawing/2014/main" val="10001"/>
                  </a:ext>
                </a:extLst>
              </a:tr>
              <a:tr h="470262">
                <a:tc>
                  <a:txBody>
                    <a:bodyPr/>
                    <a:lstStyle/>
                    <a:p>
                      <a:pPr algn="l">
                        <a:defRPr sz="1100" b="1">
                          <a:solidFill>
                            <a:srgbClr val="0F172A"/>
                          </a:solidFill>
                          <a:latin typeface="Calibri"/>
                        </a:defRPr>
                      </a:pPr>
                      <a:r>
                        <a:t>ResNet50</a:t>
                      </a:r>
                    </a:p>
                  </a:txBody>
                  <a:tcPr anchor="ctr">
                    <a:solidFill>
                      <a:srgbClr val="FFFFFF"/>
                    </a:solidFill>
                  </a:tcPr>
                </a:tc>
                <a:tc>
                  <a:txBody>
                    <a:bodyPr/>
                    <a:lstStyle/>
                    <a:p>
                      <a:pPr algn="l">
                        <a:defRPr sz="1100" b="0">
                          <a:solidFill>
                            <a:srgbClr val="0F172A"/>
                          </a:solidFill>
                          <a:latin typeface="Calibri"/>
                        </a:defRPr>
                      </a:pPr>
                      <a:r>
                        <a:t>88.88</a:t>
                      </a:r>
                    </a:p>
                  </a:txBody>
                  <a:tcPr anchor="ctr">
                    <a:solidFill>
                      <a:srgbClr val="FFFFFF"/>
                    </a:solidFill>
                  </a:tcPr>
                </a:tc>
                <a:tc>
                  <a:txBody>
                    <a:bodyPr/>
                    <a:lstStyle/>
                    <a:p>
                      <a:pPr algn="l">
                        <a:defRPr sz="1100" b="0">
                          <a:solidFill>
                            <a:srgbClr val="0F172A"/>
                          </a:solidFill>
                          <a:latin typeface="Calibri"/>
                        </a:defRPr>
                      </a:pPr>
                      <a:r>
                        <a:t>80.15</a:t>
                      </a:r>
                    </a:p>
                  </a:txBody>
                  <a:tcPr anchor="ctr">
                    <a:solidFill>
                      <a:srgbClr val="FFFFFF"/>
                    </a:solidFill>
                  </a:tcPr>
                </a:tc>
                <a:tc>
                  <a:txBody>
                    <a:bodyPr/>
                    <a:lstStyle/>
                    <a:p>
                      <a:pPr algn="l">
                        <a:defRPr sz="1100" b="0">
                          <a:solidFill>
                            <a:srgbClr val="0F172A"/>
                          </a:solidFill>
                          <a:latin typeface="Calibri"/>
                        </a:defRPr>
                      </a:pPr>
                      <a:r>
                        <a:t>82.72</a:t>
                      </a:r>
                    </a:p>
                  </a:txBody>
                  <a:tcPr anchor="ctr">
                    <a:solidFill>
                      <a:srgbClr val="FFFFFF"/>
                    </a:solidFill>
                  </a:tcPr>
                </a:tc>
                <a:tc>
                  <a:txBody>
                    <a:bodyPr/>
                    <a:lstStyle/>
                    <a:p>
                      <a:pPr algn="l">
                        <a:defRPr sz="1100" b="0">
                          <a:solidFill>
                            <a:srgbClr val="0F172A"/>
                          </a:solidFill>
                          <a:latin typeface="Calibri"/>
                        </a:defRPr>
                      </a:pPr>
                      <a:r>
                        <a:t>78.13</a:t>
                      </a:r>
                    </a:p>
                  </a:txBody>
                  <a:tcPr anchor="ctr">
                    <a:solidFill>
                      <a:srgbClr val="FFFFFF"/>
                    </a:solidFill>
                  </a:tcPr>
                </a:tc>
                <a:extLst>
                  <a:ext uri="{0D108BD9-81ED-4DB2-BD59-A6C34878D82A}">
                    <a16:rowId xmlns:a16="http://schemas.microsoft.com/office/drawing/2014/main" val="10002"/>
                  </a:ext>
                </a:extLst>
              </a:tr>
              <a:tr h="470262">
                <a:tc>
                  <a:txBody>
                    <a:bodyPr/>
                    <a:lstStyle/>
                    <a:p>
                      <a:pPr algn="l">
                        <a:defRPr sz="1100" b="1">
                          <a:solidFill>
                            <a:srgbClr val="0F172A"/>
                          </a:solidFill>
                          <a:latin typeface="Calibri"/>
                        </a:defRPr>
                      </a:pPr>
                      <a:r>
                        <a:t>DenseNet121</a:t>
                      </a:r>
                    </a:p>
                  </a:txBody>
                  <a:tcPr anchor="ctr">
                    <a:solidFill>
                      <a:srgbClr val="F1F5F9"/>
                    </a:solidFill>
                  </a:tcPr>
                </a:tc>
                <a:tc>
                  <a:txBody>
                    <a:bodyPr/>
                    <a:lstStyle/>
                    <a:p>
                      <a:pPr algn="l">
                        <a:defRPr sz="1100" b="0">
                          <a:solidFill>
                            <a:srgbClr val="0F172A"/>
                          </a:solidFill>
                          <a:latin typeface="Calibri"/>
                        </a:defRPr>
                      </a:pPr>
                      <a:r>
                        <a:t>86.93</a:t>
                      </a:r>
                    </a:p>
                  </a:txBody>
                  <a:tcPr anchor="ctr">
                    <a:solidFill>
                      <a:srgbClr val="F1F5F9"/>
                    </a:solidFill>
                  </a:tcPr>
                </a:tc>
                <a:tc>
                  <a:txBody>
                    <a:bodyPr/>
                    <a:lstStyle/>
                    <a:p>
                      <a:pPr algn="l">
                        <a:defRPr sz="1100" b="0">
                          <a:solidFill>
                            <a:srgbClr val="0F172A"/>
                          </a:solidFill>
                          <a:latin typeface="Calibri"/>
                        </a:defRPr>
                      </a:pPr>
                      <a:r>
                        <a:t>79.55</a:t>
                      </a:r>
                    </a:p>
                  </a:txBody>
                  <a:tcPr anchor="ctr">
                    <a:solidFill>
                      <a:srgbClr val="F1F5F9"/>
                    </a:solidFill>
                  </a:tcPr>
                </a:tc>
                <a:tc>
                  <a:txBody>
                    <a:bodyPr/>
                    <a:lstStyle/>
                    <a:p>
                      <a:pPr algn="l">
                        <a:defRPr sz="1100" b="0">
                          <a:solidFill>
                            <a:srgbClr val="0F172A"/>
                          </a:solidFill>
                          <a:latin typeface="Calibri"/>
                        </a:defRPr>
                      </a:pPr>
                      <a:r>
                        <a:t>80.39</a:t>
                      </a:r>
                    </a:p>
                  </a:txBody>
                  <a:tcPr anchor="ctr">
                    <a:solidFill>
                      <a:srgbClr val="F1F5F9"/>
                    </a:solidFill>
                  </a:tcPr>
                </a:tc>
                <a:tc>
                  <a:txBody>
                    <a:bodyPr/>
                    <a:lstStyle/>
                    <a:p>
                      <a:pPr algn="l">
                        <a:defRPr sz="1100" b="0">
                          <a:solidFill>
                            <a:srgbClr val="0F172A"/>
                          </a:solidFill>
                          <a:latin typeface="Calibri"/>
                        </a:defRPr>
                      </a:pPr>
                      <a:r>
                        <a:t>79.32</a:t>
                      </a:r>
                    </a:p>
                  </a:txBody>
                  <a:tcPr anchor="ctr">
                    <a:solidFill>
                      <a:srgbClr val="F1F5F9"/>
                    </a:solidFill>
                  </a:tcPr>
                </a:tc>
                <a:extLst>
                  <a:ext uri="{0D108BD9-81ED-4DB2-BD59-A6C34878D82A}">
                    <a16:rowId xmlns:a16="http://schemas.microsoft.com/office/drawing/2014/main" val="10003"/>
                  </a:ext>
                </a:extLst>
              </a:tr>
              <a:tr h="470262">
                <a:tc>
                  <a:txBody>
                    <a:bodyPr/>
                    <a:lstStyle/>
                    <a:p>
                      <a:pPr algn="l">
                        <a:defRPr sz="1100" b="1">
                          <a:solidFill>
                            <a:srgbClr val="0F172A"/>
                          </a:solidFill>
                          <a:latin typeface="Calibri"/>
                        </a:defRPr>
                      </a:pPr>
                      <a:r>
                        <a:t>VinDr Ensemble (Baseline)</a:t>
                      </a:r>
                    </a:p>
                  </a:txBody>
                  <a:tcPr anchor="ctr">
                    <a:solidFill>
                      <a:srgbClr val="FFFFFF"/>
                    </a:solidFill>
                  </a:tcPr>
                </a:tc>
                <a:tc>
                  <a:txBody>
                    <a:bodyPr/>
                    <a:lstStyle/>
                    <a:p>
                      <a:pPr algn="l">
                        <a:defRPr sz="1100" b="0">
                          <a:solidFill>
                            <a:srgbClr val="0F172A"/>
                          </a:solidFill>
                          <a:latin typeface="Calibri"/>
                        </a:defRPr>
                      </a:pPr>
                      <a:r>
                        <a:t>88.61</a:t>
                      </a:r>
                    </a:p>
                  </a:txBody>
                  <a:tcPr anchor="ctr">
                    <a:solidFill>
                      <a:srgbClr val="FFFFFF"/>
                    </a:solidFill>
                  </a:tcPr>
                </a:tc>
                <a:tc>
                  <a:txBody>
                    <a:bodyPr/>
                    <a:lstStyle/>
                    <a:p>
                      <a:pPr algn="l">
                        <a:defRPr sz="1100" b="0">
                          <a:solidFill>
                            <a:srgbClr val="0F172A"/>
                          </a:solidFill>
                          <a:latin typeface="Calibri"/>
                        </a:defRPr>
                      </a:pPr>
                      <a:r>
                        <a:t>81.06</a:t>
                      </a:r>
                    </a:p>
                  </a:txBody>
                  <a:tcPr anchor="ctr">
                    <a:solidFill>
                      <a:srgbClr val="FFFFFF"/>
                    </a:solidFill>
                  </a:tcPr>
                </a:tc>
                <a:tc>
                  <a:txBody>
                    <a:bodyPr/>
                    <a:lstStyle/>
                    <a:p>
                      <a:pPr algn="l">
                        <a:defRPr sz="1100" b="0">
                          <a:solidFill>
                            <a:srgbClr val="0F172A"/>
                          </a:solidFill>
                          <a:latin typeface="Calibri"/>
                        </a:defRPr>
                      </a:pPr>
                      <a:r>
                        <a:t>83.07</a:t>
                      </a:r>
                    </a:p>
                  </a:txBody>
                  <a:tcPr anchor="ctr">
                    <a:solidFill>
                      <a:srgbClr val="FFFFFF"/>
                    </a:solidFill>
                  </a:tcPr>
                </a:tc>
                <a:tc>
                  <a:txBody>
                    <a:bodyPr/>
                    <a:lstStyle/>
                    <a:p>
                      <a:pPr algn="l">
                        <a:defRPr sz="1100" b="0">
                          <a:solidFill>
                            <a:srgbClr val="0F172A"/>
                          </a:solidFill>
                          <a:latin typeface="Calibri"/>
                        </a:defRPr>
                      </a:pPr>
                      <a:r>
                        <a:t>79.32</a:t>
                      </a:r>
                    </a:p>
                  </a:txBody>
                  <a:tcPr anchor="ctr">
                    <a:solidFill>
                      <a:srgbClr val="FFFFFF"/>
                    </a:solidFill>
                  </a:tcPr>
                </a:tc>
                <a:extLst>
                  <a:ext uri="{0D108BD9-81ED-4DB2-BD59-A6C34878D82A}">
                    <a16:rowId xmlns:a16="http://schemas.microsoft.com/office/drawing/2014/main" val="10004"/>
                  </a:ext>
                </a:extLst>
              </a:tr>
              <a:tr h="470262">
                <a:tc>
                  <a:txBody>
                    <a:bodyPr/>
                    <a:lstStyle/>
                    <a:p>
                      <a:pPr algn="l">
                        <a:defRPr sz="1100" b="1">
                          <a:solidFill>
                            <a:srgbClr val="0F172A"/>
                          </a:solidFill>
                          <a:latin typeface="Calibri"/>
                        </a:defRPr>
                      </a:pPr>
                      <a:r>
                        <a:t>HealNNET</a:t>
                      </a:r>
                    </a:p>
                  </a:txBody>
                  <a:tcPr anchor="ctr">
                    <a:solidFill>
                      <a:srgbClr val="F1F5F9"/>
                    </a:solidFill>
                  </a:tcPr>
                </a:tc>
                <a:tc>
                  <a:txBody>
                    <a:bodyPr/>
                    <a:lstStyle/>
                    <a:p>
                      <a:pPr algn="l">
                        <a:defRPr sz="1100" b="0">
                          <a:solidFill>
                            <a:srgbClr val="0F172A"/>
                          </a:solidFill>
                          <a:latin typeface="Calibri"/>
                        </a:defRPr>
                      </a:pPr>
                      <a:r>
                        <a:t>88.84</a:t>
                      </a:r>
                    </a:p>
                  </a:txBody>
                  <a:tcPr anchor="ctr">
                    <a:solidFill>
                      <a:srgbClr val="F1F5F9"/>
                    </a:solidFill>
                  </a:tcPr>
                </a:tc>
                <a:tc>
                  <a:txBody>
                    <a:bodyPr/>
                    <a:lstStyle/>
                    <a:p>
                      <a:pPr algn="l">
                        <a:defRPr sz="1100" b="0">
                          <a:solidFill>
                            <a:srgbClr val="0F172A"/>
                          </a:solidFill>
                          <a:latin typeface="Calibri"/>
                        </a:defRPr>
                      </a:pPr>
                      <a:r>
                        <a:t>81.20</a:t>
                      </a:r>
                    </a:p>
                  </a:txBody>
                  <a:tcPr anchor="ctr">
                    <a:solidFill>
                      <a:srgbClr val="F1F5F9"/>
                    </a:solidFill>
                  </a:tcPr>
                </a:tc>
                <a:tc>
                  <a:txBody>
                    <a:bodyPr/>
                    <a:lstStyle/>
                    <a:p>
                      <a:pPr algn="l">
                        <a:defRPr sz="1100" b="0">
                          <a:solidFill>
                            <a:srgbClr val="0F172A"/>
                          </a:solidFill>
                          <a:latin typeface="Calibri"/>
                        </a:defRPr>
                      </a:pPr>
                      <a:r>
                        <a:t>—</a:t>
                      </a:r>
                    </a:p>
                  </a:txBody>
                  <a:tcPr anchor="ctr">
                    <a:solidFill>
                      <a:srgbClr val="F1F5F9"/>
                    </a:solidFill>
                  </a:tcPr>
                </a:tc>
                <a:tc>
                  <a:txBody>
                    <a:bodyPr/>
                    <a:lstStyle/>
                    <a:p>
                      <a:pPr algn="l">
                        <a:defRPr sz="1100" b="0">
                          <a:solidFill>
                            <a:srgbClr val="0F172A"/>
                          </a:solidFill>
                          <a:latin typeface="Calibri"/>
                        </a:defRPr>
                      </a:pPr>
                      <a:r>
                        <a:t>—</a:t>
                      </a:r>
                    </a:p>
                  </a:txBody>
                  <a:tcPr anchor="ctr">
                    <a:solidFill>
                      <a:srgbClr val="F1F5F9"/>
                    </a:solidFill>
                  </a:tcPr>
                </a:tc>
                <a:extLst>
                  <a:ext uri="{0D108BD9-81ED-4DB2-BD59-A6C34878D82A}">
                    <a16:rowId xmlns:a16="http://schemas.microsoft.com/office/drawing/2014/main" val="10005"/>
                  </a:ext>
                </a:extLst>
              </a:tr>
              <a:tr h="470268">
                <a:tc>
                  <a:txBody>
                    <a:bodyPr/>
                    <a:lstStyle/>
                    <a:p>
                      <a:pPr algn="l">
                        <a:defRPr sz="1100" b="1">
                          <a:solidFill>
                            <a:srgbClr val="0F172A"/>
                          </a:solidFill>
                          <a:latin typeface="Calibri"/>
                        </a:defRPr>
                      </a:pPr>
                      <a:r>
                        <a:t>DERNet (Proposed Cascade Gate)</a:t>
                      </a:r>
                    </a:p>
                  </a:txBody>
                  <a:tcPr anchor="ctr">
                    <a:solidFill>
                      <a:srgbClr val="DCFCE7"/>
                    </a:solidFill>
                  </a:tcPr>
                </a:tc>
                <a:tc>
                  <a:txBody>
                    <a:bodyPr/>
                    <a:lstStyle/>
                    <a:p>
                      <a:pPr algn="l">
                        <a:defRPr sz="1100" b="1">
                          <a:solidFill>
                            <a:srgbClr val="10B981"/>
                          </a:solidFill>
                          <a:latin typeface="Calibri"/>
                        </a:defRPr>
                      </a:pPr>
                      <a:r>
                        <a:t>91.03</a:t>
                      </a:r>
                    </a:p>
                  </a:txBody>
                  <a:tcPr anchor="ctr">
                    <a:solidFill>
                      <a:srgbClr val="DCFCE7"/>
                    </a:solidFill>
                  </a:tcPr>
                </a:tc>
                <a:tc>
                  <a:txBody>
                    <a:bodyPr/>
                    <a:lstStyle/>
                    <a:p>
                      <a:pPr algn="l">
                        <a:defRPr sz="1100" b="1">
                          <a:solidFill>
                            <a:srgbClr val="10B981"/>
                          </a:solidFill>
                          <a:latin typeface="Calibri"/>
                        </a:defRPr>
                      </a:pPr>
                      <a:r>
                        <a:t>83.09</a:t>
                      </a:r>
                    </a:p>
                  </a:txBody>
                  <a:tcPr anchor="ctr">
                    <a:solidFill>
                      <a:srgbClr val="DCFCE7"/>
                    </a:solidFill>
                  </a:tcPr>
                </a:tc>
                <a:tc>
                  <a:txBody>
                    <a:bodyPr/>
                    <a:lstStyle/>
                    <a:p>
                      <a:pPr algn="l">
                        <a:defRPr sz="1100" b="1">
                          <a:solidFill>
                            <a:srgbClr val="10B981"/>
                          </a:solidFill>
                          <a:latin typeface="Calibri"/>
                        </a:defRPr>
                      </a:pPr>
                      <a:r>
                        <a:t>84.91</a:t>
                      </a:r>
                    </a:p>
                  </a:txBody>
                  <a:tcPr anchor="ctr">
                    <a:solidFill>
                      <a:srgbClr val="DCFCE7"/>
                    </a:solidFill>
                  </a:tcPr>
                </a:tc>
                <a:tc>
                  <a:txBody>
                    <a:bodyPr/>
                    <a:lstStyle/>
                    <a:p>
                      <a:pPr algn="l">
                        <a:defRPr sz="1100" b="1">
                          <a:solidFill>
                            <a:srgbClr val="10B981"/>
                          </a:solidFill>
                          <a:latin typeface="Calibri"/>
                        </a:defRPr>
                      </a:pPr>
                      <a:r>
                        <a:t>81.68</a:t>
                      </a:r>
                    </a:p>
                  </a:txBody>
                  <a:tcPr anchor="ctr">
                    <a:solidFill>
                      <a:srgbClr val="DCFCE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LESION LOCALIZATION</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Stage 2: Customized YOLO11-L for Minute Lesions</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09</a:t>
            </a:r>
          </a:p>
        </p:txBody>
      </p:sp>
      <p:sp>
        <p:nvSpPr>
          <p:cNvPr id="5" name="Rounded Rectangle 4"/>
          <p:cNvSpPr/>
          <p:nvPr/>
        </p:nvSpPr>
        <p:spPr>
          <a:xfrm>
            <a:off x="731520" y="1463040"/>
            <a:ext cx="32918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2926080" cy="4206240"/>
          </a:xfrm>
          <a:prstGeom prst="rect">
            <a:avLst/>
          </a:prstGeom>
          <a:noFill/>
        </p:spPr>
        <p:txBody>
          <a:bodyPr wrap="square">
            <a:spAutoFit/>
          </a:bodyPr>
          <a:lstStyle/>
          <a:p>
            <a:pPr>
              <a:defRPr sz="1600" b="1">
                <a:solidFill>
                  <a:srgbClr val="1E3A8A"/>
                </a:solidFill>
              </a:defRPr>
            </a:pPr>
            <a:r>
              <a:t>Backbone: CSP-Darknet + C2PSA</a:t>
            </a:r>
          </a:p>
          <a:p>
            <a:pPr>
              <a:defRPr sz="1200"/>
            </a:pPr>
            <a:r>
              <a:t>• Cross-Stage Partial connections ensure gradient flow while reducing redundant compute.</a:t>
            </a:r>
          </a:p>
          <a:p>
            <a:pPr>
              <a:defRPr sz="1200"/>
            </a:pPr>
            <a:r>
              <a:t>• C2PSA (Cross-Stage Partial with Spatial Attention) preserves high-frequency edge gradients.</a:t>
            </a:r>
          </a:p>
          <a:p>
            <a:pPr>
              <a:defRPr sz="1200"/>
            </a:pPr>
            <a:r>
              <a:t>• Suppresses background anatomical noise across lung and pelvis regions.</a:t>
            </a:r>
          </a:p>
          <a:p>
            <a:pPr>
              <a:defRPr sz="1200"/>
            </a:pPr>
            <a:r>
              <a:t>• Secures 41.40% AP on minute foraminal stenosis.</a:t>
            </a:r>
          </a:p>
        </p:txBody>
      </p:sp>
      <p:sp>
        <p:nvSpPr>
          <p:cNvPr id="7" name="Rounded Rectangle 6"/>
          <p:cNvSpPr/>
          <p:nvPr/>
        </p:nvSpPr>
        <p:spPr>
          <a:xfrm>
            <a:off x="4389120" y="1463040"/>
            <a:ext cx="32918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645920"/>
            <a:ext cx="2926080" cy="4206240"/>
          </a:xfrm>
          <a:prstGeom prst="rect">
            <a:avLst/>
          </a:prstGeom>
          <a:noFill/>
        </p:spPr>
        <p:txBody>
          <a:bodyPr wrap="square">
            <a:spAutoFit/>
          </a:bodyPr>
          <a:lstStyle/>
          <a:p>
            <a:pPr>
              <a:defRPr sz="1600" b="1">
                <a:solidFill>
                  <a:srgbClr val="0EA5E9"/>
                </a:solidFill>
              </a:defRPr>
            </a:pPr>
            <a:r>
              <a:t>Neck: PANet Feature Fusion</a:t>
            </a:r>
          </a:p>
          <a:p>
            <a:pPr>
              <a:defRPr sz="1200"/>
            </a:pPr>
            <a:r>
              <a:t>• Path Aggregation Network with bidirectional feature pyramid flow.</a:t>
            </a:r>
          </a:p>
          <a:p>
            <a:pPr>
              <a:defRPr sz="1200"/>
            </a:pPr>
            <a:r>
              <a:t>• Fuses shallow high-resolution spatial maps with deep semantic maps (N3 to N5).</a:t>
            </a:r>
          </a:p>
          <a:p>
            <a:pPr>
              <a:defRPr sz="1200"/>
            </a:pPr>
            <a:r>
              <a:t>• Preserves fine-grained pathology signals (&lt;0.25% FOV, &lt;32×32 px).</a:t>
            </a:r>
          </a:p>
          <a:p>
            <a:pPr>
              <a:defRPr sz="1200"/>
            </a:pPr>
            <a:r>
              <a:t>• Prevents small lesion coordinates from vanishing during successive pooling.</a:t>
            </a:r>
          </a:p>
        </p:txBody>
      </p:sp>
      <p:sp>
        <p:nvSpPr>
          <p:cNvPr id="9" name="Rounded Rectangle 8"/>
          <p:cNvSpPr/>
          <p:nvPr/>
        </p:nvSpPr>
        <p:spPr>
          <a:xfrm>
            <a:off x="8046720" y="1463040"/>
            <a:ext cx="33832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645920"/>
            <a:ext cx="3017520" cy="4206240"/>
          </a:xfrm>
          <a:prstGeom prst="rect">
            <a:avLst/>
          </a:prstGeom>
          <a:noFill/>
        </p:spPr>
        <p:txBody>
          <a:bodyPr wrap="square">
            <a:spAutoFit/>
          </a:bodyPr>
          <a:lstStyle/>
          <a:p>
            <a:pPr>
              <a:defRPr sz="1600" b="1">
                <a:solidFill>
                  <a:srgbClr val="10B981"/>
                </a:solidFill>
              </a:defRPr>
            </a:pPr>
            <a:r>
              <a:t>Head: Multi-Scale Detection Grids</a:t>
            </a:r>
          </a:p>
          <a:p>
            <a:pPr>
              <a:defRPr sz="1200"/>
            </a:pPr>
            <a:r>
              <a:t>• Triple-grid prediction heads:</a:t>
            </a:r>
          </a:p>
          <a:p>
            <a:pPr>
              <a:defRPr sz="1200"/>
            </a:pPr>
            <a:r>
              <a:t>•   • 80×80: Dedicated to minute bone spurs and stenosis.</a:t>
            </a:r>
          </a:p>
          <a:p>
            <a:pPr>
              <a:defRPr sz="1200"/>
            </a:pPr>
            <a:r>
              <a:t>•   • 40×40: Mid-scale disc space abnormalities.</a:t>
            </a:r>
          </a:p>
          <a:p>
            <a:pPr>
              <a:defRPr sz="1200"/>
            </a:pPr>
            <a:r>
              <a:t>•   • 20×20: Macro-scale vertebral dislocation.</a:t>
            </a:r>
          </a:p>
          <a:p>
            <a:pPr>
              <a:defRPr sz="1200"/>
            </a:pPr>
            <a:r>
              <a:t>• Filtered via decoupled Non-Maximum Suppression (NMS).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IMBALANCE ENGINEERING</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Loss Design &amp; Targeted Copy-Paste Augmentation</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10</a:t>
            </a:r>
          </a:p>
        </p:txBody>
      </p:sp>
      <p:sp>
        <p:nvSpPr>
          <p:cNvPr id="5" name="Rounded Rectangle 4"/>
          <p:cNvSpPr/>
          <p:nvPr/>
        </p:nvSpPr>
        <p:spPr>
          <a:xfrm>
            <a:off x="731520" y="1463040"/>
            <a:ext cx="51206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4754880" cy="4206240"/>
          </a:xfrm>
          <a:prstGeom prst="rect">
            <a:avLst/>
          </a:prstGeom>
          <a:noFill/>
        </p:spPr>
        <p:txBody>
          <a:bodyPr wrap="square">
            <a:spAutoFit/>
          </a:bodyPr>
          <a:lstStyle/>
          <a:p>
            <a:pPr>
              <a:defRPr sz="1600" b="1">
                <a:solidFill>
                  <a:srgbClr val="1E3A8A"/>
                </a:solidFill>
              </a:defRPr>
            </a:pPr>
            <a:r>
              <a:t>Composite Loss Objective (Eq. 3)</a:t>
            </a:r>
          </a:p>
          <a:p>
            <a:br/>
            <a:r>
              <a:t>L_total = λ_box·L_CIoU + λ_cls·L_Focal + λ_dfl·L_DFL</a:t>
            </a:r>
            <a:br/>
            <a:r>
              <a:t>FL(p_t) = -α_t · (1 - p_t)^γ · log(p_t)</a:t>
            </a:r>
            <a:br/>
            <a:endParaRPr/>
          </a:p>
          <a:p>
            <a:pPr>
              <a:defRPr sz="1200"/>
            </a:pPr>
            <a:r>
              <a:t>• Standard COCO loss weights: λ_box = 7.5, λ_cls = 0.5, λ_dfl = 1.5.</a:t>
            </a:r>
          </a:p>
          <a:p>
            <a:pPr>
              <a:defRPr sz="1200"/>
            </a:pPr>
            <a:r>
              <a:t>• Empirically tuned focal parameters: γ = 2.0, α_t = 0.25.</a:t>
            </a:r>
          </a:p>
          <a:p>
            <a:pPr>
              <a:defRPr sz="1200"/>
            </a:pPr>
            <a:r>
              <a:t>• Down-weights easy, background negative samples and majority osteophytes.</a:t>
            </a:r>
          </a:p>
          <a:p>
            <a:pPr>
              <a:defRPr sz="1200"/>
            </a:pPr>
            <a:r>
              <a:t>• Focuses back-propagation gradients on hard-to-detect rare minority classes.</a:t>
            </a:r>
          </a:p>
        </p:txBody>
      </p:sp>
      <p:sp>
        <p:nvSpPr>
          <p:cNvPr id="7" name="Rounded Rectangle 6"/>
          <p:cNvSpPr/>
          <p:nvPr/>
        </p:nvSpPr>
        <p:spPr>
          <a:xfrm>
            <a:off x="6217920" y="1463040"/>
            <a:ext cx="52120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645920"/>
            <a:ext cx="4846320" cy="4206240"/>
          </a:xfrm>
          <a:prstGeom prst="rect">
            <a:avLst/>
          </a:prstGeom>
          <a:noFill/>
        </p:spPr>
        <p:txBody>
          <a:bodyPr wrap="square">
            <a:spAutoFit/>
          </a:bodyPr>
          <a:lstStyle/>
          <a:p>
            <a:pPr>
              <a:defRPr sz="1600" b="1">
                <a:solidFill>
                  <a:srgbClr val="10B981"/>
                </a:solidFill>
              </a:defRPr>
            </a:pPr>
            <a:r>
              <a:t>20% Copy-Paste Augmentation Ablation</a:t>
            </a:r>
          </a:p>
        </p:txBody>
      </p:sp>
      <p:sp>
        <p:nvSpPr>
          <p:cNvPr id="9" name="Rounded Rectangle 8"/>
          <p:cNvSpPr/>
          <p:nvPr/>
        </p:nvSpPr>
        <p:spPr>
          <a:xfrm>
            <a:off x="6583680" y="2377440"/>
            <a:ext cx="2103120" cy="13716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20840" y="2487168"/>
            <a:ext cx="1828800" cy="1152144"/>
          </a:xfrm>
          <a:prstGeom prst="rect">
            <a:avLst/>
          </a:prstGeom>
          <a:noFill/>
        </p:spPr>
        <p:txBody>
          <a:bodyPr wrap="square">
            <a:spAutoFit/>
          </a:bodyPr>
          <a:lstStyle/>
          <a:p>
            <a:pPr>
              <a:defRPr sz="2600" b="1">
                <a:solidFill>
                  <a:srgbClr val="10B981"/>
                </a:solidFill>
                <a:latin typeface="Calibri"/>
              </a:defRPr>
            </a:pPr>
            <a:r>
              <a:t>40.10%</a:t>
            </a:r>
          </a:p>
          <a:p>
            <a:pPr>
              <a:defRPr sz="1200" b="1">
                <a:solidFill>
                  <a:srgbClr val="0F172A"/>
                </a:solidFill>
                <a:latin typeface="Calibri"/>
              </a:defRPr>
            </a:pPr>
            <a:r>
              <a:t>With Augmentation</a:t>
            </a:r>
          </a:p>
          <a:p>
            <a:pPr>
              <a:defRPr sz="1000">
                <a:solidFill>
                  <a:srgbClr val="64748B"/>
                </a:solidFill>
                <a:latin typeface="Calibri"/>
              </a:defRPr>
            </a:pPr>
            <a:r>
              <a:t>Full pipeline</a:t>
            </a:r>
          </a:p>
        </p:txBody>
      </p:sp>
      <p:sp>
        <p:nvSpPr>
          <p:cNvPr id="11" name="Rounded Rectangle 10"/>
          <p:cNvSpPr/>
          <p:nvPr/>
        </p:nvSpPr>
        <p:spPr>
          <a:xfrm>
            <a:off x="8961120" y="2377440"/>
            <a:ext cx="2103120" cy="13716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98280" y="2487168"/>
            <a:ext cx="1828800" cy="1152144"/>
          </a:xfrm>
          <a:prstGeom prst="rect">
            <a:avLst/>
          </a:prstGeom>
          <a:noFill/>
        </p:spPr>
        <p:txBody>
          <a:bodyPr wrap="square">
            <a:spAutoFit/>
          </a:bodyPr>
          <a:lstStyle/>
          <a:p>
            <a:pPr>
              <a:defRPr sz="2600" b="1">
                <a:solidFill>
                  <a:srgbClr val="F59E0B"/>
                </a:solidFill>
                <a:latin typeface="Calibri"/>
              </a:defRPr>
            </a:pPr>
            <a:r>
              <a:t>37.70%</a:t>
            </a:r>
          </a:p>
          <a:p>
            <a:pPr>
              <a:defRPr sz="1200" b="1">
                <a:solidFill>
                  <a:srgbClr val="0F172A"/>
                </a:solidFill>
                <a:latin typeface="Calibri"/>
              </a:defRPr>
            </a:pPr>
            <a:r>
              <a:t>Without Augmentation</a:t>
            </a:r>
          </a:p>
          <a:p>
            <a:pPr>
              <a:defRPr sz="1000">
                <a:solidFill>
                  <a:srgbClr val="64748B"/>
                </a:solidFill>
                <a:latin typeface="Calibri"/>
              </a:defRPr>
            </a:pPr>
            <a:r>
              <a:t>Baseline ablation</a:t>
            </a:r>
          </a:p>
        </p:txBody>
      </p:sp>
      <p:sp>
        <p:nvSpPr>
          <p:cNvPr id="13" name="TextBox 12"/>
          <p:cNvSpPr txBox="1"/>
          <p:nvPr/>
        </p:nvSpPr>
        <p:spPr>
          <a:xfrm>
            <a:off x="6583680" y="3931920"/>
            <a:ext cx="4480560" cy="1920240"/>
          </a:xfrm>
          <a:prstGeom prst="rect">
            <a:avLst/>
          </a:prstGeom>
          <a:noFill/>
        </p:spPr>
        <p:txBody>
          <a:bodyPr wrap="square">
            <a:spAutoFit/>
          </a:bodyPr>
          <a:lstStyle/>
          <a:p>
            <a:pPr>
              <a:defRPr sz="1200">
                <a:solidFill>
                  <a:srgbClr val="0F172A"/>
                </a:solidFill>
              </a:defRPr>
            </a:pPr>
            <a:r>
              <a:t>Empirical Validation (+2.40% mAP@0.5 Gain):</a:t>
            </a:r>
            <a:br/>
            <a:r>
              <a:t>• Ablating copy-paste drops detection accuracy by 2.40%.</a:t>
            </a:r>
            <a:br/>
            <a:r>
              <a:t>• Reinforces rare pathologies (vertebral collapse, implants) during training.</a:t>
            </a:r>
            <a:br/>
            <a:r>
              <a:t>• Synthesizes realistic pathological co-occurrences without manual radiograph acquisition.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DETECTION RESULTS</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Detection Benchmark: Evaluation Across 7 Lesion Classes</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11</a:t>
            </a:r>
          </a:p>
        </p:txBody>
      </p:sp>
      <p:graphicFrame>
        <p:nvGraphicFramePr>
          <p:cNvPr id="5" name="Table 4"/>
          <p:cNvGraphicFramePr>
            <a:graphicFrameLocks noGrp="1"/>
          </p:cNvGraphicFramePr>
          <p:nvPr/>
        </p:nvGraphicFramePr>
        <p:xfrm>
          <a:off x="731520" y="1463040"/>
          <a:ext cx="10728655" cy="4114800"/>
        </p:xfrm>
        <a:graphic>
          <a:graphicData uri="http://schemas.openxmlformats.org/drawingml/2006/table">
            <a:tbl>
              <a:tblPr firstRow="1" bandRow="1">
                <a:tableStyleId>{5C22544A-7EE6-4342-B048-85BDC9FD1C3A}</a:tableStyleId>
              </a:tblPr>
              <a:tblGrid>
                <a:gridCol w="1192072">
                  <a:extLst>
                    <a:ext uri="{9D8B030D-6E8A-4147-A177-3AD203B41FA5}">
                      <a16:colId xmlns:a16="http://schemas.microsoft.com/office/drawing/2014/main" val="20000"/>
                    </a:ext>
                  </a:extLst>
                </a:gridCol>
                <a:gridCol w="1192072">
                  <a:extLst>
                    <a:ext uri="{9D8B030D-6E8A-4147-A177-3AD203B41FA5}">
                      <a16:colId xmlns:a16="http://schemas.microsoft.com/office/drawing/2014/main" val="20001"/>
                    </a:ext>
                  </a:extLst>
                </a:gridCol>
                <a:gridCol w="1192072">
                  <a:extLst>
                    <a:ext uri="{9D8B030D-6E8A-4147-A177-3AD203B41FA5}">
                      <a16:colId xmlns:a16="http://schemas.microsoft.com/office/drawing/2014/main" val="20002"/>
                    </a:ext>
                  </a:extLst>
                </a:gridCol>
                <a:gridCol w="1192072">
                  <a:extLst>
                    <a:ext uri="{9D8B030D-6E8A-4147-A177-3AD203B41FA5}">
                      <a16:colId xmlns:a16="http://schemas.microsoft.com/office/drawing/2014/main" val="20003"/>
                    </a:ext>
                  </a:extLst>
                </a:gridCol>
                <a:gridCol w="1192072">
                  <a:extLst>
                    <a:ext uri="{9D8B030D-6E8A-4147-A177-3AD203B41FA5}">
                      <a16:colId xmlns:a16="http://schemas.microsoft.com/office/drawing/2014/main" val="20004"/>
                    </a:ext>
                  </a:extLst>
                </a:gridCol>
                <a:gridCol w="1192072">
                  <a:extLst>
                    <a:ext uri="{9D8B030D-6E8A-4147-A177-3AD203B41FA5}">
                      <a16:colId xmlns:a16="http://schemas.microsoft.com/office/drawing/2014/main" val="20005"/>
                    </a:ext>
                  </a:extLst>
                </a:gridCol>
                <a:gridCol w="1192072">
                  <a:extLst>
                    <a:ext uri="{9D8B030D-6E8A-4147-A177-3AD203B41FA5}">
                      <a16:colId xmlns:a16="http://schemas.microsoft.com/office/drawing/2014/main" val="20006"/>
                    </a:ext>
                  </a:extLst>
                </a:gridCol>
                <a:gridCol w="1192072">
                  <a:extLst>
                    <a:ext uri="{9D8B030D-6E8A-4147-A177-3AD203B41FA5}">
                      <a16:colId xmlns:a16="http://schemas.microsoft.com/office/drawing/2014/main" val="20007"/>
                    </a:ext>
                  </a:extLst>
                </a:gridCol>
                <a:gridCol w="1192079">
                  <a:extLst>
                    <a:ext uri="{9D8B030D-6E8A-4147-A177-3AD203B41FA5}">
                      <a16:colId xmlns:a16="http://schemas.microsoft.com/office/drawing/2014/main" val="20008"/>
                    </a:ext>
                  </a:extLst>
                </a:gridCol>
              </a:tblGrid>
              <a:tr h="457200">
                <a:tc>
                  <a:txBody>
                    <a:bodyPr/>
                    <a:lstStyle/>
                    <a:p>
                      <a:pPr algn="l">
                        <a:defRPr sz="1100" b="1">
                          <a:solidFill>
                            <a:srgbClr val="FFFFFF"/>
                          </a:solidFill>
                          <a:latin typeface="Calibri"/>
                        </a:defRPr>
                      </a:pPr>
                      <a:r>
                        <a:t>Method</a:t>
                      </a:r>
                    </a:p>
                  </a:txBody>
                  <a:tcPr anchor="ctr">
                    <a:solidFill>
                      <a:srgbClr val="1E3A8A"/>
                    </a:solidFill>
                  </a:tcPr>
                </a:tc>
                <a:tc>
                  <a:txBody>
                    <a:bodyPr/>
                    <a:lstStyle/>
                    <a:p>
                      <a:pPr algn="ctr">
                        <a:defRPr sz="1100" b="1">
                          <a:solidFill>
                            <a:srgbClr val="FFFFFF"/>
                          </a:solidFill>
                          <a:latin typeface="Calibri"/>
                        </a:defRPr>
                      </a:pPr>
                      <a:r>
                        <a:t>LT2</a:t>
                      </a:r>
                    </a:p>
                  </a:txBody>
                  <a:tcPr anchor="ctr">
                    <a:solidFill>
                      <a:srgbClr val="1E3A8A"/>
                    </a:solidFill>
                  </a:tcPr>
                </a:tc>
                <a:tc>
                  <a:txBody>
                    <a:bodyPr/>
                    <a:lstStyle/>
                    <a:p>
                      <a:pPr algn="ctr">
                        <a:defRPr sz="1100" b="1">
                          <a:solidFill>
                            <a:srgbClr val="FFFFFF"/>
                          </a:solidFill>
                          <a:latin typeface="Calibri"/>
                        </a:defRPr>
                      </a:pPr>
                      <a:r>
                        <a:t>LT4</a:t>
                      </a:r>
                    </a:p>
                  </a:txBody>
                  <a:tcPr anchor="ctr">
                    <a:solidFill>
                      <a:srgbClr val="1E3A8A"/>
                    </a:solidFill>
                  </a:tcPr>
                </a:tc>
                <a:tc>
                  <a:txBody>
                    <a:bodyPr/>
                    <a:lstStyle/>
                    <a:p>
                      <a:pPr algn="ctr">
                        <a:defRPr sz="1100" b="1">
                          <a:solidFill>
                            <a:srgbClr val="FFFFFF"/>
                          </a:solidFill>
                          <a:latin typeface="Calibri"/>
                        </a:defRPr>
                      </a:pPr>
                      <a:r>
                        <a:t>LT6</a:t>
                      </a:r>
                    </a:p>
                  </a:txBody>
                  <a:tcPr anchor="ctr">
                    <a:solidFill>
                      <a:srgbClr val="1E3A8A"/>
                    </a:solidFill>
                  </a:tcPr>
                </a:tc>
                <a:tc>
                  <a:txBody>
                    <a:bodyPr/>
                    <a:lstStyle/>
                    <a:p>
                      <a:pPr algn="ctr">
                        <a:defRPr sz="1100" b="1">
                          <a:solidFill>
                            <a:srgbClr val="FFFFFF"/>
                          </a:solidFill>
                          <a:latin typeface="Calibri"/>
                        </a:defRPr>
                      </a:pPr>
                      <a:r>
                        <a:t>LT8</a:t>
                      </a:r>
                    </a:p>
                  </a:txBody>
                  <a:tcPr anchor="ctr">
                    <a:solidFill>
                      <a:srgbClr val="1E3A8A"/>
                    </a:solidFill>
                  </a:tcPr>
                </a:tc>
                <a:tc>
                  <a:txBody>
                    <a:bodyPr/>
                    <a:lstStyle/>
                    <a:p>
                      <a:pPr algn="ctr">
                        <a:defRPr sz="1100" b="1">
                          <a:solidFill>
                            <a:srgbClr val="FFFFFF"/>
                          </a:solidFill>
                          <a:latin typeface="Calibri"/>
                        </a:defRPr>
                      </a:pPr>
                      <a:r>
                        <a:t>LT10</a:t>
                      </a:r>
                    </a:p>
                  </a:txBody>
                  <a:tcPr anchor="ctr">
                    <a:solidFill>
                      <a:srgbClr val="1E3A8A"/>
                    </a:solidFill>
                  </a:tcPr>
                </a:tc>
                <a:tc>
                  <a:txBody>
                    <a:bodyPr/>
                    <a:lstStyle/>
                    <a:p>
                      <a:pPr algn="ctr">
                        <a:defRPr sz="1100" b="1">
                          <a:solidFill>
                            <a:srgbClr val="FFFFFF"/>
                          </a:solidFill>
                          <a:latin typeface="Calibri"/>
                        </a:defRPr>
                      </a:pPr>
                      <a:r>
                        <a:t>LT11</a:t>
                      </a:r>
                    </a:p>
                  </a:txBody>
                  <a:tcPr anchor="ctr">
                    <a:solidFill>
                      <a:srgbClr val="1E3A8A"/>
                    </a:solidFill>
                  </a:tcPr>
                </a:tc>
                <a:tc>
                  <a:txBody>
                    <a:bodyPr/>
                    <a:lstStyle/>
                    <a:p>
                      <a:pPr algn="ctr">
                        <a:defRPr sz="1100" b="1">
                          <a:solidFill>
                            <a:srgbClr val="FFFFFF"/>
                          </a:solidFill>
                          <a:latin typeface="Calibri"/>
                        </a:defRPr>
                      </a:pPr>
                      <a:r>
                        <a:t>LT13</a:t>
                      </a:r>
                    </a:p>
                  </a:txBody>
                  <a:tcPr anchor="ctr">
                    <a:solidFill>
                      <a:srgbClr val="1E3A8A"/>
                    </a:solidFill>
                  </a:tcPr>
                </a:tc>
                <a:tc>
                  <a:txBody>
                    <a:bodyPr/>
                    <a:lstStyle/>
                    <a:p>
                      <a:pPr algn="ctr">
                        <a:defRPr sz="1100" b="1">
                          <a:solidFill>
                            <a:srgbClr val="FFFFFF"/>
                          </a:solidFill>
                          <a:latin typeface="Calibri"/>
                        </a:defRPr>
                      </a:pPr>
                      <a:r>
                        <a:t>mAP@0.5</a:t>
                      </a:r>
                    </a:p>
                  </a:txBody>
                  <a:tcPr anchor="ctr">
                    <a:solidFill>
                      <a:srgbClr val="1E3A8A"/>
                    </a:solidFill>
                  </a:tcPr>
                </a:tc>
                <a:extLst>
                  <a:ext uri="{0D108BD9-81ED-4DB2-BD59-A6C34878D82A}">
                    <a16:rowId xmlns:a16="http://schemas.microsoft.com/office/drawing/2014/main" val="10000"/>
                  </a:ext>
                </a:extLst>
              </a:tr>
              <a:tr h="457200">
                <a:tc>
                  <a:txBody>
                    <a:bodyPr/>
                    <a:lstStyle/>
                    <a:p>
                      <a:pPr algn="l">
                        <a:defRPr sz="1000" b="1">
                          <a:solidFill>
                            <a:srgbClr val="0F172A"/>
                          </a:solidFill>
                          <a:latin typeface="Calibri"/>
                        </a:defRPr>
                      </a:pPr>
                      <a:r>
                        <a:t>RetinaNet</a:t>
                      </a:r>
                    </a:p>
                  </a:txBody>
                  <a:tcPr anchor="ctr">
                    <a:solidFill>
                      <a:srgbClr val="F1F5F9"/>
                    </a:solidFill>
                  </a:tcPr>
                </a:tc>
                <a:tc>
                  <a:txBody>
                    <a:bodyPr/>
                    <a:lstStyle/>
                    <a:p>
                      <a:pPr algn="ctr">
                        <a:defRPr sz="1000" b="0">
                          <a:solidFill>
                            <a:srgbClr val="0F172A"/>
                          </a:solidFill>
                          <a:latin typeface="Calibri"/>
                        </a:defRPr>
                      </a:pPr>
                      <a:r>
                        <a:t>14.53</a:t>
                      </a:r>
                    </a:p>
                  </a:txBody>
                  <a:tcPr anchor="ctr">
                    <a:solidFill>
                      <a:srgbClr val="F1F5F9"/>
                    </a:solidFill>
                  </a:tcPr>
                </a:tc>
                <a:tc>
                  <a:txBody>
                    <a:bodyPr/>
                    <a:lstStyle/>
                    <a:p>
                      <a:pPr algn="ctr">
                        <a:defRPr sz="1000" b="0">
                          <a:solidFill>
                            <a:srgbClr val="0F172A"/>
                          </a:solidFill>
                          <a:latin typeface="Calibri"/>
                        </a:defRPr>
                      </a:pPr>
                      <a:r>
                        <a:t>25.35</a:t>
                      </a:r>
                    </a:p>
                  </a:txBody>
                  <a:tcPr anchor="ctr">
                    <a:solidFill>
                      <a:srgbClr val="F1F5F9"/>
                    </a:solidFill>
                  </a:tcPr>
                </a:tc>
                <a:tc>
                  <a:txBody>
                    <a:bodyPr/>
                    <a:lstStyle/>
                    <a:p>
                      <a:pPr algn="ctr">
                        <a:defRPr sz="1000" b="0">
                          <a:solidFill>
                            <a:srgbClr val="0F172A"/>
                          </a:solidFill>
                          <a:latin typeface="Calibri"/>
                        </a:defRPr>
                      </a:pPr>
                      <a:r>
                        <a:t>41.67</a:t>
                      </a:r>
                    </a:p>
                  </a:txBody>
                  <a:tcPr anchor="ctr">
                    <a:solidFill>
                      <a:srgbClr val="F1F5F9"/>
                    </a:solidFill>
                  </a:tcPr>
                </a:tc>
                <a:tc>
                  <a:txBody>
                    <a:bodyPr/>
                    <a:lstStyle/>
                    <a:p>
                      <a:pPr algn="ctr">
                        <a:defRPr sz="1000" b="0">
                          <a:solidFill>
                            <a:srgbClr val="0F172A"/>
                          </a:solidFill>
                          <a:latin typeface="Calibri"/>
                        </a:defRPr>
                      </a:pPr>
                      <a:r>
                        <a:t>32.14</a:t>
                      </a:r>
                    </a:p>
                  </a:txBody>
                  <a:tcPr anchor="ctr">
                    <a:solidFill>
                      <a:srgbClr val="F1F5F9"/>
                    </a:solidFill>
                  </a:tcPr>
                </a:tc>
                <a:tc>
                  <a:txBody>
                    <a:bodyPr/>
                    <a:lstStyle/>
                    <a:p>
                      <a:pPr algn="ctr">
                        <a:defRPr sz="1000" b="0">
                          <a:solidFill>
                            <a:srgbClr val="0F172A"/>
                          </a:solidFill>
                          <a:latin typeface="Calibri"/>
                        </a:defRPr>
                      </a:pPr>
                      <a:r>
                        <a:t>65.49</a:t>
                      </a:r>
                    </a:p>
                  </a:txBody>
                  <a:tcPr anchor="ctr">
                    <a:solidFill>
                      <a:srgbClr val="F1F5F9"/>
                    </a:solidFill>
                  </a:tcPr>
                </a:tc>
                <a:tc>
                  <a:txBody>
                    <a:bodyPr/>
                    <a:lstStyle/>
                    <a:p>
                      <a:pPr algn="ctr">
                        <a:defRPr sz="1000" b="0">
                          <a:solidFill>
                            <a:srgbClr val="0F172A"/>
                          </a:solidFill>
                          <a:latin typeface="Calibri"/>
                        </a:defRPr>
                      </a:pPr>
                      <a:r>
                        <a:t>51.85</a:t>
                      </a:r>
                    </a:p>
                  </a:txBody>
                  <a:tcPr anchor="ctr">
                    <a:solidFill>
                      <a:srgbClr val="F1F5F9"/>
                    </a:solidFill>
                  </a:tcPr>
                </a:tc>
                <a:tc>
                  <a:txBody>
                    <a:bodyPr/>
                    <a:lstStyle/>
                    <a:p>
                      <a:pPr algn="ctr">
                        <a:defRPr sz="1000" b="0">
                          <a:solidFill>
                            <a:srgbClr val="0F172A"/>
                          </a:solidFill>
                          <a:latin typeface="Calibri"/>
                        </a:defRPr>
                      </a:pPr>
                      <a:r>
                        <a:t>5.30</a:t>
                      </a:r>
                    </a:p>
                  </a:txBody>
                  <a:tcPr anchor="ctr">
                    <a:solidFill>
                      <a:srgbClr val="F1F5F9"/>
                    </a:solidFill>
                  </a:tcPr>
                </a:tc>
                <a:tc>
                  <a:txBody>
                    <a:bodyPr/>
                    <a:lstStyle/>
                    <a:p>
                      <a:pPr algn="ctr">
                        <a:defRPr sz="1000" b="0">
                          <a:solidFill>
                            <a:srgbClr val="0F172A"/>
                          </a:solidFill>
                          <a:latin typeface="Calibri"/>
                        </a:defRPr>
                      </a:pPr>
                      <a:r>
                        <a:t>28.09</a:t>
                      </a:r>
                    </a:p>
                  </a:txBody>
                  <a:tcPr anchor="ctr">
                    <a:solidFill>
                      <a:srgbClr val="F1F5F9"/>
                    </a:solidFill>
                  </a:tcPr>
                </a:tc>
                <a:extLst>
                  <a:ext uri="{0D108BD9-81ED-4DB2-BD59-A6C34878D82A}">
                    <a16:rowId xmlns:a16="http://schemas.microsoft.com/office/drawing/2014/main" val="10001"/>
                  </a:ext>
                </a:extLst>
              </a:tr>
              <a:tr h="457200">
                <a:tc>
                  <a:txBody>
                    <a:bodyPr/>
                    <a:lstStyle/>
                    <a:p>
                      <a:pPr algn="l">
                        <a:defRPr sz="1000" b="1">
                          <a:solidFill>
                            <a:srgbClr val="0F172A"/>
                          </a:solidFill>
                          <a:latin typeface="Calibri"/>
                        </a:defRPr>
                      </a:pPr>
                      <a:r>
                        <a:t>Faster R-CNN</a:t>
                      </a:r>
                    </a:p>
                  </a:txBody>
                  <a:tcPr anchor="ctr">
                    <a:solidFill>
                      <a:srgbClr val="FFFFFF"/>
                    </a:solidFill>
                  </a:tcPr>
                </a:tc>
                <a:tc>
                  <a:txBody>
                    <a:bodyPr/>
                    <a:lstStyle/>
                    <a:p>
                      <a:pPr algn="ctr">
                        <a:defRPr sz="1000" b="0">
                          <a:solidFill>
                            <a:srgbClr val="0F172A"/>
                          </a:solidFill>
                          <a:latin typeface="Calibri"/>
                        </a:defRPr>
                      </a:pPr>
                      <a:r>
                        <a:t>22.66</a:t>
                      </a:r>
                    </a:p>
                  </a:txBody>
                  <a:tcPr anchor="ctr">
                    <a:solidFill>
                      <a:srgbClr val="FFFFFF"/>
                    </a:solidFill>
                  </a:tcPr>
                </a:tc>
                <a:tc>
                  <a:txBody>
                    <a:bodyPr/>
                    <a:lstStyle/>
                    <a:p>
                      <a:pPr algn="ctr">
                        <a:defRPr sz="1000" b="0">
                          <a:solidFill>
                            <a:srgbClr val="0F172A"/>
                          </a:solidFill>
                          <a:latin typeface="Calibri"/>
                        </a:defRPr>
                      </a:pPr>
                      <a:r>
                        <a:t>35.99</a:t>
                      </a:r>
                    </a:p>
                  </a:txBody>
                  <a:tcPr anchor="ctr">
                    <a:solidFill>
                      <a:srgbClr val="FFFFFF"/>
                    </a:solidFill>
                  </a:tcPr>
                </a:tc>
                <a:tc>
                  <a:txBody>
                    <a:bodyPr/>
                    <a:lstStyle/>
                    <a:p>
                      <a:pPr algn="ctr">
                        <a:defRPr sz="1000" b="0">
                          <a:solidFill>
                            <a:srgbClr val="0F172A"/>
                          </a:solidFill>
                          <a:latin typeface="Calibri"/>
                        </a:defRPr>
                      </a:pPr>
                      <a:r>
                        <a:t>49.24</a:t>
                      </a:r>
                    </a:p>
                  </a:txBody>
                  <a:tcPr anchor="ctr">
                    <a:solidFill>
                      <a:srgbClr val="FFFFFF"/>
                    </a:solidFill>
                  </a:tcPr>
                </a:tc>
                <a:tc>
                  <a:txBody>
                    <a:bodyPr/>
                    <a:lstStyle/>
                    <a:p>
                      <a:pPr algn="ctr">
                        <a:defRPr sz="1000" b="0">
                          <a:solidFill>
                            <a:srgbClr val="0F172A"/>
                          </a:solidFill>
                          <a:latin typeface="Calibri"/>
                        </a:defRPr>
                      </a:pPr>
                      <a:r>
                        <a:t>31.68</a:t>
                      </a:r>
                    </a:p>
                  </a:txBody>
                  <a:tcPr anchor="ctr">
                    <a:solidFill>
                      <a:srgbClr val="FFFFFF"/>
                    </a:solidFill>
                  </a:tcPr>
                </a:tc>
                <a:tc>
                  <a:txBody>
                    <a:bodyPr/>
                    <a:lstStyle/>
                    <a:p>
                      <a:pPr algn="ctr">
                        <a:defRPr sz="1000" b="0">
                          <a:solidFill>
                            <a:srgbClr val="0F172A"/>
                          </a:solidFill>
                          <a:latin typeface="Calibri"/>
                        </a:defRPr>
                      </a:pPr>
                      <a:r>
                        <a:t>65.22</a:t>
                      </a:r>
                    </a:p>
                  </a:txBody>
                  <a:tcPr anchor="ctr">
                    <a:solidFill>
                      <a:srgbClr val="FFFFFF"/>
                    </a:solidFill>
                  </a:tcPr>
                </a:tc>
                <a:tc>
                  <a:txBody>
                    <a:bodyPr/>
                    <a:lstStyle/>
                    <a:p>
                      <a:pPr algn="ctr">
                        <a:defRPr sz="1000" b="0">
                          <a:solidFill>
                            <a:srgbClr val="0F172A"/>
                          </a:solidFill>
                          <a:latin typeface="Calibri"/>
                        </a:defRPr>
                      </a:pPr>
                      <a:r>
                        <a:t>51.68</a:t>
                      </a:r>
                    </a:p>
                  </a:txBody>
                  <a:tcPr anchor="ctr">
                    <a:solidFill>
                      <a:srgbClr val="FFFFFF"/>
                    </a:solidFill>
                  </a:tcPr>
                </a:tc>
                <a:tc>
                  <a:txBody>
                    <a:bodyPr/>
                    <a:lstStyle/>
                    <a:p>
                      <a:pPr algn="ctr">
                        <a:defRPr sz="1000" b="0">
                          <a:solidFill>
                            <a:srgbClr val="0F172A"/>
                          </a:solidFill>
                          <a:latin typeface="Calibri"/>
                        </a:defRPr>
                      </a:pPr>
                      <a:r>
                        <a:t>2.16</a:t>
                      </a:r>
                    </a:p>
                  </a:txBody>
                  <a:tcPr anchor="ctr">
                    <a:solidFill>
                      <a:srgbClr val="FFFFFF"/>
                    </a:solidFill>
                  </a:tcPr>
                </a:tc>
                <a:tc>
                  <a:txBody>
                    <a:bodyPr/>
                    <a:lstStyle/>
                    <a:p>
                      <a:pPr algn="ctr">
                        <a:defRPr sz="1000" b="0">
                          <a:solidFill>
                            <a:srgbClr val="0F172A"/>
                          </a:solidFill>
                          <a:latin typeface="Calibri"/>
                        </a:defRPr>
                      </a:pPr>
                      <a:r>
                        <a:t>31.83</a:t>
                      </a:r>
                    </a:p>
                  </a:txBody>
                  <a:tcPr anchor="ctr">
                    <a:solidFill>
                      <a:srgbClr val="FFFFFF"/>
                    </a:solidFill>
                  </a:tcPr>
                </a:tc>
                <a:extLst>
                  <a:ext uri="{0D108BD9-81ED-4DB2-BD59-A6C34878D82A}">
                    <a16:rowId xmlns:a16="http://schemas.microsoft.com/office/drawing/2014/main" val="10002"/>
                  </a:ext>
                </a:extLst>
              </a:tr>
              <a:tr h="457200">
                <a:tc>
                  <a:txBody>
                    <a:bodyPr/>
                    <a:lstStyle/>
                    <a:p>
                      <a:pPr algn="l">
                        <a:defRPr sz="1000" b="1">
                          <a:solidFill>
                            <a:srgbClr val="0F172A"/>
                          </a:solidFill>
                          <a:latin typeface="Calibri"/>
                        </a:defRPr>
                      </a:pPr>
                      <a:r>
                        <a:t>Sparse R-CNN</a:t>
                      </a:r>
                    </a:p>
                  </a:txBody>
                  <a:tcPr anchor="ctr">
                    <a:solidFill>
                      <a:srgbClr val="F1F5F9"/>
                    </a:solidFill>
                  </a:tcPr>
                </a:tc>
                <a:tc>
                  <a:txBody>
                    <a:bodyPr/>
                    <a:lstStyle/>
                    <a:p>
                      <a:pPr algn="ctr">
                        <a:defRPr sz="1000" b="0">
                          <a:solidFill>
                            <a:srgbClr val="0F172A"/>
                          </a:solidFill>
                          <a:latin typeface="Calibri"/>
                        </a:defRPr>
                      </a:pPr>
                      <a:r>
                        <a:t>20.09</a:t>
                      </a:r>
                    </a:p>
                  </a:txBody>
                  <a:tcPr anchor="ctr">
                    <a:solidFill>
                      <a:srgbClr val="F1F5F9"/>
                    </a:solidFill>
                  </a:tcPr>
                </a:tc>
                <a:tc>
                  <a:txBody>
                    <a:bodyPr/>
                    <a:lstStyle/>
                    <a:p>
                      <a:pPr algn="ctr">
                        <a:defRPr sz="1000" b="0">
                          <a:solidFill>
                            <a:srgbClr val="0F172A"/>
                          </a:solidFill>
                          <a:latin typeface="Calibri"/>
                        </a:defRPr>
                      </a:pPr>
                      <a:r>
                        <a:t>32.67</a:t>
                      </a:r>
                    </a:p>
                  </a:txBody>
                  <a:tcPr anchor="ctr">
                    <a:solidFill>
                      <a:srgbClr val="F1F5F9"/>
                    </a:solidFill>
                  </a:tcPr>
                </a:tc>
                <a:tc>
                  <a:txBody>
                    <a:bodyPr/>
                    <a:lstStyle/>
                    <a:p>
                      <a:pPr algn="ctr">
                        <a:defRPr sz="1000" b="0">
                          <a:solidFill>
                            <a:srgbClr val="0F172A"/>
                          </a:solidFill>
                          <a:latin typeface="Calibri"/>
                        </a:defRPr>
                      </a:pPr>
                      <a:r>
                        <a:t>48.16</a:t>
                      </a:r>
                    </a:p>
                  </a:txBody>
                  <a:tcPr anchor="ctr">
                    <a:solidFill>
                      <a:srgbClr val="F1F5F9"/>
                    </a:solidFill>
                  </a:tcPr>
                </a:tc>
                <a:tc>
                  <a:txBody>
                    <a:bodyPr/>
                    <a:lstStyle/>
                    <a:p>
                      <a:pPr algn="ctr">
                        <a:defRPr sz="1000" b="0">
                          <a:solidFill>
                            <a:srgbClr val="0F172A"/>
                          </a:solidFill>
                          <a:latin typeface="Calibri"/>
                        </a:defRPr>
                      </a:pPr>
                      <a:r>
                        <a:t>45.32</a:t>
                      </a:r>
                    </a:p>
                  </a:txBody>
                  <a:tcPr anchor="ctr">
                    <a:solidFill>
                      <a:srgbClr val="F1F5F9"/>
                    </a:solidFill>
                  </a:tcPr>
                </a:tc>
                <a:tc>
                  <a:txBody>
                    <a:bodyPr/>
                    <a:lstStyle/>
                    <a:p>
                      <a:pPr algn="ctr">
                        <a:defRPr sz="1000" b="0">
                          <a:solidFill>
                            <a:srgbClr val="0F172A"/>
                          </a:solidFill>
                          <a:latin typeface="Calibri"/>
                        </a:defRPr>
                      </a:pPr>
                      <a:r>
                        <a:t>72.20</a:t>
                      </a:r>
                    </a:p>
                  </a:txBody>
                  <a:tcPr anchor="ctr">
                    <a:solidFill>
                      <a:srgbClr val="F1F5F9"/>
                    </a:solidFill>
                  </a:tcPr>
                </a:tc>
                <a:tc>
                  <a:txBody>
                    <a:bodyPr/>
                    <a:lstStyle/>
                    <a:p>
                      <a:pPr algn="ctr">
                        <a:defRPr sz="1000" b="0">
                          <a:solidFill>
                            <a:srgbClr val="0F172A"/>
                          </a:solidFill>
                          <a:latin typeface="Calibri"/>
                        </a:defRPr>
                      </a:pPr>
                      <a:r>
                        <a:t>49.30</a:t>
                      </a:r>
                    </a:p>
                  </a:txBody>
                  <a:tcPr anchor="ctr">
                    <a:solidFill>
                      <a:srgbClr val="F1F5F9"/>
                    </a:solidFill>
                  </a:tcPr>
                </a:tc>
                <a:tc>
                  <a:txBody>
                    <a:bodyPr/>
                    <a:lstStyle/>
                    <a:p>
                      <a:pPr algn="ctr">
                        <a:defRPr sz="1000" b="0">
                          <a:solidFill>
                            <a:srgbClr val="0F172A"/>
                          </a:solidFill>
                          <a:latin typeface="Calibri"/>
                        </a:defRPr>
                      </a:pPr>
                      <a:r>
                        <a:t>5.41</a:t>
                      </a:r>
                    </a:p>
                  </a:txBody>
                  <a:tcPr anchor="ctr">
                    <a:solidFill>
                      <a:srgbClr val="F1F5F9"/>
                    </a:solidFill>
                  </a:tcPr>
                </a:tc>
                <a:tc>
                  <a:txBody>
                    <a:bodyPr/>
                    <a:lstStyle/>
                    <a:p>
                      <a:pPr algn="ctr">
                        <a:defRPr sz="1000" b="0">
                          <a:solidFill>
                            <a:srgbClr val="0F172A"/>
                          </a:solidFill>
                          <a:latin typeface="Calibri"/>
                        </a:defRPr>
                      </a:pPr>
                      <a:r>
                        <a:t>33.15</a:t>
                      </a:r>
                    </a:p>
                  </a:txBody>
                  <a:tcPr anchor="ctr">
                    <a:solidFill>
                      <a:srgbClr val="F1F5F9"/>
                    </a:solidFill>
                  </a:tcPr>
                </a:tc>
                <a:extLst>
                  <a:ext uri="{0D108BD9-81ED-4DB2-BD59-A6C34878D82A}">
                    <a16:rowId xmlns:a16="http://schemas.microsoft.com/office/drawing/2014/main" val="10003"/>
                  </a:ext>
                </a:extLst>
              </a:tr>
              <a:tr h="457200">
                <a:tc>
                  <a:txBody>
                    <a:bodyPr/>
                    <a:lstStyle/>
                    <a:p>
                      <a:pPr algn="l">
                        <a:defRPr sz="1000" b="1">
                          <a:solidFill>
                            <a:srgbClr val="0F172A"/>
                          </a:solidFill>
                          <a:latin typeface="Calibri"/>
                        </a:defRPr>
                      </a:pPr>
                      <a:r>
                        <a:t>VinDr-SpineXR</a:t>
                      </a:r>
                    </a:p>
                  </a:txBody>
                  <a:tcPr anchor="ctr">
                    <a:solidFill>
                      <a:srgbClr val="FFFFFF"/>
                    </a:solidFill>
                  </a:tcPr>
                </a:tc>
                <a:tc>
                  <a:txBody>
                    <a:bodyPr/>
                    <a:lstStyle/>
                    <a:p>
                      <a:pPr algn="ctr">
                        <a:defRPr sz="1000" b="0">
                          <a:solidFill>
                            <a:srgbClr val="0F172A"/>
                          </a:solidFill>
                          <a:latin typeface="Calibri"/>
                        </a:defRPr>
                      </a:pPr>
                      <a:r>
                        <a:t>21.43</a:t>
                      </a:r>
                    </a:p>
                  </a:txBody>
                  <a:tcPr anchor="ctr">
                    <a:solidFill>
                      <a:srgbClr val="FFFFFF"/>
                    </a:solidFill>
                  </a:tcPr>
                </a:tc>
                <a:tc>
                  <a:txBody>
                    <a:bodyPr/>
                    <a:lstStyle/>
                    <a:p>
                      <a:pPr algn="ctr">
                        <a:defRPr sz="1000" b="0">
                          <a:solidFill>
                            <a:srgbClr val="0F172A"/>
                          </a:solidFill>
                          <a:latin typeface="Calibri"/>
                        </a:defRPr>
                      </a:pPr>
                      <a:r>
                        <a:t>27.36</a:t>
                      </a:r>
                    </a:p>
                  </a:txBody>
                  <a:tcPr anchor="ctr">
                    <a:solidFill>
                      <a:srgbClr val="FFFFFF"/>
                    </a:solidFill>
                  </a:tcPr>
                </a:tc>
                <a:tc>
                  <a:txBody>
                    <a:bodyPr/>
                    <a:lstStyle/>
                    <a:p>
                      <a:pPr algn="ctr">
                        <a:defRPr sz="1000" b="0">
                          <a:solidFill>
                            <a:srgbClr val="0F172A"/>
                          </a:solidFill>
                          <a:latin typeface="Calibri"/>
                        </a:defRPr>
                      </a:pPr>
                      <a:r>
                        <a:t>34.78</a:t>
                      </a:r>
                    </a:p>
                  </a:txBody>
                  <a:tcPr anchor="ctr">
                    <a:solidFill>
                      <a:srgbClr val="FFFFFF"/>
                    </a:solidFill>
                  </a:tcPr>
                </a:tc>
                <a:tc>
                  <a:txBody>
                    <a:bodyPr/>
                    <a:lstStyle/>
                    <a:p>
                      <a:pPr algn="ctr">
                        <a:defRPr sz="1000" b="0">
                          <a:solidFill>
                            <a:srgbClr val="0F172A"/>
                          </a:solidFill>
                          <a:latin typeface="Calibri"/>
                        </a:defRPr>
                      </a:pPr>
                      <a:r>
                        <a:t>41.29</a:t>
                      </a:r>
                    </a:p>
                  </a:txBody>
                  <a:tcPr anchor="ctr">
                    <a:solidFill>
                      <a:srgbClr val="FFFFFF"/>
                    </a:solidFill>
                  </a:tcPr>
                </a:tc>
                <a:tc>
                  <a:txBody>
                    <a:bodyPr/>
                    <a:lstStyle/>
                    <a:p>
                      <a:pPr algn="ctr">
                        <a:defRPr sz="1000" b="0">
                          <a:solidFill>
                            <a:srgbClr val="0F172A"/>
                          </a:solidFill>
                          <a:latin typeface="Calibri"/>
                        </a:defRPr>
                      </a:pPr>
                      <a:r>
                        <a:t>62.53</a:t>
                      </a:r>
                    </a:p>
                  </a:txBody>
                  <a:tcPr anchor="ctr">
                    <a:solidFill>
                      <a:srgbClr val="FFFFFF"/>
                    </a:solidFill>
                  </a:tcPr>
                </a:tc>
                <a:tc>
                  <a:txBody>
                    <a:bodyPr/>
                    <a:lstStyle/>
                    <a:p>
                      <a:pPr algn="ctr">
                        <a:defRPr sz="1000" b="0">
                          <a:solidFill>
                            <a:srgbClr val="0F172A"/>
                          </a:solidFill>
                          <a:latin typeface="Calibri"/>
                        </a:defRPr>
                      </a:pPr>
                      <a:r>
                        <a:t>43.39</a:t>
                      </a:r>
                    </a:p>
                  </a:txBody>
                  <a:tcPr anchor="ctr">
                    <a:solidFill>
                      <a:srgbClr val="FFFFFF"/>
                    </a:solidFill>
                  </a:tcPr>
                </a:tc>
                <a:tc>
                  <a:txBody>
                    <a:bodyPr/>
                    <a:lstStyle/>
                    <a:p>
                      <a:pPr algn="ctr">
                        <a:defRPr sz="1000" b="0">
                          <a:solidFill>
                            <a:srgbClr val="0F172A"/>
                          </a:solidFill>
                          <a:latin typeface="Calibri"/>
                        </a:defRPr>
                      </a:pPr>
                      <a:r>
                        <a:t>4.16</a:t>
                      </a:r>
                    </a:p>
                  </a:txBody>
                  <a:tcPr anchor="ctr">
                    <a:solidFill>
                      <a:srgbClr val="FFFFFF"/>
                    </a:solidFill>
                  </a:tcPr>
                </a:tc>
                <a:tc>
                  <a:txBody>
                    <a:bodyPr/>
                    <a:lstStyle/>
                    <a:p>
                      <a:pPr algn="ctr">
                        <a:defRPr sz="1000" b="0">
                          <a:solidFill>
                            <a:srgbClr val="0F172A"/>
                          </a:solidFill>
                          <a:latin typeface="Calibri"/>
                        </a:defRPr>
                      </a:pPr>
                      <a:r>
                        <a:t>33.56</a:t>
                      </a:r>
                    </a:p>
                  </a:txBody>
                  <a:tcPr anchor="ctr">
                    <a:solidFill>
                      <a:srgbClr val="FFFFFF"/>
                    </a:solidFill>
                  </a:tcPr>
                </a:tc>
                <a:extLst>
                  <a:ext uri="{0D108BD9-81ED-4DB2-BD59-A6C34878D82A}">
                    <a16:rowId xmlns:a16="http://schemas.microsoft.com/office/drawing/2014/main" val="10004"/>
                  </a:ext>
                </a:extLst>
              </a:tr>
              <a:tr h="457200">
                <a:tc>
                  <a:txBody>
                    <a:bodyPr/>
                    <a:lstStyle/>
                    <a:p>
                      <a:pPr algn="l">
                        <a:defRPr sz="1000" b="1">
                          <a:solidFill>
                            <a:srgbClr val="0F172A"/>
                          </a:solidFill>
                          <a:latin typeface="Calibri"/>
                        </a:defRPr>
                      </a:pPr>
                      <a:r>
                        <a:t>EGCA-Net</a:t>
                      </a:r>
                    </a:p>
                  </a:txBody>
                  <a:tcPr anchor="ctr">
                    <a:solidFill>
                      <a:srgbClr val="F1F5F9"/>
                    </a:solidFill>
                  </a:tcPr>
                </a:tc>
                <a:tc>
                  <a:txBody>
                    <a:bodyPr/>
                    <a:lstStyle/>
                    <a:p>
                      <a:pPr algn="ctr">
                        <a:defRPr sz="1000" b="0">
                          <a:solidFill>
                            <a:srgbClr val="0F172A"/>
                          </a:solidFill>
                          <a:latin typeface="Calibri"/>
                        </a:defRPr>
                      </a:pPr>
                      <a:r>
                        <a:t>22.36</a:t>
                      </a:r>
                    </a:p>
                  </a:txBody>
                  <a:tcPr anchor="ctr">
                    <a:solidFill>
                      <a:srgbClr val="F1F5F9"/>
                    </a:solidFill>
                  </a:tcPr>
                </a:tc>
                <a:tc>
                  <a:txBody>
                    <a:bodyPr/>
                    <a:lstStyle/>
                    <a:p>
                      <a:pPr algn="ctr">
                        <a:defRPr sz="1000" b="0">
                          <a:solidFill>
                            <a:srgbClr val="0F172A"/>
                          </a:solidFill>
                          <a:latin typeface="Calibri"/>
                        </a:defRPr>
                      </a:pPr>
                      <a:r>
                        <a:t>29.75</a:t>
                      </a:r>
                    </a:p>
                  </a:txBody>
                  <a:tcPr anchor="ctr">
                    <a:solidFill>
                      <a:srgbClr val="F1F5F9"/>
                    </a:solidFill>
                  </a:tcPr>
                </a:tc>
                <a:tc>
                  <a:txBody>
                    <a:bodyPr/>
                    <a:lstStyle/>
                    <a:p>
                      <a:pPr algn="ctr">
                        <a:defRPr sz="1000" b="0">
                          <a:solidFill>
                            <a:srgbClr val="0F172A"/>
                          </a:solidFill>
                          <a:latin typeface="Calibri"/>
                        </a:defRPr>
                      </a:pPr>
                      <a:r>
                        <a:t>36.73</a:t>
                      </a:r>
                    </a:p>
                  </a:txBody>
                  <a:tcPr anchor="ctr">
                    <a:solidFill>
                      <a:srgbClr val="F1F5F9"/>
                    </a:solidFill>
                  </a:tcPr>
                </a:tc>
                <a:tc>
                  <a:txBody>
                    <a:bodyPr/>
                    <a:lstStyle/>
                    <a:p>
                      <a:pPr algn="ctr">
                        <a:defRPr sz="1000" b="0">
                          <a:solidFill>
                            <a:srgbClr val="0F172A"/>
                          </a:solidFill>
                          <a:latin typeface="Calibri"/>
                        </a:defRPr>
                      </a:pPr>
                      <a:r>
                        <a:t>44.69</a:t>
                      </a:r>
                    </a:p>
                  </a:txBody>
                  <a:tcPr anchor="ctr">
                    <a:solidFill>
                      <a:srgbClr val="F1F5F9"/>
                    </a:solidFill>
                  </a:tcPr>
                </a:tc>
                <a:tc>
                  <a:txBody>
                    <a:bodyPr/>
                    <a:lstStyle/>
                    <a:p>
                      <a:pPr algn="ctr">
                        <a:defRPr sz="1000" b="0">
                          <a:solidFill>
                            <a:srgbClr val="0F172A"/>
                          </a:solidFill>
                          <a:latin typeface="Calibri"/>
                        </a:defRPr>
                      </a:pPr>
                      <a:r>
                        <a:t>66.58</a:t>
                      </a:r>
                    </a:p>
                  </a:txBody>
                  <a:tcPr anchor="ctr">
                    <a:solidFill>
                      <a:srgbClr val="F1F5F9"/>
                    </a:solidFill>
                  </a:tcPr>
                </a:tc>
                <a:tc>
                  <a:txBody>
                    <a:bodyPr/>
                    <a:lstStyle/>
                    <a:p>
                      <a:pPr algn="ctr">
                        <a:defRPr sz="1000" b="0">
                          <a:solidFill>
                            <a:srgbClr val="0F172A"/>
                          </a:solidFill>
                          <a:latin typeface="Calibri"/>
                        </a:defRPr>
                      </a:pPr>
                      <a:r>
                        <a:t>50.41</a:t>
                      </a:r>
                    </a:p>
                  </a:txBody>
                  <a:tcPr anchor="ctr">
                    <a:solidFill>
                      <a:srgbClr val="F1F5F9"/>
                    </a:solidFill>
                  </a:tcPr>
                </a:tc>
                <a:tc>
                  <a:txBody>
                    <a:bodyPr/>
                    <a:lstStyle/>
                    <a:p>
                      <a:pPr algn="ctr">
                        <a:defRPr sz="1000" b="0">
                          <a:solidFill>
                            <a:srgbClr val="0F172A"/>
                          </a:solidFill>
                          <a:latin typeface="Calibri"/>
                        </a:defRPr>
                      </a:pPr>
                      <a:r>
                        <a:t>2.09</a:t>
                      </a:r>
                    </a:p>
                  </a:txBody>
                  <a:tcPr anchor="ctr">
                    <a:solidFill>
                      <a:srgbClr val="F1F5F9"/>
                    </a:solidFill>
                  </a:tcPr>
                </a:tc>
                <a:tc>
                  <a:txBody>
                    <a:bodyPr/>
                    <a:lstStyle/>
                    <a:p>
                      <a:pPr algn="ctr">
                        <a:defRPr sz="1000" b="0">
                          <a:solidFill>
                            <a:srgbClr val="0F172A"/>
                          </a:solidFill>
                          <a:latin typeface="Calibri"/>
                        </a:defRPr>
                      </a:pPr>
                      <a:r>
                        <a:t>36.09</a:t>
                      </a:r>
                    </a:p>
                  </a:txBody>
                  <a:tcPr anchor="ctr">
                    <a:solidFill>
                      <a:srgbClr val="F1F5F9"/>
                    </a:solidFill>
                  </a:tcPr>
                </a:tc>
                <a:extLst>
                  <a:ext uri="{0D108BD9-81ED-4DB2-BD59-A6C34878D82A}">
                    <a16:rowId xmlns:a16="http://schemas.microsoft.com/office/drawing/2014/main" val="10005"/>
                  </a:ext>
                </a:extLst>
              </a:tr>
              <a:tr h="457200">
                <a:tc>
                  <a:txBody>
                    <a:bodyPr/>
                    <a:lstStyle/>
                    <a:p>
                      <a:pPr algn="l">
                        <a:defRPr sz="1000" b="1">
                          <a:solidFill>
                            <a:srgbClr val="0F172A"/>
                          </a:solidFill>
                          <a:latin typeface="Calibri"/>
                        </a:defRPr>
                      </a:pPr>
                      <a:r>
                        <a:t>YOLO12</a:t>
                      </a:r>
                    </a:p>
                  </a:txBody>
                  <a:tcPr anchor="ctr">
                    <a:solidFill>
                      <a:srgbClr val="FFFFFF"/>
                    </a:solidFill>
                  </a:tcPr>
                </a:tc>
                <a:tc>
                  <a:txBody>
                    <a:bodyPr/>
                    <a:lstStyle/>
                    <a:p>
                      <a:pPr algn="ctr">
                        <a:defRPr sz="1000" b="0">
                          <a:solidFill>
                            <a:srgbClr val="0F172A"/>
                          </a:solidFill>
                          <a:latin typeface="Calibri"/>
                        </a:defRPr>
                      </a:pPr>
                      <a:r>
                        <a:t>24.60</a:t>
                      </a:r>
                    </a:p>
                  </a:txBody>
                  <a:tcPr anchor="ctr">
                    <a:solidFill>
                      <a:srgbClr val="FFFFFF"/>
                    </a:solidFill>
                  </a:tcPr>
                </a:tc>
                <a:tc>
                  <a:txBody>
                    <a:bodyPr/>
                    <a:lstStyle/>
                    <a:p>
                      <a:pPr algn="ctr">
                        <a:defRPr sz="1000" b="0">
                          <a:solidFill>
                            <a:srgbClr val="0F172A"/>
                          </a:solidFill>
                          <a:latin typeface="Calibri"/>
                        </a:defRPr>
                      </a:pPr>
                      <a:r>
                        <a:t>38.90</a:t>
                      </a:r>
                    </a:p>
                  </a:txBody>
                  <a:tcPr anchor="ctr">
                    <a:solidFill>
                      <a:srgbClr val="FFFFFF"/>
                    </a:solidFill>
                  </a:tcPr>
                </a:tc>
                <a:tc>
                  <a:txBody>
                    <a:bodyPr/>
                    <a:lstStyle/>
                    <a:p>
                      <a:pPr algn="ctr">
                        <a:defRPr sz="1000" b="0">
                          <a:solidFill>
                            <a:srgbClr val="0F172A"/>
                          </a:solidFill>
                          <a:latin typeface="Calibri"/>
                        </a:defRPr>
                      </a:pPr>
                      <a:r>
                        <a:t>38.10</a:t>
                      </a:r>
                    </a:p>
                  </a:txBody>
                  <a:tcPr anchor="ctr">
                    <a:solidFill>
                      <a:srgbClr val="FFFFFF"/>
                    </a:solidFill>
                  </a:tcPr>
                </a:tc>
                <a:tc>
                  <a:txBody>
                    <a:bodyPr/>
                    <a:lstStyle/>
                    <a:p>
                      <a:pPr algn="ctr">
                        <a:defRPr sz="1000" b="0">
                          <a:solidFill>
                            <a:srgbClr val="0F172A"/>
                          </a:solidFill>
                          <a:latin typeface="Calibri"/>
                        </a:defRPr>
                      </a:pPr>
                      <a:r>
                        <a:t>40.20</a:t>
                      </a:r>
                    </a:p>
                  </a:txBody>
                  <a:tcPr anchor="ctr">
                    <a:solidFill>
                      <a:srgbClr val="FFFFFF"/>
                    </a:solidFill>
                  </a:tcPr>
                </a:tc>
                <a:tc>
                  <a:txBody>
                    <a:bodyPr/>
                    <a:lstStyle/>
                    <a:p>
                      <a:pPr algn="ctr">
                        <a:defRPr sz="1000" b="0">
                          <a:solidFill>
                            <a:srgbClr val="0F172A"/>
                          </a:solidFill>
                          <a:latin typeface="Calibri"/>
                        </a:defRPr>
                      </a:pPr>
                      <a:r>
                        <a:t>68.40</a:t>
                      </a:r>
                    </a:p>
                  </a:txBody>
                  <a:tcPr anchor="ctr">
                    <a:solidFill>
                      <a:srgbClr val="FFFFFF"/>
                    </a:solidFill>
                  </a:tcPr>
                </a:tc>
                <a:tc>
                  <a:txBody>
                    <a:bodyPr/>
                    <a:lstStyle/>
                    <a:p>
                      <a:pPr algn="ctr">
                        <a:defRPr sz="1000" b="0">
                          <a:solidFill>
                            <a:srgbClr val="0F172A"/>
                          </a:solidFill>
                          <a:latin typeface="Calibri"/>
                        </a:defRPr>
                      </a:pPr>
                      <a:r>
                        <a:t>55.50</a:t>
                      </a:r>
                    </a:p>
                  </a:txBody>
                  <a:tcPr anchor="ctr">
                    <a:solidFill>
                      <a:srgbClr val="FFFFFF"/>
                    </a:solidFill>
                  </a:tcPr>
                </a:tc>
                <a:tc>
                  <a:txBody>
                    <a:bodyPr/>
                    <a:lstStyle/>
                    <a:p>
                      <a:pPr algn="ctr">
                        <a:defRPr sz="1000" b="0">
                          <a:solidFill>
                            <a:srgbClr val="0F172A"/>
                          </a:solidFill>
                          <a:latin typeface="Calibri"/>
                        </a:defRPr>
                      </a:pPr>
                      <a:r>
                        <a:t>3.04</a:t>
                      </a:r>
                    </a:p>
                  </a:txBody>
                  <a:tcPr anchor="ctr">
                    <a:solidFill>
                      <a:srgbClr val="FFFFFF"/>
                    </a:solidFill>
                  </a:tcPr>
                </a:tc>
                <a:tc>
                  <a:txBody>
                    <a:bodyPr/>
                    <a:lstStyle/>
                    <a:p>
                      <a:pPr algn="ctr">
                        <a:defRPr sz="1000" b="0">
                          <a:solidFill>
                            <a:srgbClr val="0F172A"/>
                          </a:solidFill>
                          <a:latin typeface="Calibri"/>
                        </a:defRPr>
                      </a:pPr>
                      <a:r>
                        <a:t>38.40</a:t>
                      </a:r>
                    </a:p>
                  </a:txBody>
                  <a:tcPr anchor="ctr">
                    <a:solidFill>
                      <a:srgbClr val="FFFFFF"/>
                    </a:solidFill>
                  </a:tcPr>
                </a:tc>
                <a:extLst>
                  <a:ext uri="{0D108BD9-81ED-4DB2-BD59-A6C34878D82A}">
                    <a16:rowId xmlns:a16="http://schemas.microsoft.com/office/drawing/2014/main" val="10006"/>
                  </a:ext>
                </a:extLst>
              </a:tr>
              <a:tr h="457200">
                <a:tc>
                  <a:txBody>
                    <a:bodyPr/>
                    <a:lstStyle/>
                    <a:p>
                      <a:pPr algn="l">
                        <a:defRPr sz="1000" b="1">
                          <a:solidFill>
                            <a:srgbClr val="0F172A"/>
                          </a:solidFill>
                          <a:latin typeface="Calibri"/>
                        </a:defRPr>
                      </a:pPr>
                      <a:r>
                        <a:t>YOLO26</a:t>
                      </a:r>
                    </a:p>
                  </a:txBody>
                  <a:tcPr anchor="ctr">
                    <a:solidFill>
                      <a:srgbClr val="F1F5F9"/>
                    </a:solidFill>
                  </a:tcPr>
                </a:tc>
                <a:tc>
                  <a:txBody>
                    <a:bodyPr/>
                    <a:lstStyle/>
                    <a:p>
                      <a:pPr algn="ctr">
                        <a:defRPr sz="1000" b="0">
                          <a:solidFill>
                            <a:srgbClr val="0F172A"/>
                          </a:solidFill>
                          <a:latin typeface="Calibri"/>
                        </a:defRPr>
                      </a:pPr>
                      <a:r>
                        <a:t>23.60</a:t>
                      </a:r>
                    </a:p>
                  </a:txBody>
                  <a:tcPr anchor="ctr">
                    <a:solidFill>
                      <a:srgbClr val="F1F5F9"/>
                    </a:solidFill>
                  </a:tcPr>
                </a:tc>
                <a:tc>
                  <a:txBody>
                    <a:bodyPr/>
                    <a:lstStyle/>
                    <a:p>
                      <a:pPr algn="ctr">
                        <a:defRPr sz="1000" b="0">
                          <a:solidFill>
                            <a:srgbClr val="0F172A"/>
                          </a:solidFill>
                          <a:latin typeface="Calibri"/>
                        </a:defRPr>
                      </a:pPr>
                      <a:r>
                        <a:t>34.90</a:t>
                      </a:r>
                    </a:p>
                  </a:txBody>
                  <a:tcPr anchor="ctr">
                    <a:solidFill>
                      <a:srgbClr val="F1F5F9"/>
                    </a:solidFill>
                  </a:tcPr>
                </a:tc>
                <a:tc>
                  <a:txBody>
                    <a:bodyPr/>
                    <a:lstStyle/>
                    <a:p>
                      <a:pPr algn="ctr">
                        <a:defRPr sz="1000" b="0">
                          <a:solidFill>
                            <a:srgbClr val="0F172A"/>
                          </a:solidFill>
                          <a:latin typeface="Calibri"/>
                        </a:defRPr>
                      </a:pPr>
                      <a:r>
                        <a:t>38.40</a:t>
                      </a:r>
                    </a:p>
                  </a:txBody>
                  <a:tcPr anchor="ctr">
                    <a:solidFill>
                      <a:srgbClr val="F1F5F9"/>
                    </a:solidFill>
                  </a:tcPr>
                </a:tc>
                <a:tc>
                  <a:txBody>
                    <a:bodyPr/>
                    <a:lstStyle/>
                    <a:p>
                      <a:pPr algn="ctr">
                        <a:defRPr sz="1000" b="0">
                          <a:solidFill>
                            <a:srgbClr val="0F172A"/>
                          </a:solidFill>
                          <a:latin typeface="Calibri"/>
                        </a:defRPr>
                      </a:pPr>
                      <a:r>
                        <a:t>37.50</a:t>
                      </a:r>
                    </a:p>
                  </a:txBody>
                  <a:tcPr anchor="ctr">
                    <a:solidFill>
                      <a:srgbClr val="F1F5F9"/>
                    </a:solidFill>
                  </a:tcPr>
                </a:tc>
                <a:tc>
                  <a:txBody>
                    <a:bodyPr/>
                    <a:lstStyle/>
                    <a:p>
                      <a:pPr algn="ctr">
                        <a:defRPr sz="1000" b="0">
                          <a:solidFill>
                            <a:srgbClr val="0F172A"/>
                          </a:solidFill>
                          <a:latin typeface="Calibri"/>
                        </a:defRPr>
                      </a:pPr>
                      <a:r>
                        <a:t>67.30</a:t>
                      </a:r>
                    </a:p>
                  </a:txBody>
                  <a:tcPr anchor="ctr">
                    <a:solidFill>
                      <a:srgbClr val="F1F5F9"/>
                    </a:solidFill>
                  </a:tcPr>
                </a:tc>
                <a:tc>
                  <a:txBody>
                    <a:bodyPr/>
                    <a:lstStyle/>
                    <a:p>
                      <a:pPr algn="ctr">
                        <a:defRPr sz="1000" b="0">
                          <a:solidFill>
                            <a:srgbClr val="0F172A"/>
                          </a:solidFill>
                          <a:latin typeface="Calibri"/>
                        </a:defRPr>
                      </a:pPr>
                      <a:r>
                        <a:t>43.30</a:t>
                      </a:r>
                    </a:p>
                  </a:txBody>
                  <a:tcPr anchor="ctr">
                    <a:solidFill>
                      <a:srgbClr val="F1F5F9"/>
                    </a:solidFill>
                  </a:tcPr>
                </a:tc>
                <a:tc>
                  <a:txBody>
                    <a:bodyPr/>
                    <a:lstStyle/>
                    <a:p>
                      <a:pPr algn="ctr">
                        <a:defRPr sz="1000" b="0">
                          <a:solidFill>
                            <a:srgbClr val="0F172A"/>
                          </a:solidFill>
                          <a:latin typeface="Calibri"/>
                        </a:defRPr>
                      </a:pPr>
                      <a:r>
                        <a:t>3.35</a:t>
                      </a:r>
                    </a:p>
                  </a:txBody>
                  <a:tcPr anchor="ctr">
                    <a:solidFill>
                      <a:srgbClr val="F1F5F9"/>
                    </a:solidFill>
                  </a:tcPr>
                </a:tc>
                <a:tc>
                  <a:txBody>
                    <a:bodyPr/>
                    <a:lstStyle/>
                    <a:p>
                      <a:pPr algn="ctr">
                        <a:defRPr sz="1000" b="0">
                          <a:solidFill>
                            <a:srgbClr val="0F172A"/>
                          </a:solidFill>
                          <a:latin typeface="Calibri"/>
                        </a:defRPr>
                      </a:pPr>
                      <a:r>
                        <a:t>35.50</a:t>
                      </a:r>
                    </a:p>
                  </a:txBody>
                  <a:tcPr anchor="ctr">
                    <a:solidFill>
                      <a:srgbClr val="F1F5F9"/>
                    </a:solidFill>
                  </a:tcPr>
                </a:tc>
                <a:extLst>
                  <a:ext uri="{0D108BD9-81ED-4DB2-BD59-A6C34878D82A}">
                    <a16:rowId xmlns:a16="http://schemas.microsoft.com/office/drawing/2014/main" val="10007"/>
                  </a:ext>
                </a:extLst>
              </a:tr>
              <a:tr h="457200">
                <a:tc>
                  <a:txBody>
                    <a:bodyPr/>
                    <a:lstStyle/>
                    <a:p>
                      <a:pPr algn="l">
                        <a:defRPr sz="1000" b="1">
                          <a:solidFill>
                            <a:srgbClr val="0F172A"/>
                          </a:solidFill>
                          <a:latin typeface="Calibri"/>
                        </a:defRPr>
                      </a:pPr>
                      <a:r>
                        <a:t>Ours (YOLO11-L)</a:t>
                      </a:r>
                    </a:p>
                  </a:txBody>
                  <a:tcPr anchor="ctr">
                    <a:solidFill>
                      <a:srgbClr val="DCFCE7"/>
                    </a:solidFill>
                  </a:tcPr>
                </a:tc>
                <a:tc>
                  <a:txBody>
                    <a:bodyPr/>
                    <a:lstStyle/>
                    <a:p>
                      <a:pPr algn="ctr">
                        <a:defRPr sz="1000" b="1">
                          <a:solidFill>
                            <a:srgbClr val="10B981"/>
                          </a:solidFill>
                          <a:latin typeface="Calibri"/>
                        </a:defRPr>
                      </a:pPr>
                      <a:r>
                        <a:t>26.70</a:t>
                      </a:r>
                    </a:p>
                  </a:txBody>
                  <a:tcPr anchor="ctr">
                    <a:solidFill>
                      <a:srgbClr val="DCFCE7"/>
                    </a:solidFill>
                  </a:tcPr>
                </a:tc>
                <a:tc>
                  <a:txBody>
                    <a:bodyPr/>
                    <a:lstStyle/>
                    <a:p>
                      <a:pPr algn="ctr">
                        <a:defRPr sz="1000" b="1">
                          <a:solidFill>
                            <a:srgbClr val="10B981"/>
                          </a:solidFill>
                          <a:latin typeface="Calibri"/>
                        </a:defRPr>
                      </a:pPr>
                      <a:r>
                        <a:t>41.40</a:t>
                      </a:r>
                    </a:p>
                  </a:txBody>
                  <a:tcPr anchor="ctr">
                    <a:solidFill>
                      <a:srgbClr val="DCFCE7"/>
                    </a:solidFill>
                  </a:tcPr>
                </a:tc>
                <a:tc>
                  <a:txBody>
                    <a:bodyPr/>
                    <a:lstStyle/>
                    <a:p>
                      <a:pPr algn="ctr">
                        <a:defRPr sz="1000" b="1">
                          <a:solidFill>
                            <a:srgbClr val="10B981"/>
                          </a:solidFill>
                          <a:latin typeface="Calibri"/>
                        </a:defRPr>
                      </a:pPr>
                      <a:r>
                        <a:t>40.60</a:t>
                      </a:r>
                    </a:p>
                  </a:txBody>
                  <a:tcPr anchor="ctr">
                    <a:solidFill>
                      <a:srgbClr val="DCFCE7"/>
                    </a:solidFill>
                  </a:tcPr>
                </a:tc>
                <a:tc>
                  <a:txBody>
                    <a:bodyPr/>
                    <a:lstStyle/>
                    <a:p>
                      <a:pPr algn="ctr">
                        <a:defRPr sz="1000" b="1">
                          <a:solidFill>
                            <a:srgbClr val="10B981"/>
                          </a:solidFill>
                          <a:latin typeface="Calibri"/>
                        </a:defRPr>
                      </a:pPr>
                      <a:r>
                        <a:t>54.80</a:t>
                      </a:r>
                    </a:p>
                  </a:txBody>
                  <a:tcPr anchor="ctr">
                    <a:solidFill>
                      <a:srgbClr val="DCFCE7"/>
                    </a:solidFill>
                  </a:tcPr>
                </a:tc>
                <a:tc>
                  <a:txBody>
                    <a:bodyPr/>
                    <a:lstStyle/>
                    <a:p>
                      <a:pPr algn="ctr">
                        <a:defRPr sz="1000" b="1">
                          <a:solidFill>
                            <a:srgbClr val="10B981"/>
                          </a:solidFill>
                          <a:latin typeface="Calibri"/>
                        </a:defRPr>
                      </a:pPr>
                      <a:r>
                        <a:t>74.10</a:t>
                      </a:r>
                    </a:p>
                  </a:txBody>
                  <a:tcPr anchor="ctr">
                    <a:solidFill>
                      <a:srgbClr val="DCFCE7"/>
                    </a:solidFill>
                  </a:tcPr>
                </a:tc>
                <a:tc>
                  <a:txBody>
                    <a:bodyPr/>
                    <a:lstStyle/>
                    <a:p>
                      <a:pPr algn="ctr">
                        <a:defRPr sz="1000" b="1">
                          <a:solidFill>
                            <a:srgbClr val="10B981"/>
                          </a:solidFill>
                          <a:latin typeface="Calibri"/>
                        </a:defRPr>
                      </a:pPr>
                      <a:r>
                        <a:t>51.20</a:t>
                      </a:r>
                    </a:p>
                  </a:txBody>
                  <a:tcPr anchor="ctr">
                    <a:solidFill>
                      <a:srgbClr val="DCFCE7"/>
                    </a:solidFill>
                  </a:tcPr>
                </a:tc>
                <a:tc>
                  <a:txBody>
                    <a:bodyPr/>
                    <a:lstStyle/>
                    <a:p>
                      <a:pPr algn="ctr">
                        <a:defRPr sz="1000" b="1">
                          <a:solidFill>
                            <a:srgbClr val="10B981"/>
                          </a:solidFill>
                          <a:latin typeface="Calibri"/>
                        </a:defRPr>
                      </a:pPr>
                      <a:r>
                        <a:t>2.99</a:t>
                      </a:r>
                    </a:p>
                  </a:txBody>
                  <a:tcPr anchor="ctr">
                    <a:solidFill>
                      <a:srgbClr val="DCFCE7"/>
                    </a:solidFill>
                  </a:tcPr>
                </a:tc>
                <a:tc>
                  <a:txBody>
                    <a:bodyPr/>
                    <a:lstStyle/>
                    <a:p>
                      <a:pPr algn="ctr">
                        <a:defRPr sz="1000" b="1">
                          <a:solidFill>
                            <a:srgbClr val="10B981"/>
                          </a:solidFill>
                          <a:latin typeface="Calibri"/>
                        </a:defRPr>
                      </a:pPr>
                      <a:r>
                        <a:t>40.10</a:t>
                      </a:r>
                    </a:p>
                  </a:txBody>
                  <a:tcPr anchor="ctr">
                    <a:solidFill>
                      <a:srgbClr val="DCFCE7"/>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731520" y="5669280"/>
            <a:ext cx="10728655" cy="548640"/>
          </a:xfrm>
          <a:prstGeom prst="rect">
            <a:avLst/>
          </a:prstGeom>
          <a:noFill/>
        </p:spPr>
        <p:txBody>
          <a:bodyPr wrap="square">
            <a:spAutoFit/>
          </a:bodyPr>
          <a:lstStyle/>
          <a:p>
            <a:pPr>
              <a:defRPr sz="1100" b="1">
                <a:solidFill>
                  <a:srgbClr val="64748B"/>
                </a:solidFill>
              </a:defRPr>
            </a:pPr>
            <a:r>
              <a:t>(*) LT2: Disc Space Narrowing | LT4: Foraminal Stenosis | LT6: Osteophytes | LT8: Spondylolisthesis | LT10: Surgical Implant | LT11: Vertebral Collapse | LT13: Other Lesions.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CLINICAL INTERPRETABILITY</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Explainable AI (XAI): Quantitative Anatomical Grounding</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12</a:t>
            </a:r>
          </a:p>
        </p:txBody>
      </p:sp>
      <p:sp>
        <p:nvSpPr>
          <p:cNvPr id="5" name="Rounded Rectangle 4"/>
          <p:cNvSpPr/>
          <p:nvPr/>
        </p:nvSpPr>
        <p:spPr>
          <a:xfrm>
            <a:off x="731520" y="1463040"/>
            <a:ext cx="32918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2926080" cy="4206240"/>
          </a:xfrm>
          <a:prstGeom prst="rect">
            <a:avLst/>
          </a:prstGeom>
          <a:noFill/>
        </p:spPr>
        <p:txBody>
          <a:bodyPr wrap="square">
            <a:spAutoFit/>
          </a:bodyPr>
          <a:lstStyle/>
          <a:p>
            <a:pPr>
              <a:defRPr sz="1600" b="1">
                <a:solidFill>
                  <a:srgbClr val="1E3A8A"/>
                </a:solidFill>
              </a:defRPr>
            </a:pPr>
            <a:r>
              <a:t>Saliency Maps (X-IoU: 0.61)</a:t>
            </a:r>
          </a:p>
          <a:p>
            <a:pPr>
              <a:defRPr sz="1200"/>
            </a:pPr>
            <a:r>
              <a:t>• Pixel-level gradient attribution maps.</a:t>
            </a:r>
          </a:p>
          <a:p>
            <a:pPr>
              <a:defRPr sz="1200"/>
            </a:pPr>
            <a:r>
              <a:t>• Quantitative overlap: Mean X-IoU of 0.61 with radiologist bounding boxes.</a:t>
            </a:r>
          </a:p>
          <a:p>
            <a:pPr>
              <a:defRPr sz="1200"/>
            </a:pPr>
            <a:r>
              <a:t>• Confirms DERNet triage focuses directly on vertebral cortical bone margins.</a:t>
            </a:r>
          </a:p>
          <a:p>
            <a:pPr>
              <a:defRPr sz="1200"/>
            </a:pPr>
            <a:r>
              <a:t>• Proves the triage gate is not guessing based on background soft tissue.</a:t>
            </a:r>
          </a:p>
        </p:txBody>
      </p:sp>
      <p:sp>
        <p:nvSpPr>
          <p:cNvPr id="7" name="Rounded Rectangle 6"/>
          <p:cNvSpPr/>
          <p:nvPr/>
        </p:nvSpPr>
        <p:spPr>
          <a:xfrm>
            <a:off x="4389120" y="1463040"/>
            <a:ext cx="329184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645920"/>
            <a:ext cx="2926080" cy="4206240"/>
          </a:xfrm>
          <a:prstGeom prst="rect">
            <a:avLst/>
          </a:prstGeom>
          <a:noFill/>
        </p:spPr>
        <p:txBody>
          <a:bodyPr wrap="square">
            <a:spAutoFit/>
          </a:bodyPr>
          <a:lstStyle/>
          <a:p>
            <a:pPr>
              <a:defRPr sz="1600" b="1">
                <a:solidFill>
                  <a:srgbClr val="0EA5E9"/>
                </a:solidFill>
              </a:defRPr>
            </a:pPr>
            <a:r>
              <a:t>Grad-CAM (X-IoU: 0.64)</a:t>
            </a:r>
          </a:p>
          <a:p>
            <a:pPr>
              <a:defRPr sz="1200"/>
            </a:pPr>
            <a:r>
              <a:t>• Class-activation heatmaps from deep convolutional features.</a:t>
            </a:r>
          </a:p>
          <a:p>
            <a:pPr>
              <a:defRPr sz="1200"/>
            </a:pPr>
            <a:r>
              <a:t>• High alignment: Mean X-IoU of 0.64 with ground truth annotations.</a:t>
            </a:r>
          </a:p>
          <a:p>
            <a:pPr>
              <a:defRPr sz="1200"/>
            </a:pPr>
            <a:r>
              <a:t>• Verifies high-activation centers align directly with genuine lesion pathology.</a:t>
            </a:r>
          </a:p>
          <a:p>
            <a:pPr>
              <a:defRPr sz="1200"/>
            </a:pPr>
            <a:r>
              <a:t>• Shows high spatial consistency with YOLO11-L detection boxes.</a:t>
            </a:r>
          </a:p>
        </p:txBody>
      </p:sp>
      <p:sp>
        <p:nvSpPr>
          <p:cNvPr id="9" name="Rounded Rectangle 8"/>
          <p:cNvSpPr/>
          <p:nvPr/>
        </p:nvSpPr>
        <p:spPr>
          <a:xfrm>
            <a:off x="8046720" y="1463040"/>
            <a:ext cx="338328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645920"/>
            <a:ext cx="3017520" cy="4206240"/>
          </a:xfrm>
          <a:prstGeom prst="rect">
            <a:avLst/>
          </a:prstGeom>
          <a:noFill/>
        </p:spPr>
        <p:txBody>
          <a:bodyPr wrap="square">
            <a:spAutoFit/>
          </a:bodyPr>
          <a:lstStyle/>
          <a:p>
            <a:pPr>
              <a:defRPr sz="1600" b="1">
                <a:solidFill>
                  <a:srgbClr val="10B981"/>
                </a:solidFill>
              </a:defRPr>
            </a:pPr>
            <a:r>
              <a:t>LIME Local Superpixels</a:t>
            </a:r>
          </a:p>
          <a:p>
            <a:pPr>
              <a:defRPr sz="1200"/>
            </a:pPr>
            <a:r>
              <a:t>• Perturbation-based local surrogate modeling.</a:t>
            </a:r>
          </a:p>
          <a:p>
            <a:pPr>
              <a:defRPr sz="1200"/>
            </a:pPr>
            <a:r>
              <a:t>• Isolates image regions driving individual backbone decisions.</a:t>
            </a:r>
          </a:p>
          <a:p>
            <a:pPr>
              <a:defRPr sz="1200"/>
            </a:pPr>
            <a:r>
              <a:t>• Validates that decisions are anchored to bony landmarks, not scanner artifacts.</a:t>
            </a:r>
          </a:p>
          <a:p>
            <a:pPr>
              <a:defRPr sz="1200"/>
            </a:pPr>
            <a:r>
              <a:t>• Critical for establishing clinical adoption trust in emergency centers.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COMPUTE PROFILING</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Computational Efficiency: Practical CPU Screening</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13</a:t>
            </a:r>
          </a:p>
        </p:txBody>
      </p:sp>
      <p:graphicFrame>
        <p:nvGraphicFramePr>
          <p:cNvPr id="5" name="Table 4"/>
          <p:cNvGraphicFramePr>
            <a:graphicFrameLocks noGrp="1"/>
          </p:cNvGraphicFramePr>
          <p:nvPr/>
        </p:nvGraphicFramePr>
        <p:xfrm>
          <a:off x="731520" y="1463040"/>
          <a:ext cx="10728655" cy="1645920"/>
        </p:xfrm>
        <a:graphic>
          <a:graphicData uri="http://schemas.openxmlformats.org/drawingml/2006/table">
            <a:tbl>
              <a:tblPr firstRow="1" bandRow="1">
                <a:tableStyleId>{5C22544A-7EE6-4342-B048-85BDC9FD1C3A}</a:tableStyleId>
              </a:tblPr>
              <a:tblGrid>
                <a:gridCol w="2145731">
                  <a:extLst>
                    <a:ext uri="{9D8B030D-6E8A-4147-A177-3AD203B41FA5}">
                      <a16:colId xmlns:a16="http://schemas.microsoft.com/office/drawing/2014/main" val="20000"/>
                    </a:ext>
                  </a:extLst>
                </a:gridCol>
                <a:gridCol w="2145731">
                  <a:extLst>
                    <a:ext uri="{9D8B030D-6E8A-4147-A177-3AD203B41FA5}">
                      <a16:colId xmlns:a16="http://schemas.microsoft.com/office/drawing/2014/main" val="20001"/>
                    </a:ext>
                  </a:extLst>
                </a:gridCol>
                <a:gridCol w="2145731">
                  <a:extLst>
                    <a:ext uri="{9D8B030D-6E8A-4147-A177-3AD203B41FA5}">
                      <a16:colId xmlns:a16="http://schemas.microsoft.com/office/drawing/2014/main" val="20002"/>
                    </a:ext>
                  </a:extLst>
                </a:gridCol>
                <a:gridCol w="2145731">
                  <a:extLst>
                    <a:ext uri="{9D8B030D-6E8A-4147-A177-3AD203B41FA5}">
                      <a16:colId xmlns:a16="http://schemas.microsoft.com/office/drawing/2014/main" val="20003"/>
                    </a:ext>
                  </a:extLst>
                </a:gridCol>
                <a:gridCol w="2145731">
                  <a:extLst>
                    <a:ext uri="{9D8B030D-6E8A-4147-A177-3AD203B41FA5}">
                      <a16:colId xmlns:a16="http://schemas.microsoft.com/office/drawing/2014/main" val="20004"/>
                    </a:ext>
                  </a:extLst>
                </a:gridCol>
              </a:tblGrid>
              <a:tr h="548640">
                <a:tc>
                  <a:txBody>
                    <a:bodyPr/>
                    <a:lstStyle/>
                    <a:p>
                      <a:pPr algn="l">
                        <a:defRPr sz="1200" b="1">
                          <a:solidFill>
                            <a:srgbClr val="FFFFFF"/>
                          </a:solidFill>
                          <a:latin typeface="Calibri"/>
                        </a:defRPr>
                      </a:pPr>
                      <a:r>
                        <a:t>Pipeline Stage</a:t>
                      </a:r>
                    </a:p>
                  </a:txBody>
                  <a:tcPr anchor="ctr">
                    <a:solidFill>
                      <a:srgbClr val="1E3A8A"/>
                    </a:solidFill>
                  </a:tcPr>
                </a:tc>
                <a:tc>
                  <a:txBody>
                    <a:bodyPr/>
                    <a:lstStyle/>
                    <a:p>
                      <a:pPr algn="l">
                        <a:defRPr sz="1200" b="1">
                          <a:solidFill>
                            <a:srgbClr val="FFFFFF"/>
                          </a:solidFill>
                          <a:latin typeface="Calibri"/>
                        </a:defRPr>
                      </a:pPr>
                      <a:r>
                        <a:t>Model</a:t>
                      </a:r>
                    </a:p>
                  </a:txBody>
                  <a:tcPr anchor="ctr">
                    <a:solidFill>
                      <a:srgbClr val="1E3A8A"/>
                    </a:solidFill>
                  </a:tcPr>
                </a:tc>
                <a:tc>
                  <a:txBody>
                    <a:bodyPr/>
                    <a:lstStyle/>
                    <a:p>
                      <a:pPr algn="ctr">
                        <a:defRPr sz="1200" b="1">
                          <a:solidFill>
                            <a:srgbClr val="FFFFFF"/>
                          </a:solidFill>
                          <a:latin typeface="Calibri"/>
                        </a:defRPr>
                      </a:pPr>
                      <a:r>
                        <a:t>GFLOPs</a:t>
                      </a:r>
                    </a:p>
                  </a:txBody>
                  <a:tcPr anchor="ctr">
                    <a:solidFill>
                      <a:srgbClr val="1E3A8A"/>
                    </a:solidFill>
                  </a:tcPr>
                </a:tc>
                <a:tc>
                  <a:txBody>
                    <a:bodyPr/>
                    <a:lstStyle/>
                    <a:p>
                      <a:pPr algn="ctr">
                        <a:defRPr sz="1200" b="1">
                          <a:solidFill>
                            <a:srgbClr val="FFFFFF"/>
                          </a:solidFill>
                          <a:latin typeface="Calibri"/>
                        </a:defRPr>
                      </a:pPr>
                      <a:r>
                        <a:t>RAM Footprint</a:t>
                      </a:r>
                    </a:p>
                  </a:txBody>
                  <a:tcPr anchor="ctr">
                    <a:solidFill>
                      <a:srgbClr val="1E3A8A"/>
                    </a:solidFill>
                  </a:tcPr>
                </a:tc>
                <a:tc>
                  <a:txBody>
                    <a:bodyPr/>
                    <a:lstStyle/>
                    <a:p>
                      <a:pPr algn="ctr">
                        <a:defRPr sz="1200" b="1">
                          <a:solidFill>
                            <a:srgbClr val="FFFFFF"/>
                          </a:solidFill>
                          <a:latin typeface="Calibri"/>
                        </a:defRPr>
                      </a:pPr>
                      <a:r>
                        <a:t>CPU Latency</a:t>
                      </a:r>
                    </a:p>
                  </a:txBody>
                  <a:tcPr anchor="ctr">
                    <a:solidFill>
                      <a:srgbClr val="1E3A8A"/>
                    </a:solidFill>
                  </a:tcPr>
                </a:tc>
                <a:extLst>
                  <a:ext uri="{0D108BD9-81ED-4DB2-BD59-A6C34878D82A}">
                    <a16:rowId xmlns:a16="http://schemas.microsoft.com/office/drawing/2014/main" val="10000"/>
                  </a:ext>
                </a:extLst>
              </a:tr>
              <a:tr h="548640">
                <a:tc>
                  <a:txBody>
                    <a:bodyPr/>
                    <a:lstStyle/>
                    <a:p>
                      <a:pPr algn="l">
                        <a:defRPr sz="1100" b="1">
                          <a:solidFill>
                            <a:srgbClr val="0F172A"/>
                          </a:solidFill>
                          <a:latin typeface="Calibri"/>
                        </a:defRPr>
                      </a:pPr>
                      <a:r>
                        <a:t>Stage 1: Screening Triage (All Studies)</a:t>
                      </a:r>
                    </a:p>
                  </a:txBody>
                  <a:tcPr anchor="ctr">
                    <a:solidFill>
                      <a:srgbClr val="DCFCE7"/>
                    </a:solidFill>
                  </a:tcPr>
                </a:tc>
                <a:tc>
                  <a:txBody>
                    <a:bodyPr/>
                    <a:lstStyle/>
                    <a:p>
                      <a:pPr algn="l">
                        <a:defRPr sz="1100" b="1">
                          <a:solidFill>
                            <a:srgbClr val="0F172A"/>
                          </a:solidFill>
                          <a:latin typeface="Calibri"/>
                        </a:defRPr>
                      </a:pPr>
                      <a:r>
                        <a:t>DERNet Ensemble</a:t>
                      </a:r>
                    </a:p>
                  </a:txBody>
                  <a:tcPr anchor="ctr">
                    <a:solidFill>
                      <a:srgbClr val="DCFCE7"/>
                    </a:solidFill>
                  </a:tcPr>
                </a:tc>
                <a:tc>
                  <a:txBody>
                    <a:bodyPr/>
                    <a:lstStyle/>
                    <a:p>
                      <a:pPr algn="ctr">
                        <a:defRPr sz="1100" b="0">
                          <a:solidFill>
                            <a:srgbClr val="0F172A"/>
                          </a:solidFill>
                          <a:latin typeface="Calibri"/>
                        </a:defRPr>
                      </a:pPr>
                      <a:r>
                        <a:t>15.4 GFLOPs</a:t>
                      </a:r>
                    </a:p>
                  </a:txBody>
                  <a:tcPr anchor="ctr">
                    <a:solidFill>
                      <a:srgbClr val="DCFCE7"/>
                    </a:solidFill>
                  </a:tcPr>
                </a:tc>
                <a:tc>
                  <a:txBody>
                    <a:bodyPr/>
                    <a:lstStyle/>
                    <a:p>
                      <a:pPr algn="ctr">
                        <a:defRPr sz="1100" b="0">
                          <a:solidFill>
                            <a:srgbClr val="0F172A"/>
                          </a:solidFill>
                          <a:latin typeface="Calibri"/>
                        </a:defRPr>
                      </a:pPr>
                      <a:r>
                        <a:t>0.9 GB RAM</a:t>
                      </a:r>
                    </a:p>
                  </a:txBody>
                  <a:tcPr anchor="ctr">
                    <a:solidFill>
                      <a:srgbClr val="DCFCE7"/>
                    </a:solidFill>
                  </a:tcPr>
                </a:tc>
                <a:tc>
                  <a:txBody>
                    <a:bodyPr/>
                    <a:lstStyle/>
                    <a:p>
                      <a:pPr algn="ctr">
                        <a:defRPr sz="1100" b="0">
                          <a:solidFill>
                            <a:srgbClr val="0F172A"/>
                          </a:solidFill>
                          <a:latin typeface="Calibri"/>
                        </a:defRPr>
                      </a:pPr>
                      <a:r>
                        <a:t>120 ms</a:t>
                      </a:r>
                    </a:p>
                  </a:txBody>
                  <a:tcPr anchor="ctr">
                    <a:solidFill>
                      <a:srgbClr val="DCFCE7"/>
                    </a:solidFill>
                  </a:tcPr>
                </a:tc>
                <a:extLst>
                  <a:ext uri="{0D108BD9-81ED-4DB2-BD59-A6C34878D82A}">
                    <a16:rowId xmlns:a16="http://schemas.microsoft.com/office/drawing/2014/main" val="10001"/>
                  </a:ext>
                </a:extLst>
              </a:tr>
              <a:tr h="548640">
                <a:tc>
                  <a:txBody>
                    <a:bodyPr/>
                    <a:lstStyle/>
                    <a:p>
                      <a:pPr algn="l">
                        <a:defRPr sz="1100" b="1">
                          <a:solidFill>
                            <a:srgbClr val="0F172A"/>
                          </a:solidFill>
                          <a:latin typeface="Calibri"/>
                        </a:defRPr>
                      </a:pPr>
                      <a:r>
                        <a:t>Stage 2: Localization (Abnormal Only)</a:t>
                      </a:r>
                    </a:p>
                  </a:txBody>
                  <a:tcPr anchor="ctr">
                    <a:solidFill>
                      <a:srgbClr val="FFFFFF"/>
                    </a:solidFill>
                  </a:tcPr>
                </a:tc>
                <a:tc>
                  <a:txBody>
                    <a:bodyPr/>
                    <a:lstStyle/>
                    <a:p>
                      <a:pPr algn="l">
                        <a:defRPr sz="1100" b="1">
                          <a:solidFill>
                            <a:srgbClr val="0F172A"/>
                          </a:solidFill>
                          <a:latin typeface="Calibri"/>
                        </a:defRPr>
                      </a:pPr>
                      <a:r>
                        <a:t>YOLO11-L</a:t>
                      </a:r>
                    </a:p>
                  </a:txBody>
                  <a:tcPr anchor="ctr">
                    <a:solidFill>
                      <a:srgbClr val="FFFFFF"/>
                    </a:solidFill>
                  </a:tcPr>
                </a:tc>
                <a:tc>
                  <a:txBody>
                    <a:bodyPr/>
                    <a:lstStyle/>
                    <a:p>
                      <a:pPr algn="ctr">
                        <a:defRPr sz="1100" b="0">
                          <a:solidFill>
                            <a:srgbClr val="0F172A"/>
                          </a:solidFill>
                          <a:latin typeface="Calibri"/>
                        </a:defRPr>
                      </a:pPr>
                      <a:r>
                        <a:t>74.6 GFLOPs</a:t>
                      </a:r>
                    </a:p>
                  </a:txBody>
                  <a:tcPr anchor="ctr">
                    <a:solidFill>
                      <a:srgbClr val="FFFFFF"/>
                    </a:solidFill>
                  </a:tcPr>
                </a:tc>
                <a:tc>
                  <a:txBody>
                    <a:bodyPr/>
                    <a:lstStyle/>
                    <a:p>
                      <a:pPr algn="ctr">
                        <a:defRPr sz="1100" b="0">
                          <a:solidFill>
                            <a:srgbClr val="0F172A"/>
                          </a:solidFill>
                          <a:latin typeface="Calibri"/>
                        </a:defRPr>
                      </a:pPr>
                      <a:r>
                        <a:t>1.8 GB RAM</a:t>
                      </a:r>
                    </a:p>
                  </a:txBody>
                  <a:tcPr anchor="ctr">
                    <a:solidFill>
                      <a:srgbClr val="FFFFFF"/>
                    </a:solidFill>
                  </a:tcPr>
                </a:tc>
                <a:tc>
                  <a:txBody>
                    <a:bodyPr/>
                    <a:lstStyle/>
                    <a:p>
                      <a:pPr algn="ctr">
                        <a:defRPr sz="1100" b="0">
                          <a:solidFill>
                            <a:srgbClr val="0F172A"/>
                          </a:solidFill>
                          <a:latin typeface="Calibri"/>
                        </a:defRPr>
                      </a:pPr>
                      <a:r>
                        <a:t>350 ms</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6" name="Rounded Rectangle 5"/>
          <p:cNvSpPr/>
          <p:nvPr/>
        </p:nvSpPr>
        <p:spPr>
          <a:xfrm>
            <a:off x="731520" y="3383280"/>
            <a:ext cx="5120640" cy="26517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566160"/>
            <a:ext cx="4754880" cy="2286000"/>
          </a:xfrm>
          <a:prstGeom prst="rect">
            <a:avLst/>
          </a:prstGeom>
          <a:noFill/>
        </p:spPr>
        <p:txBody>
          <a:bodyPr wrap="square">
            <a:spAutoFit/>
          </a:bodyPr>
          <a:lstStyle/>
          <a:p>
            <a:pPr>
              <a:defRPr sz="1500" b="1">
                <a:solidFill>
                  <a:srgbClr val="1E3A8A"/>
                </a:solidFill>
              </a:defRPr>
            </a:pPr>
            <a:r>
              <a:t>Why Staged Inference Matters for Clinics</a:t>
            </a:r>
          </a:p>
          <a:p>
            <a:pPr>
              <a:defRPr sz="1100"/>
            </a:pPr>
            <a:r>
              <a:t>• Running a monolithic 74.6 GFLOP detector across 100% of routine screening X-rays overwhelms basic clinic CPUs.</a:t>
            </a:r>
          </a:p>
          <a:p>
            <a:pPr>
              <a:defRPr sz="1100"/>
            </a:pPr>
            <a:r>
              <a:t>• DERNet filters out the bulk of normal studies at just 15.4 GFLOPs and 120 ms.</a:t>
            </a:r>
          </a:p>
          <a:p>
            <a:pPr>
              <a:defRPr sz="1100"/>
            </a:pPr>
            <a:r>
              <a:t>• The compute-heavy YOLO11-L is invoked only when abnormalities are confirmed.</a:t>
            </a:r>
          </a:p>
          <a:p>
            <a:pPr>
              <a:defRPr sz="1100"/>
            </a:pPr>
            <a:r>
              <a:t>• Enables real-time performance on ordinary desktop computers without dedicated GPUs.</a:t>
            </a:r>
          </a:p>
        </p:txBody>
      </p:sp>
      <p:sp>
        <p:nvSpPr>
          <p:cNvPr id="8" name="Rounded Rectangle 7"/>
          <p:cNvSpPr/>
          <p:nvPr/>
        </p:nvSpPr>
        <p:spPr>
          <a:xfrm>
            <a:off x="6217920" y="3383280"/>
            <a:ext cx="5212080" cy="26517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3566160"/>
            <a:ext cx="4846320" cy="2286000"/>
          </a:xfrm>
          <a:prstGeom prst="rect">
            <a:avLst/>
          </a:prstGeom>
          <a:noFill/>
        </p:spPr>
        <p:txBody>
          <a:bodyPr wrap="square">
            <a:spAutoFit/>
          </a:bodyPr>
          <a:lstStyle/>
          <a:p>
            <a:pPr>
              <a:defRPr sz="1500" b="1">
                <a:solidFill>
                  <a:srgbClr val="10B981"/>
                </a:solidFill>
              </a:defRPr>
            </a:pPr>
            <a:r>
              <a:t>Equitable MRI Resource Rationing</a:t>
            </a:r>
          </a:p>
          <a:p>
            <a:pPr>
              <a:defRPr sz="1100"/>
            </a:pPr>
            <a:r>
              <a:t>• Converts low-cost, widely accessible 2D X-rays into a smart prioritization gate.</a:t>
            </a:r>
          </a:p>
          <a:p>
            <a:pPr>
              <a:defRPr sz="1100"/>
            </a:pPr>
            <a:r>
              <a:t>• Ensures patients with subtle but dangerous lesions are flagged early for MRI confirmation.</a:t>
            </a:r>
          </a:p>
          <a:p>
            <a:pPr>
              <a:defRPr sz="1100"/>
            </a:pPr>
            <a:r>
              <a:t>• Prevents emergency queue clogging by normal studies.</a:t>
            </a:r>
          </a:p>
          <a:p>
            <a:pPr>
              <a:defRPr sz="1100"/>
            </a:pPr>
            <a:r>
              <a:t>• Directly aligns with the mission of MICCAI MIRASOL: advancing healthcare in resource-constrained environments.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a:spAutoFit/>
          </a:bodyPr>
          <a:lstStyle/>
          <a:p>
            <a:pPr>
              <a:defRPr sz="1000" b="1">
                <a:solidFill>
                  <a:srgbClr val="0EA5E9"/>
                </a:solidFill>
                <a:latin typeface="Calibri"/>
              </a:defRPr>
            </a:pPr>
            <a:r>
              <a:t>MIRASOL • MICCAI 2026  |  SUBMISSION 74  |  SUMMARY &amp; WRAP-UP</a:t>
            </a:r>
          </a:p>
        </p:txBody>
      </p:sp>
      <p:sp>
        <p:nvSpPr>
          <p:cNvPr id="3" name="TextBox 2"/>
          <p:cNvSpPr txBox="1"/>
          <p:nvPr/>
        </p:nvSpPr>
        <p:spPr>
          <a:xfrm>
            <a:off x="731520" y="658368"/>
            <a:ext cx="10058400" cy="594360"/>
          </a:xfrm>
          <a:prstGeom prst="rect">
            <a:avLst/>
          </a:prstGeom>
          <a:noFill/>
        </p:spPr>
        <p:txBody>
          <a:bodyPr wrap="square">
            <a:spAutoFit/>
          </a:bodyPr>
          <a:lstStyle/>
          <a:p>
            <a:pPr>
              <a:defRPr sz="2200" b="1">
                <a:solidFill>
                  <a:srgbClr val="0F172A"/>
                </a:solidFill>
                <a:latin typeface="Calibri"/>
              </a:defRPr>
            </a:pPr>
            <a:r>
              <a:t>Conclusion &amp; Presentation Takeaways</a:t>
            </a:r>
          </a:p>
        </p:txBody>
      </p:sp>
      <p:sp>
        <p:nvSpPr>
          <p:cNvPr id="4" name="TextBox 3"/>
          <p:cNvSpPr txBox="1"/>
          <p:nvPr/>
        </p:nvSpPr>
        <p:spPr>
          <a:xfrm>
            <a:off x="10972800" y="6400800"/>
            <a:ext cx="731520" cy="274320"/>
          </a:xfrm>
          <a:prstGeom prst="rect">
            <a:avLst/>
          </a:prstGeom>
          <a:noFill/>
        </p:spPr>
        <p:txBody>
          <a:bodyPr wrap="none">
            <a:spAutoFit/>
          </a:bodyPr>
          <a:lstStyle/>
          <a:p>
            <a:pPr algn="r">
              <a:defRPr sz="1100" b="1">
                <a:solidFill>
                  <a:srgbClr val="64748B"/>
                </a:solidFill>
                <a:latin typeface="Calibri"/>
              </a:defRPr>
            </a:pPr>
            <a:r>
              <a:t>14</a:t>
            </a:r>
          </a:p>
        </p:txBody>
      </p:sp>
      <p:sp>
        <p:nvSpPr>
          <p:cNvPr id="5" name="Rounded Rectangle 4"/>
          <p:cNvSpPr/>
          <p:nvPr/>
        </p:nvSpPr>
        <p:spPr>
          <a:xfrm>
            <a:off x="731520" y="1463040"/>
            <a:ext cx="6858000" cy="45720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6492240" cy="4206240"/>
          </a:xfrm>
          <a:prstGeom prst="rect">
            <a:avLst/>
          </a:prstGeom>
          <a:noFill/>
        </p:spPr>
        <p:txBody>
          <a:bodyPr wrap="square">
            <a:spAutoFit/>
          </a:bodyPr>
          <a:lstStyle/>
          <a:p>
            <a:pPr>
              <a:defRPr sz="1600" b="1">
                <a:solidFill>
                  <a:srgbClr val="1E3A8A"/>
                </a:solidFill>
              </a:defRPr>
            </a:pPr>
            <a:r>
              <a:t>Key Takeaways for Attendees in Strasbourg</a:t>
            </a:r>
          </a:p>
          <a:p>
            <a:pPr>
              <a:defRPr sz="1200"/>
            </a:pPr>
            <a:r>
              <a:t>• Structural Decoupling: Gating screening triage from localization resolves the sensitivity-specificity trade-off under extreme 46.9:1 class imbalance.</a:t>
            </a:r>
          </a:p>
          <a:p>
            <a:pPr>
              <a:defRPr sz="1200"/>
            </a:pPr>
            <a:r>
              <a:t>• State-of-the-Art Benchmarks: Achieves 91.03% AUROC for screening and 40.10% mAP@0.5 for lesion localization on VinDr-SpineXR.</a:t>
            </a:r>
          </a:p>
          <a:p>
            <a:pPr>
              <a:defRPr sz="1200"/>
            </a:pPr>
            <a:r>
              <a:t>• Rigorous XAI Validation: Saliency and Grad-CAM overlays (0.61–0.64 X-IoU) confirm activations anchor to genuine cortical margins and pathology.</a:t>
            </a:r>
          </a:p>
          <a:p>
            <a:pPr>
              <a:defRPr sz="1200"/>
            </a:pPr>
            <a:r>
              <a:t>• Strict CPU Efficiency: 15.4 GFLOPs screening enables real-time deployment on clinic CPUs, ensuring scarce MRI slots are strictly rationed.</a:t>
            </a:r>
          </a:p>
          <a:p>
            <a:pPr>
              <a:defRPr sz="1200"/>
            </a:pPr>
            <a:r>
              <a:t>• Open Science &amp; Reproducibility: Code, models, and web demo released at https://cimilab.github.io/DERNet/.</a:t>
            </a:r>
          </a:p>
        </p:txBody>
      </p:sp>
      <p:sp>
        <p:nvSpPr>
          <p:cNvPr id="7" name="Rounded Rectangle 6"/>
          <p:cNvSpPr/>
          <p:nvPr/>
        </p:nvSpPr>
        <p:spPr>
          <a:xfrm>
            <a:off x="7955279" y="1463040"/>
            <a:ext cx="3474720" cy="45720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38160" y="1645920"/>
            <a:ext cx="3108960" cy="4206240"/>
          </a:xfrm>
          <a:prstGeom prst="rect">
            <a:avLst/>
          </a:prstGeom>
          <a:noFill/>
        </p:spPr>
        <p:txBody>
          <a:bodyPr wrap="square">
            <a:spAutoFit/>
          </a:bodyPr>
          <a:lstStyle/>
          <a:p>
            <a:pPr>
              <a:defRPr sz="1800" b="1">
                <a:solidFill>
                  <a:srgbClr val="0EA5E9"/>
                </a:solidFill>
              </a:defRPr>
            </a:pPr>
            <a:r>
              <a:t>Thank You, Dr. Guevara!</a:t>
            </a:r>
          </a:p>
          <a:p>
            <a:br/>
            <a:r>
              <a:t>We are deeply grateful for your mentorship and representation at MICCAI 2026.</a:t>
            </a:r>
          </a:p>
          <a:p>
            <a:br/>
            <a:r>
              <a:t>Presentation Date:</a:t>
            </a:r>
            <a:br/>
            <a:r>
              <a:t>Sunday, Sept 27</a:t>
            </a:r>
            <a:br/>
            <a:r>
              <a:t>10:30 – 15:30 (Strasbourg)</a:t>
            </a:r>
          </a:p>
          <a:p>
            <a:br/>
            <a:r>
              <a:t>Online Repository:</a:t>
            </a:r>
            <a:br/>
            <a:r>
              <a:t>https://cimilab.github.io/DERNet/</a:t>
            </a:r>
          </a:p>
          <a:p>
            <a:br/>
            <a:r>
              <a:t>Discussion &amp;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2920</Words>
  <Application>Microsoft Office PowerPoint</Application>
  <PresentationFormat>Widescreen</PresentationFormat>
  <Paragraphs>369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Prosenjit mondol</cp:lastModifiedBy>
  <cp:revision>1</cp:revision>
  <dcterms:created xsi:type="dcterms:W3CDTF">2013-01-27T09:14:16Z</dcterms:created>
  <dcterms:modified xsi:type="dcterms:W3CDTF">2026-09-19T09:59:39Z</dcterms:modified>
  <cp:category/>
</cp:coreProperties>
</file>