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4206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2A8A0"/>
                </a:solidFill>
                <a:latin typeface="Arial"/>
              </a:rPr>
              <a:t>MIRASOL • MICCAI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68096"/>
            <a:ext cx="7086600" cy="15727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rial"/>
              </a:rPr>
              <a:t>A Sensitivity-Gated Cascade for
Compute-Efficient Spinal Lesion Detection
in Resource-Constrained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7680"/>
                </a:solidFill>
                <a:latin typeface="Arial"/>
              </a:rPr>
              <a:t>Detailed research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90088"/>
            <a:ext cx="68122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D2A33"/>
                </a:solidFill>
                <a:latin typeface="Arial"/>
              </a:rPr>
              <a:t>Prosenjit Mondol¹  •  Samrat Kumar Dey²  •  Arpita Howlader¹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291840"/>
            <a:ext cx="6720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6B7680"/>
                </a:solidFill>
                <a:latin typeface="Arial"/>
              </a:rPr>
              <a:t>¹ Faculty of Computer Science and Engineering, Patuakhali Science and Technology University
² School of Science and Technology, Bangladesh Open University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4050791"/>
            <a:ext cx="1280160" cy="274320"/>
          </a:xfrm>
          <a:prstGeom prst="roundRect">
            <a:avLst/>
          </a:prstGeom>
          <a:solidFill>
            <a:srgbClr val="E7F5F3"/>
          </a:solidFill>
          <a:ln w="635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4087368"/>
            <a:ext cx="1207007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12A8A0"/>
                </a:solidFill>
                <a:latin typeface="Arial"/>
              </a:rPr>
              <a:t>TRIAGE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93392" y="4050791"/>
            <a:ext cx="1481328" cy="274320"/>
          </a:xfrm>
          <a:prstGeom prst="roundRect">
            <a:avLst/>
          </a:prstGeom>
          <a:solidFill>
            <a:srgbClr val="EAF3F9"/>
          </a:solidFill>
          <a:ln w="6350"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29968" y="4087368"/>
            <a:ext cx="1408176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6E9B"/>
                </a:solidFill>
                <a:latin typeface="Arial"/>
              </a:rPr>
              <a:t>LOCALIZE SECOND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4050791"/>
            <a:ext cx="1417320" cy="274320"/>
          </a:xfrm>
          <a:prstGeom prst="roundRect">
            <a:avLst/>
          </a:prstGeom>
          <a:solidFill>
            <a:srgbClr val="FBF3DF"/>
          </a:solidFill>
          <a:ln w="635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4087368"/>
            <a:ext cx="134416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D8A23A"/>
                </a:solidFill>
                <a:latin typeface="Arial"/>
              </a:rPr>
              <a:t>RESOURCE-AWARE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640080"/>
            <a:ext cx="3730752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896112"/>
            <a:ext cx="30632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rial"/>
              </a:rPr>
              <a:t>The paper's central design idea</a:t>
            </a:r>
          </a:p>
        </p:txBody>
      </p:sp>
      <p:pic>
        <p:nvPicPr>
          <p:cNvPr id="20" name="Picture 19" descr="fig1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666240"/>
            <a:ext cx="3108960" cy="690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11312" y="2724912"/>
            <a:ext cx="310896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40" b="0" i="0">
                <a:solidFill>
                  <a:srgbClr val="1D2A33"/>
                </a:solidFill>
                <a:latin typeface="Arial"/>
              </a:rPr>
              <a:t>Heterogeneous, often minute lesions motivate a staged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611880"/>
            <a:ext cx="14447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3611880"/>
            <a:ext cx="54864" cy="1024128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21624" y="3730752"/>
            <a:ext cx="123444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91.03%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096512"/>
            <a:ext cx="12344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AUROC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4361688"/>
            <a:ext cx="12344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3611880"/>
            <a:ext cx="14447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21240" y="3611880"/>
            <a:ext cx="54864" cy="1024128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67544" y="3730752"/>
            <a:ext cx="123444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40.10%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4096512"/>
            <a:ext cx="12344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mAP@0.5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4361688"/>
            <a:ext cx="12344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YOLO11-L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965192"/>
            <a:ext cx="288036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B7680"/>
                </a:solidFill>
                <a:latin typeface="Arial"/>
              </a:rPr>
              <a:t>Submission ID 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5687568"/>
            <a:ext cx="72237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680"/>
                </a:solidFill>
                <a:latin typeface="Arial"/>
              </a:rPr>
              <a:t>Computational Informatics &amp; Machine Intelligence Lab (CIMI Lab)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12A8A0"/>
                </a:solidFill>
                <a:latin typeface="Arial"/>
              </a:rPr>
              <a:t>01 • CLINICAL SETTING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Why spinal radiograph AI needs sensitivity, localization, and resource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challenge is not only detecting abnormalities - it is deciding what deserves expensive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9072"/>
            <a:ext cx="347472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19072"/>
            <a:ext cx="64008" cy="1426464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892807"/>
            <a:ext cx="30358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Clinical ambiguity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2999232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D2A33"/>
                </a:solidFill>
                <a:latin typeface="Arial"/>
              </a:rPr>
              <a:t>3D bony anatomy is projected onto a 2D plane; subtle abnormalities can be visually difficult to interpret.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19072"/>
            <a:ext cx="347472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719072"/>
            <a:ext cx="64008" cy="1426464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892807"/>
            <a:ext cx="30358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Statistical 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67712"/>
            <a:ext cx="2999232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D2A33"/>
                </a:solidFill>
                <a:latin typeface="Arial"/>
              </a:rPr>
              <a:t>The lesion distribution is long-tailed, with Osteophytes dominating the annotations while rare classes have few examples.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719072"/>
            <a:ext cx="347472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719072"/>
            <a:ext cx="64008" cy="1426464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892807"/>
            <a:ext cx="30358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Deployment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67712"/>
            <a:ext cx="2999232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D2A33"/>
                </a:solidFill>
                <a:latin typeface="Arial"/>
              </a:rPr>
              <a:t>A heavy detector is expensive to run on every screening image, especially in resource-constrained settings.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564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2A8A0"/>
                </a:solidFill>
                <a:latin typeface="Arial"/>
              </a:rPr>
              <a:t>Design implication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721608"/>
            <a:ext cx="10972800" cy="0"/>
          </a:xfrm>
          <a:prstGeom prst="line">
            <a:avLst/>
          </a:prstGeom>
          <a:ln w="25400">
            <a:solidFill>
              <a:srgbClr val="12A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931920"/>
            <a:ext cx="10863072" cy="96012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187952"/>
            <a:ext cx="19659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SCREEN FIRST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07792" y="4407408"/>
            <a:ext cx="877823" cy="0"/>
          </a:xfrm>
          <a:prstGeom prst="line">
            <a:avLst/>
          </a:prstGeom>
          <a:ln w="29209">
            <a:solidFill>
              <a:srgbClr val="12A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50208" y="4114800"/>
            <a:ext cx="23774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rial"/>
              </a:rPr>
              <a:t>Keep sensitivity in the gate
so abnormal studies are not filtered out.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46520" y="4407408"/>
            <a:ext cx="850392" cy="0"/>
          </a:xfrm>
          <a:prstGeom prst="line">
            <a:avLst/>
          </a:prstGeom>
          <a:ln w="29209">
            <a:solidFill>
              <a:srgbClr val="12A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43216" y="4187952"/>
            <a:ext cx="20574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LOCALIZE SECOND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4105656"/>
            <a:ext cx="1719072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60" b="0" i="0">
                <a:solidFill>
                  <a:srgbClr val="D9EEF0"/>
                </a:solidFill>
                <a:latin typeface="Arial"/>
              </a:rPr>
              <a:t>Spend detailed detector compute only where localization is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Introduction and Section 3 methodology.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02 •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What the proposed framework is designed to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paper positions the cascade as a response to three interacting failure modes.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645920"/>
            <a:ext cx="33649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2104" y="1865376"/>
            <a:ext cx="475488" cy="475488"/>
          </a:xfrm>
          <a:prstGeom prst="ellipse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1975104"/>
            <a:ext cx="47548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847088"/>
            <a:ext cx="2267712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Arial"/>
              </a:rPr>
              <a:t>Sensitivity–specificity 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496312"/>
            <a:ext cx="2761488" cy="1243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1D2A33"/>
                </a:solidFill>
                <a:latin typeface="Arial"/>
              </a:rPr>
              <a:t>Monolithic models must decide abnormality and lesion location together, creating a difficult operating point under skewed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096512"/>
            <a:ext cx="2743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12A8A0"/>
                </a:solidFill>
                <a:latin typeface="Arial"/>
              </a:rPr>
              <a:t>→ gate abnormality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45920"/>
            <a:ext cx="33649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99432" y="1865376"/>
            <a:ext cx="475488" cy="475488"/>
          </a:xfrm>
          <a:prstGeom prst="ellipse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1975104"/>
            <a:ext cx="47548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1847088"/>
            <a:ext cx="2267712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Arial"/>
              </a:rPr>
              <a:t>Extreme class imbalance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96312"/>
            <a:ext cx="2761488" cy="1243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1D2A33"/>
                </a:solidFill>
                <a:latin typeface="Arial"/>
              </a:rPr>
              <a:t>Minute pathologies (&lt;1% FOV) are easily obscured by anatomy while dominant classes can overwhelm optimization.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96512"/>
            <a:ext cx="2743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D8A23A"/>
                </a:solidFill>
                <a:latin typeface="Arial"/>
              </a:rPr>
              <a:t>→ emphasize rare/hard foreground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1645920"/>
            <a:ext cx="33649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66760" y="1865376"/>
            <a:ext cx="475488" cy="475488"/>
          </a:xfrm>
          <a:prstGeom prst="ellipse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1975104"/>
            <a:ext cx="47548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847088"/>
            <a:ext cx="2267712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324D"/>
                </a:solidFill>
                <a:latin typeface="Arial"/>
              </a:rPr>
              <a:t>High computational overhead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496312"/>
            <a:ext cx="2761488" cy="1243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1D2A33"/>
                </a:solidFill>
                <a:latin typeface="Arial"/>
              </a:rPr>
              <a:t>Heavy localization models are undesirable when the majority of studies can exit after normal-study screening.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096512"/>
            <a:ext cx="27432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2C6E9B"/>
                </a:solidFill>
                <a:latin typeface="Arial"/>
              </a:rPr>
              <a:t>→ reserve detector compute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89888" y="5084064"/>
            <a:ext cx="9400032" cy="603504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64208" y="5276088"/>
            <a:ext cx="88239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0" b="1" i="0">
                <a:solidFill>
                  <a:srgbClr val="17324D"/>
                </a:solidFill>
                <a:latin typeface="Arial"/>
              </a:rPr>
              <a:t>Paper thesis: structurally decouple screening from localization so each stage can optimize a different objective.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Introduction and Related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03 •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17324D"/>
                </a:solidFill>
                <a:latin typeface="Arial"/>
              </a:rPr>
              <a:t>VinDr-SpineXR</a:t>
            </a:r>
            <a:r>
              <a:rPr sz="2400" b="1" i="0" dirty="0">
                <a:solidFill>
                  <a:srgbClr val="17324D"/>
                </a:solidFill>
                <a:latin typeface="Arial"/>
              </a:rPr>
              <a:t>: scale, split, and lesion heterogeneity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Independent test evaluation is reported on 2,077 radiographs.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36192"/>
            <a:ext cx="21762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36192"/>
            <a:ext cx="54864" cy="107899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655064"/>
            <a:ext cx="19659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10,466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020824"/>
            <a:ext cx="196596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total radiographs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286000"/>
            <a:ext cx="1965960" cy="256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8,389 train + 2,077 independent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536192"/>
            <a:ext cx="20299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53512" y="1536192"/>
            <a:ext cx="54864" cy="1078992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99816" y="1655064"/>
            <a:ext cx="181965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8,389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020824"/>
            <a:ext cx="181965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training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286000"/>
            <a:ext cx="1819656" cy="256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model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1536192"/>
            <a:ext cx="20299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93792" y="1536192"/>
            <a:ext cx="54864" cy="1078992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0096" y="1655064"/>
            <a:ext cx="181965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2,077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020824"/>
            <a:ext cx="181965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independent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1819656" cy="256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final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536192"/>
            <a:ext cx="40965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1755648"/>
            <a:ext cx="32918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Arial"/>
              </a:rPr>
              <a:t>7 lesion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130552"/>
            <a:ext cx="3462486" cy="2369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 i="0" dirty="0">
                <a:solidFill>
                  <a:srgbClr val="1D2A33"/>
                </a:solidFill>
                <a:latin typeface="Arial"/>
              </a:rPr>
              <a:t>Vertebral Collapse • Osteophytes • Spondylolisthesis • Surgical Implants • Disc </a:t>
            </a:r>
            <a:endParaRPr lang="en-US" sz="770" b="0" i="0" dirty="0">
              <a:solidFill>
                <a:srgbClr val="1D2A33"/>
              </a:solidFill>
              <a:latin typeface="Arial"/>
            </a:endParaRPr>
          </a:p>
          <a:p>
            <a:pPr algn="l"/>
            <a:r>
              <a:rPr sz="770" b="0" i="0" dirty="0">
                <a:solidFill>
                  <a:srgbClr val="1D2A33"/>
                </a:solidFill>
                <a:latin typeface="Arial"/>
              </a:rPr>
              <a:t>Space Narrowing • Foraminal Stenosis • Other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852928"/>
            <a:ext cx="7059168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108960"/>
            <a:ext cx="40233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Representative examples from the benchmark</a:t>
            </a:r>
          </a:p>
        </p:txBody>
      </p:sp>
      <p:pic>
        <p:nvPicPr>
          <p:cNvPr id="30" name="Picture 29" descr="fig1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527044"/>
            <a:ext cx="6565392" cy="14589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1248" y="5056632"/>
            <a:ext cx="64922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0" i="0">
                <a:solidFill>
                  <a:srgbClr val="6B7680"/>
                </a:solidFill>
                <a:latin typeface="Arial"/>
              </a:rPr>
              <a:t>Seven lesion categories are visually heterogeneous and can occupy only a small fraction of the field of 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2852928"/>
            <a:ext cx="3712463" cy="2697480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56448" y="3163824"/>
            <a:ext cx="28346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Evaluation 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61188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 dirty="0">
                <a:latin typeface="Arial"/>
              </a:rPr>
              <a:t>• 5-fold cross-validation for training/model development</a:t>
            </a:r>
          </a:p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 dirty="0">
                <a:latin typeface="Arial"/>
              </a:rPr>
              <a:t>• Independent test set: 2,077 images</a:t>
            </a:r>
          </a:p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 dirty="0">
                <a:latin typeface="Arial"/>
              </a:rPr>
              <a:t>• Detection evaluated across seven lesion categories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5029200"/>
            <a:ext cx="3063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C6E9B"/>
                </a:solidFill>
                <a:latin typeface="Arial"/>
              </a:rPr>
              <a:t>Dataset: VinDr-SpineXR benchmark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Fig. 1 and Section 3.1; poster Dataset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04 • DATASET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Long-tail lesion distribution directly shapes the detector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reported imbalance ratio is 46.9:1 between Osteophytes and Vertebral Collapse.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481328"/>
            <a:ext cx="221284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1481328"/>
            <a:ext cx="54864" cy="987552"/>
          </a:xfrm>
          <a:prstGeom prst="rect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20025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82.1%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965960"/>
            <a:ext cx="200253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Osteophytes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231136"/>
            <a:ext cx="200253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12,556 boxes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9232" y="1481328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99232" y="1481328"/>
            <a:ext cx="54864" cy="987552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45536" y="1600200"/>
            <a:ext cx="1847088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1.8%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79" y="1965960"/>
            <a:ext cx="18470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Vertebral Collapse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2231136"/>
            <a:ext cx="184708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268 annotations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66944" y="1481328"/>
            <a:ext cx="19933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66944" y="1481328"/>
            <a:ext cx="54864" cy="9875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1600200"/>
            <a:ext cx="178308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46.9:1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1965960"/>
            <a:ext cx="17830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max:min imbalance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2231136"/>
            <a:ext cx="17830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reported ratio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61504" y="1481328"/>
            <a:ext cx="409651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17536" y="1691640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Design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682496"/>
            <a:ext cx="21945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0" b="1" i="0">
                <a:solidFill>
                  <a:srgbClr val="12A8A0"/>
                </a:solidFill>
                <a:latin typeface="Arial"/>
              </a:rPr>
              <a:t>focal loss + targeted copy-paste augmentation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2788920"/>
            <a:ext cx="6675120" cy="2706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063240"/>
            <a:ext cx="3017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Reported category shares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566160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Osteophytes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2032" y="3584448"/>
            <a:ext cx="3794760" cy="137160"/>
          </a:xfrm>
          <a:prstGeom prst="rect">
            <a:avLst/>
          </a:prstGeom>
          <a:solidFill>
            <a:srgbClr val="E9EEF2"/>
          </a:solidFill>
          <a:ln w="12700">
            <a:solidFill>
              <a:srgbClr val="E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42032" y="3584448"/>
            <a:ext cx="3794760" cy="137160"/>
          </a:xfrm>
          <a:prstGeom prst="rect">
            <a:avLst/>
          </a:prstGeom>
          <a:solidFill>
            <a:srgbClr val="B24747"/>
          </a:solidFill>
          <a:ln w="12700"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557016"/>
            <a:ext cx="5303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40" b="1" i="0">
                <a:solidFill>
                  <a:srgbClr val="B24747"/>
                </a:solidFill>
                <a:latin typeface="Arial"/>
              </a:rPr>
              <a:t>82.1%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922776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Disc Space Narrowing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42032" y="3941063"/>
            <a:ext cx="3794760" cy="137160"/>
          </a:xfrm>
          <a:prstGeom prst="rect">
            <a:avLst/>
          </a:prstGeom>
          <a:solidFill>
            <a:srgbClr val="E9EEF2"/>
          </a:solidFill>
          <a:ln w="12700">
            <a:solidFill>
              <a:srgbClr val="E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42032" y="3941063"/>
            <a:ext cx="277327" cy="137160"/>
          </a:xfrm>
          <a:prstGeom prst="rect">
            <a:avLst/>
          </a:prstGeom>
          <a:solidFill>
            <a:srgbClr val="12A8A0"/>
          </a:solidFill>
          <a:ln w="12700"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913632"/>
            <a:ext cx="5303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40" b="1" i="0">
                <a:solidFill>
                  <a:srgbClr val="12A8A0"/>
                </a:solidFill>
                <a:latin typeface="Arial"/>
              </a:rPr>
              <a:t>6.0%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279392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Surgical Implants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2032" y="4297679"/>
            <a:ext cx="3794760" cy="137160"/>
          </a:xfrm>
          <a:prstGeom prst="rect">
            <a:avLst/>
          </a:prstGeom>
          <a:solidFill>
            <a:srgbClr val="E9EEF2"/>
          </a:solidFill>
          <a:ln w="12700">
            <a:solidFill>
              <a:srgbClr val="E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542032" y="4297679"/>
            <a:ext cx="129419" cy="137160"/>
          </a:xfrm>
          <a:prstGeom prst="rect">
            <a:avLst/>
          </a:prstGeom>
          <a:solidFill>
            <a:srgbClr val="2C6E9B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270248"/>
            <a:ext cx="5303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40" b="1" i="0">
                <a:solidFill>
                  <a:srgbClr val="2C6E9B"/>
                </a:solidFill>
                <a:latin typeface="Arial"/>
              </a:rPr>
              <a:t>2.8%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636008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Foraminal Stenosis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42032" y="4654296"/>
            <a:ext cx="3794760" cy="137160"/>
          </a:xfrm>
          <a:prstGeom prst="rect">
            <a:avLst/>
          </a:prstGeom>
          <a:solidFill>
            <a:srgbClr val="E9EEF2"/>
          </a:solidFill>
          <a:ln w="12700">
            <a:solidFill>
              <a:srgbClr val="E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42032" y="4654296"/>
            <a:ext cx="115552" cy="137160"/>
          </a:xfrm>
          <a:prstGeom prst="rect">
            <a:avLst/>
          </a:prstGeom>
          <a:solidFill>
            <a:srgbClr val="D8A23A"/>
          </a:solidFill>
          <a:ln w="12700"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4626864"/>
            <a:ext cx="5303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40" b="1" i="0">
                <a:solidFill>
                  <a:srgbClr val="D8A23A"/>
                </a:solidFill>
                <a:latin typeface="Arial"/>
              </a:rPr>
              <a:t>2.5%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992624"/>
            <a:ext cx="1600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Vertebral Collapse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2032" y="5010912"/>
            <a:ext cx="3794760" cy="137160"/>
          </a:xfrm>
          <a:prstGeom prst="rect">
            <a:avLst/>
          </a:prstGeom>
          <a:solidFill>
            <a:srgbClr val="E9EEF2"/>
          </a:solidFill>
          <a:ln w="12700">
            <a:solidFill>
              <a:srgbClr val="E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542032" y="5010912"/>
            <a:ext cx="83198" cy="137160"/>
          </a:xfrm>
          <a:prstGeom prst="rect">
            <a:avLst/>
          </a:prstGeom>
          <a:solidFill>
            <a:srgbClr val="244861"/>
          </a:solidFill>
          <a:ln w="12700">
            <a:solidFill>
              <a:srgbClr val="24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4983480"/>
            <a:ext cx="5303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40" b="1" i="0">
                <a:solidFill>
                  <a:srgbClr val="244861"/>
                </a:solidFill>
                <a:latin typeface="Arial"/>
              </a:rPr>
              <a:t>1.8%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16368" y="2788920"/>
            <a:ext cx="4059936" cy="2706624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08975" y="3081528"/>
            <a:ext cx="30175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What the model must resist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08975" y="3593592"/>
            <a:ext cx="32461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40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Dominant-class examples can overwhelm optimization.</a:t>
            </a:r>
          </a:p>
          <a:p>
            <a:pPr>
              <a:spcAft>
                <a:spcPts val="800"/>
              </a:spcAft>
              <a:defRPr sz="940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Rare lesions need explicit emphasis during training.</a:t>
            </a:r>
          </a:p>
          <a:p>
            <a:pPr>
              <a:spcAft>
                <a:spcPts val="800"/>
              </a:spcAft>
              <a:defRPr sz="940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Minute pathology is easily obscured by overlapping anatomy.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08975" y="5074920"/>
            <a:ext cx="32461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 i="0">
                <a:solidFill>
                  <a:srgbClr val="2C6E9B"/>
                </a:solidFill>
                <a:latin typeface="Arial"/>
              </a:rPr>
              <a:t>The paper uses focal loss plus 20% copy-paste augmentation to address this imbalance.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3.1 and Results; poster Dataset / Imbalance panels.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05 •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Five design decisions define the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Each contribution maps to a concrete step in the inference or training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1056"/>
            <a:ext cx="516636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1" y="1792224"/>
            <a:ext cx="475488" cy="475488"/>
          </a:xfrm>
          <a:prstGeom prst="ellipse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920240"/>
            <a:ext cx="47548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37360"/>
            <a:ext cx="397763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i="0">
                <a:solidFill>
                  <a:srgbClr val="17324D"/>
                </a:solidFill>
                <a:latin typeface="Arial"/>
              </a:rPr>
              <a:t>Sensitivity-gated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039112"/>
            <a:ext cx="3977639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DERNet uses DenseNet121, EfficientNetV2-S, and ResNet50 with weighted soft voting.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16636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04671" y="3127248"/>
            <a:ext cx="475488" cy="475488"/>
          </a:xfrm>
          <a:prstGeom prst="ellipse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255264"/>
            <a:ext cx="47548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72384"/>
            <a:ext cx="397763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i="0">
                <a:solidFill>
                  <a:srgbClr val="17324D"/>
                </a:solidFill>
                <a:latin typeface="Arial"/>
              </a:rPr>
              <a:t>Minute-lesion localization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74136"/>
            <a:ext cx="3977639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Customized YOLO11-L combines CSP-Darknet, C2PSA attention, PANet and multi-scale heads.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61104"/>
            <a:ext cx="516636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1" y="4462272"/>
            <a:ext cx="475488" cy="475488"/>
          </a:xfrm>
          <a:prstGeom prst="ellipse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4590288"/>
            <a:ext cx="47548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07408"/>
            <a:ext cx="397763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i="0">
                <a:solidFill>
                  <a:srgbClr val="17324D"/>
                </a:solidFill>
                <a:latin typeface="Arial"/>
              </a:rPr>
              <a:t>Imbalance mitigation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09160"/>
            <a:ext cx="3977639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Focal loss and 20% copy-paste augmentation emphasize hard and rare foreground.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591056"/>
            <a:ext cx="516636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36792" y="1792224"/>
            <a:ext cx="475488" cy="475488"/>
          </a:xfrm>
          <a:prstGeom prst="ellipse">
            <a:avLst/>
          </a:prstGeom>
          <a:solidFill>
            <a:srgbClr val="244861"/>
          </a:solidFill>
          <a:ln>
            <a:solidFill>
              <a:srgbClr val="24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1920240"/>
            <a:ext cx="47548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737360"/>
            <a:ext cx="397763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i="0">
                <a:solidFill>
                  <a:srgbClr val="17324D"/>
                </a:solidFill>
                <a:latin typeface="Arial"/>
              </a:rPr>
              <a:t>Explainability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039112"/>
            <a:ext cx="3977639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Saliency Map, Grad-CAM and LIME check whether attention aligns with lesion regions.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926080"/>
            <a:ext cx="516636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36792" y="3127248"/>
            <a:ext cx="475488" cy="475488"/>
          </a:xfrm>
          <a:prstGeom prst="ellipse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3255264"/>
            <a:ext cx="47548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072384"/>
            <a:ext cx="3977639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i="0">
                <a:solidFill>
                  <a:srgbClr val="17324D"/>
                </a:solidFill>
                <a:latin typeface="Arial"/>
              </a:rPr>
              <a:t>Compute-aware routing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374136"/>
            <a:ext cx="3977639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Normal studies exit after screening; abnormal studies trigger detailed localization.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5522976"/>
            <a:ext cx="8503920" cy="438912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03120" y="5641848"/>
            <a:ext cx="8046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rial"/>
              </a:rPr>
              <a:t>Core objective: filter normal radiographs efficiently while preserving sensitivity to abnormal studies.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Introduction and Contributions.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06 • METHOD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The cascade separates image-level triage from lesion-level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original framework figure is retained; editable callouts summarize the routing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90472"/>
            <a:ext cx="7452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2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34147"/>
            <a:ext cx="7086600" cy="253717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66175" y="1499616"/>
            <a:ext cx="3310128" cy="969264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1700784"/>
            <a:ext cx="27432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7324D"/>
                </a:solidFill>
                <a:latin typeface="Arial"/>
              </a:rPr>
              <a:t>1  Input +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1975104"/>
            <a:ext cx="27432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D2A33"/>
                </a:solidFill>
                <a:latin typeface="Arial"/>
              </a:rPr>
              <a:t>VinDr-SpineXR → formatting / balance → CLAHE → normalized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2688336"/>
            <a:ext cx="3310128" cy="969264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2889504"/>
            <a:ext cx="27432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7324D"/>
                </a:solidFill>
                <a:latin typeface="Arial"/>
              </a:rPr>
              <a:t>2  DERNet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163824"/>
            <a:ext cx="32124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1D2A33"/>
                </a:solidFill>
                <a:latin typeface="Arial"/>
              </a:rPr>
              <a:t>Weighted ensemble produces </a:t>
            </a:r>
            <a:r>
              <a:rPr sz="900" b="0" i="0" dirty="0" err="1">
                <a:solidFill>
                  <a:srgbClr val="1D2A33"/>
                </a:solidFill>
                <a:latin typeface="Arial"/>
              </a:rPr>
              <a:t>Pensemble</a:t>
            </a:r>
            <a:r>
              <a:rPr sz="900" b="0" i="0" dirty="0">
                <a:solidFill>
                  <a:srgbClr val="1D2A33"/>
                </a:solidFill>
                <a:latin typeface="Arial"/>
              </a:rPr>
              <a:t>; threshold separates</a:t>
            </a:r>
            <a:endParaRPr lang="en-US" sz="900" b="0" i="0" dirty="0">
              <a:solidFill>
                <a:srgbClr val="1D2A33"/>
              </a:solidFill>
              <a:latin typeface="Arial"/>
            </a:endParaRPr>
          </a:p>
          <a:p>
            <a:pPr algn="l"/>
            <a:r>
              <a:rPr sz="900" b="0" i="0" dirty="0">
                <a:solidFill>
                  <a:srgbClr val="1D2A33"/>
                </a:solidFill>
                <a:latin typeface="Arial"/>
              </a:rPr>
              <a:t> Normal vs Abnormal.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3886200"/>
            <a:ext cx="3310128" cy="969264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EDD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2208" y="4087368"/>
            <a:ext cx="27432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7324D"/>
                </a:solidFill>
                <a:latin typeface="Arial"/>
              </a:rPr>
              <a:t>3  YOLO11-L localization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4361688"/>
            <a:ext cx="301845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1D2A33"/>
                </a:solidFill>
                <a:latin typeface="Arial"/>
              </a:rPr>
              <a:t>Only abnormal candidates enter the detailed detector for multi-</a:t>
            </a:r>
            <a:r>
              <a:rPr sz="800" b="0" i="0" dirty="0" err="1">
                <a:solidFill>
                  <a:srgbClr val="1D2A33"/>
                </a:solidFill>
                <a:latin typeface="Arial"/>
              </a:rPr>
              <a:t>sca</a:t>
            </a:r>
            <a:endParaRPr lang="en-US" sz="800" b="0" i="0" dirty="0">
              <a:solidFill>
                <a:srgbClr val="1D2A33"/>
              </a:solidFill>
              <a:latin typeface="Arial"/>
            </a:endParaRPr>
          </a:p>
          <a:p>
            <a:pPr algn="l"/>
            <a:r>
              <a:rPr sz="800" b="0" i="0" dirty="0">
                <a:solidFill>
                  <a:srgbClr val="1D2A33"/>
                </a:solidFill>
                <a:latin typeface="Arial"/>
              </a:rPr>
              <a:t>le lesion localization.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266944"/>
            <a:ext cx="32004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90" b="1" i="0">
                <a:solidFill>
                  <a:srgbClr val="12A8A0"/>
                </a:solidFill>
                <a:latin typeface="Arial"/>
              </a:rPr>
              <a:t>Normal → filtered early   |   Abnormal → localize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Fig. 2. Original figure reproduced from the provided camera-ready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07 •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Adaptive preprocessing with CLAHE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Contrast Limited Adaptive Histogram Equalization is used to mitigate exposure variation before normalization.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508760"/>
            <a:ext cx="4608576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20116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rial"/>
              </a:rPr>
              <a:t>Why CLAHE?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40280"/>
            <a:ext cx="3950208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Mitigates inter-scanner / exposure variation.</a:t>
            </a:r>
          </a:p>
          <a:p>
            <a:pPr>
              <a:spcAft>
                <a:spcPts val="800"/>
              </a:spcAft>
              <a:defRPr sz="10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Enhances local contrast around subtle lesions.</a:t>
            </a:r>
          </a:p>
          <a:p>
            <a:pPr>
              <a:spcAft>
                <a:spcPts val="800"/>
              </a:spcAft>
              <a:defRPr sz="10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Clip limit suppresses over-enhancement and noise in homogeneous bone regions.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151376"/>
            <a:ext cx="1645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A8A0"/>
                </a:solidFill>
                <a:latin typeface="Arial"/>
              </a:rPr>
              <a:t>Configuration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4507992"/>
            <a:ext cx="1417320" cy="274320"/>
          </a:xfrm>
          <a:prstGeom prst="roundRect">
            <a:avLst/>
          </a:prstGeom>
          <a:solidFill>
            <a:srgbClr val="E7F5F3"/>
          </a:solidFill>
          <a:ln w="635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4544568"/>
            <a:ext cx="134416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12A8A0"/>
                </a:solidFill>
                <a:latin typeface="Arial"/>
              </a:rPr>
              <a:t>Tile grid: 8 ×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4016" y="4507992"/>
            <a:ext cx="1508760" cy="274320"/>
          </a:xfrm>
          <a:prstGeom prst="roundRect">
            <a:avLst/>
          </a:prstGeom>
          <a:solidFill>
            <a:srgbClr val="FBF3DF"/>
          </a:solidFill>
          <a:ln w="635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50592" y="4544568"/>
            <a:ext cx="1435607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D8A23A"/>
                </a:solidFill>
                <a:latin typeface="Arial"/>
              </a:rPr>
              <a:t>Clip limit τ = 2.0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4507992"/>
            <a:ext cx="841248" cy="274320"/>
          </a:xfrm>
          <a:prstGeom prst="roundRect">
            <a:avLst/>
          </a:prstGeom>
          <a:solidFill>
            <a:srgbClr val="EAF3F9"/>
          </a:solidFill>
          <a:ln w="6350"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78224" y="4544568"/>
            <a:ext cx="768096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6E9B"/>
                </a:solidFill>
                <a:latin typeface="Arial"/>
              </a:rPr>
              <a:t>β = 255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074920"/>
            <a:ext cx="376732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1D2A33"/>
                </a:solidFill>
                <a:latin typeface="Arial"/>
              </a:rPr>
              <a:t>Then normalization + 5-fold cross-validation.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9824" y="1508760"/>
            <a:ext cx="6108192" cy="21031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42432" y="1810512"/>
            <a:ext cx="128016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Equation 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267712"/>
            <a:ext cx="5394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D2A33"/>
                </a:solidFill>
                <a:latin typeface="Arial"/>
              </a:rPr>
              <a:t>I′(i,j) = β · [CDFΩk(I(i,j)) − CDFmin] / [|Ωk| − CDFmin]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907792"/>
            <a:ext cx="523036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680"/>
                </a:solidFill>
                <a:latin typeface="Arial"/>
              </a:rPr>
              <a:t>Local CDF is computed within each tile and mapped back to the target intensity range.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9824" y="3822191"/>
            <a:ext cx="610819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42432" y="4133087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517136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30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β = 255 maps the normalized CDF back to the image intensity range.</a:t>
            </a:r>
          </a:p>
          <a:p>
            <a:pPr>
              <a:spcAft>
                <a:spcPts val="800"/>
              </a:spcAft>
              <a:defRPr sz="930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τ = 2.0 limits contrast amplification in homogeneous regions.</a:t>
            </a:r>
          </a:p>
          <a:p>
            <a:pPr>
              <a:spcAft>
                <a:spcPts val="800"/>
              </a:spcAft>
              <a:defRPr sz="930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The preprocessing stage stabilizes radiographic appearance before the learning stages.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3.1 and Eq. (1); poster Methodology panel.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08 • 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DERNet: a heterogeneous ensemble for high-sensitivity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Three complementary CNN backbones are fused at the probability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490472"/>
            <a:ext cx="6858000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3_der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74770"/>
            <a:ext cx="6400800" cy="30570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40280" y="5605272"/>
            <a:ext cx="3657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1">
                <a:solidFill>
                  <a:srgbClr val="7B8791"/>
                </a:solidFill>
                <a:latin typeface="Arial"/>
              </a:rPr>
              <a:t>Original Fig. 3 from the camera-ready paper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1664208"/>
            <a:ext cx="3822191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1792224"/>
            <a:ext cx="196596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80" b="1" i="0">
                <a:solidFill>
                  <a:srgbClr val="17324D"/>
                </a:solidFill>
                <a:latin typeface="Arial"/>
              </a:rPr>
              <a:t>DenseNet121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76688" y="1773936"/>
            <a:ext cx="1143000" cy="274320"/>
          </a:xfrm>
          <a:prstGeom prst="roundRect">
            <a:avLst/>
          </a:prstGeom>
          <a:solidFill>
            <a:srgbClr val="E7F5F3"/>
          </a:solidFill>
          <a:ln w="635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13263" y="1810512"/>
            <a:ext cx="10698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12A8A0"/>
                </a:solidFill>
                <a:latin typeface="Arial"/>
              </a:rPr>
              <a:t>ω₁ = 0.42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084832"/>
            <a:ext cx="30632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textural sensitivity / subtle anomalies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35824" y="2761488"/>
            <a:ext cx="3822191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2889504"/>
            <a:ext cx="196596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80" b="1" i="0">
                <a:solidFill>
                  <a:srgbClr val="17324D"/>
                </a:solidFill>
                <a:latin typeface="Arial"/>
              </a:rPr>
              <a:t>EfficientNetV2-S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76688" y="2871216"/>
            <a:ext cx="1143000" cy="274320"/>
          </a:xfrm>
          <a:prstGeom prst="roundRect">
            <a:avLst/>
          </a:prstGeom>
          <a:solidFill>
            <a:srgbClr val="EAF3F9"/>
          </a:solidFill>
          <a:ln w="6350"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13263" y="2907792"/>
            <a:ext cx="10698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6E9B"/>
                </a:solidFill>
                <a:latin typeface="Arial"/>
              </a:rPr>
              <a:t>ω₂ = 0.32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182112"/>
            <a:ext cx="30632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specificity-oriented false-positive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35824" y="3858768"/>
            <a:ext cx="3822191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3986783"/>
            <a:ext cx="196596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80" b="1" i="0">
                <a:solidFill>
                  <a:srgbClr val="17324D"/>
                </a:solidFill>
                <a:latin typeface="Arial"/>
              </a:rPr>
              <a:t>ResNet50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6688" y="3968496"/>
            <a:ext cx="1143000" cy="274320"/>
          </a:xfrm>
          <a:prstGeom prst="roundRect">
            <a:avLst/>
          </a:prstGeom>
          <a:solidFill>
            <a:srgbClr val="FBF3DF"/>
          </a:solidFill>
          <a:ln w="635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13263" y="4005072"/>
            <a:ext cx="10698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D8A23A"/>
                </a:solidFill>
                <a:latin typeface="Arial"/>
              </a:rPr>
              <a:t>ω₃ = 0.26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79392"/>
            <a:ext cx="30632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D2A33"/>
                </a:solidFill>
                <a:latin typeface="Arial"/>
              </a:rPr>
              <a:t>recall-oriented fail-safe for gross abnormalities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35824" y="5084064"/>
            <a:ext cx="3822191" cy="91440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10144" y="5376672"/>
            <a:ext cx="324612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60" b="1" i="0">
                <a:solidFill>
                  <a:srgbClr val="FFFFFF"/>
                </a:solidFill>
                <a:latin typeface="Arial"/>
              </a:rPr>
              <a:t>GAP → Sigmoid → Weighted Soft Voting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Fig. 3 and Section 3.2.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09 • STAGE 1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Soft voting and threshold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gate is tuned on the training folds by grid search to maximize F1.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536192"/>
            <a:ext cx="47548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37943"/>
            <a:ext cx="32461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Weighted soft-voting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86000"/>
            <a:ext cx="4151376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D2A33"/>
                </a:solidFill>
                <a:latin typeface="Arial"/>
              </a:rPr>
              <a:t>Pensemble = 0.42·PDenseNet + 0.32·PEffNet + 0.26·PResNet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71800"/>
            <a:ext cx="400507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69" b="0" i="0">
                <a:solidFill>
                  <a:srgbClr val="6B7680"/>
                </a:solidFill>
                <a:latin typeface="Arial"/>
              </a:rPr>
              <a:t>Weights sum to 1.00 and were selected with Δω = 0.01.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6128" y="1536192"/>
            <a:ext cx="594360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88736" y="1837943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Threshold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2267712"/>
            <a:ext cx="42062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i="0">
                <a:solidFill>
                  <a:srgbClr val="12A8A0"/>
                </a:solidFill>
                <a:latin typeface="Arial"/>
              </a:rPr>
              <a:t>τ ∈ [0.35, 0.60]  •  step = 0.0002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697480"/>
            <a:ext cx="4919472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Objective: maximize 5-fold cross-validation F1 on the training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3127248"/>
            <a:ext cx="4919472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1">
                <a:solidFill>
                  <a:srgbClr val="6B7680"/>
                </a:solidFill>
                <a:latin typeface="Arial"/>
              </a:rPr>
              <a:t>Paper text reports τ* = 0.478 in the method; the routing description/poster shows 0.4787.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041648"/>
            <a:ext cx="14630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Routing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43984"/>
            <a:ext cx="3712463" cy="1024128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690872"/>
            <a:ext cx="327355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2A8A0"/>
                </a:solidFill>
                <a:latin typeface="Arial"/>
              </a:rPr>
              <a:t>Pensemble ≥ 0.478 → ABNORMAL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5001768"/>
            <a:ext cx="327355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D2A33"/>
                </a:solidFill>
                <a:latin typeface="Arial"/>
              </a:rPr>
              <a:t>route to YOLO11-L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443984"/>
            <a:ext cx="2999232" cy="102412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4828032"/>
            <a:ext cx="25603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7324D"/>
                </a:solidFill>
                <a:latin typeface="Arial"/>
              </a:rPr>
              <a:t>F1(τ) = 2TP / (2TP + FP + FN)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4443984"/>
            <a:ext cx="3493008" cy="1024128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4690872"/>
            <a:ext cx="299923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70" b="1" i="0">
                <a:solidFill>
                  <a:srgbClr val="2C6E9B"/>
                </a:solidFill>
                <a:latin typeface="Arial"/>
              </a:rPr>
              <a:t>Pensemble &lt; 0.478 → NORMAL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001768"/>
            <a:ext cx="29992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D2A33"/>
                </a:solidFill>
                <a:latin typeface="Arial"/>
              </a:rPr>
              <a:t>filtered early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Eq. (2) and Section 3.2; poster threshold description.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10 • STAGE 1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Backbone complementarity is supported by ablation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Each backbone is assigned a functional role; removing one changes the observed error profile.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72768"/>
          <a:ext cx="11018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Backbone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 described in paper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Reported ablation evidence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DenseNet121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Textural sensitivity / subtle anomalies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Largest fusion weight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EfficientNetV2-S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Specificity / false-positive control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0.32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+19 FPs; −1.78% specificity if removed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ResNet50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Recall fail-safe / gross abnormalities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0.26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+20 FNs; −1.99% sensitivity if removed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3959352"/>
            <a:ext cx="3493008" cy="1435608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4242816"/>
            <a:ext cx="26974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2A8A0"/>
                </a:solidFill>
                <a:latin typeface="Arial"/>
              </a:rPr>
              <a:t>DenseNet121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572000"/>
            <a:ext cx="26974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D2A33"/>
                </a:solidFill>
                <a:latin typeface="Arial"/>
              </a:rPr>
              <a:t>Supports multi-scale feature reuse for subtle boundary / texture abnormalities.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3959352"/>
            <a:ext cx="3493008" cy="1435608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6864" y="4242816"/>
            <a:ext cx="26974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C6E9B"/>
                </a:solidFill>
                <a:latin typeface="Arial"/>
              </a:rPr>
              <a:t>EfficientNetV2-S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572000"/>
            <a:ext cx="26974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D2A33"/>
                </a:solidFill>
                <a:latin typeface="Arial"/>
              </a:rPr>
              <a:t>Its removal increases false positives, supporting a specificity-oriented contribution.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959352"/>
            <a:ext cx="3493008" cy="1435608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EDD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4242816"/>
            <a:ext cx="26974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8A23A"/>
                </a:solidFill>
                <a:latin typeface="Arial"/>
              </a:rPr>
              <a:t>ResNet50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572000"/>
            <a:ext cx="26974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D2A33"/>
                </a:solidFill>
                <a:latin typeface="Arial"/>
              </a:rPr>
              <a:t>Its removal increases false negatives, supporting a recall fail-safe role.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3.2 and ablation discussion.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11 •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Customized YOLO11-L for fine-grained lesion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detector is explicitly structured for minute spinal pathology.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1417320"/>
            <a:ext cx="1691640" cy="566928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527048"/>
            <a:ext cx="15453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17324D"/>
                </a:solidFill>
                <a:latin typeface="Arial"/>
              </a:rPr>
              <a:t>640 × 640 × 3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417320"/>
            <a:ext cx="2514600" cy="566928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4" y="1527048"/>
            <a:ext cx="236829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17324D"/>
                </a:solidFill>
                <a:latin typeface="Arial"/>
              </a:rPr>
              <a:t>Backbone
CSP-Darknet + C2PSA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1417320"/>
            <a:ext cx="2331720" cy="566928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71616" y="1527048"/>
            <a:ext cx="2185415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17324D"/>
                </a:solidFill>
                <a:latin typeface="Arial"/>
              </a:rPr>
              <a:t>Neck
PANet N3–N5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1417320"/>
            <a:ext cx="2331720" cy="566928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0264" y="1527048"/>
            <a:ext cx="2185415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69" b="1" i="0">
                <a:solidFill>
                  <a:srgbClr val="17324D"/>
                </a:solidFill>
                <a:latin typeface="Arial"/>
              </a:rPr>
              <a:t>Head
80×80 • 40×40 • 20×20 + NMS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95728" y="1700784"/>
            <a:ext cx="438912" cy="0"/>
          </a:xfrm>
          <a:prstGeom prst="line">
            <a:avLst/>
          </a:prstGeom>
          <a:ln w="25400">
            <a:solidFill>
              <a:srgbClr val="12A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68112" y="1700784"/>
            <a:ext cx="457200" cy="0"/>
          </a:xfrm>
          <a:prstGeom prst="line">
            <a:avLst/>
          </a:prstGeom>
          <a:ln w="25400">
            <a:solidFill>
              <a:srgbClr val="12A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75904" y="1700784"/>
            <a:ext cx="457200" cy="0"/>
          </a:xfrm>
          <a:prstGeom prst="line">
            <a:avLst/>
          </a:prstGeom>
          <a:ln w="25400">
            <a:solidFill>
              <a:srgbClr val="12A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2423160"/>
            <a:ext cx="340156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2423160"/>
            <a:ext cx="54864" cy="2139696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2523744"/>
            <a:ext cx="30175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rial"/>
              </a:rPr>
              <a:t>Backbone • CSP-Darknet + C2PSA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907792"/>
            <a:ext cx="3017520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CSP connections support efficient feature flow. C2PSA attention is described as preserving high-frequency anatomical features while suppressing background artifacts.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423160"/>
            <a:ext cx="340156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2423160"/>
            <a:ext cx="54864" cy="2139696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5424" y="2523744"/>
            <a:ext cx="30175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rial"/>
              </a:rPr>
              <a:t>Neck • PANet feature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907792"/>
            <a:ext cx="3017520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Bidirectional feature flow across N3–N5 preserves fine-grained signals and contextual cues from multiple spatial scales.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2423160"/>
            <a:ext cx="340156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19872" y="2423160"/>
            <a:ext cx="54864" cy="213969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2523744"/>
            <a:ext cx="30175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rial"/>
              </a:rPr>
              <a:t>Head • multi-scale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2907792"/>
            <a:ext cx="3017520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Three spatial resolutions support localization of minute lesions while retaining broader spinal context; predictions are filtered with NMS.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956048"/>
            <a:ext cx="10863072" cy="658368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75504"/>
            <a:ext cx="1031443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10" b="1" i="0">
                <a:solidFill>
                  <a:srgbClr val="FFFFFF"/>
                </a:solidFill>
                <a:latin typeface="Arial"/>
              </a:rPr>
              <a:t>Minute-lesion target: paper describes lesions &lt;1% FOV, with fine-grained features discussed as &lt;0.25% FOV / &lt;32×32 px at 640×640.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3.3 and Fig. 2; poster Attention-Guided Localization panel.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12 • DETECTION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Why three detection resolutions are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head balances fine spatial detail, intermediate context, and coarse anatomical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27632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78992" y="1965960"/>
            <a:ext cx="2633472" cy="1024128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2139696"/>
            <a:ext cx="56692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Arial"/>
              </a:rPr>
              <a:t>N3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39696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2A8A0"/>
                </a:solidFill>
                <a:latin typeface="Arial"/>
              </a:rPr>
              <a:t>80 × 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532888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D2A33"/>
                </a:solidFill>
                <a:latin typeface="Arial"/>
              </a:rPr>
              <a:t>Fine spatial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3310128"/>
            <a:ext cx="269748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40" b="0" i="0">
                <a:solidFill>
                  <a:srgbClr val="1D2A33"/>
                </a:solidFill>
                <a:latin typeface="Arial"/>
              </a:rPr>
              <a:t>More spatial cells represent minute lesions with less downsampling.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4279392"/>
            <a:ext cx="26517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30" b="1" i="0">
                <a:solidFill>
                  <a:srgbClr val="12A8A0"/>
                </a:solidFill>
                <a:latin typeface="Arial"/>
              </a:rPr>
              <a:t>minute lesions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1627632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46320" y="1965960"/>
            <a:ext cx="2633472" cy="1024128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92624" y="2139696"/>
            <a:ext cx="56692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Arial"/>
              </a:rPr>
              <a:t>N4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2139696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2C6E9B"/>
                </a:solidFill>
                <a:latin typeface="Arial"/>
              </a:rPr>
              <a:t>40 × 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532888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D2A33"/>
                </a:solidFill>
                <a:latin typeface="Arial"/>
              </a:rPr>
              <a:t>Mid-scale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3310128"/>
            <a:ext cx="269748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40" b="0" i="0">
                <a:solidFill>
                  <a:srgbClr val="1D2A33"/>
                </a:solidFill>
                <a:latin typeface="Arial"/>
              </a:rPr>
              <a:t>Adds intermediate context for distinguishing small pathology from adjacent anatomy.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4279392"/>
            <a:ext cx="26517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30" b="1" i="0">
                <a:solidFill>
                  <a:srgbClr val="2C6E9B"/>
                </a:solidFill>
                <a:latin typeface="Arial"/>
              </a:rPr>
              <a:t>small + adjacent anatomy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6" y="1627632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13648" y="1965960"/>
            <a:ext cx="2633472" cy="1024128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9952" y="2139696"/>
            <a:ext cx="56692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Arial"/>
              </a:rPr>
              <a:t>N5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2139696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D8A23A"/>
                </a:solidFill>
                <a:latin typeface="Arial"/>
              </a:rPr>
              <a:t>20 ×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532888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D2A33"/>
                </a:solidFill>
                <a:latin typeface="Arial"/>
              </a:rPr>
              <a:t>Coarse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3310128"/>
            <a:ext cx="269748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40" b="0" i="0">
                <a:solidFill>
                  <a:srgbClr val="1D2A33"/>
                </a:solidFill>
                <a:latin typeface="Arial"/>
              </a:rPr>
              <a:t>Provides broader anatomical context for larger abnormalities.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279392"/>
            <a:ext cx="26517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30" b="1" i="0">
                <a:solidFill>
                  <a:srgbClr val="D8A23A"/>
                </a:solidFill>
                <a:latin typeface="Arial"/>
              </a:rPr>
              <a:t>larger abnormalities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53312" y="5230368"/>
            <a:ext cx="9509760" cy="530352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45920" y="5404104"/>
            <a:ext cx="894283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60" b="1" i="0">
                <a:solidFill>
                  <a:srgbClr val="17324D"/>
                </a:solidFill>
                <a:latin typeface="Arial"/>
              </a:rPr>
              <a:t>Together, N3–N5 maintain both local precision and broader spinal context.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3.3 and discussion of multi-scale detection.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13 • 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Loss design and imbalance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Focal loss down-weights easy majority-class examples; copy-paste increases exposure to rare lesions.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545336"/>
            <a:ext cx="473659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288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Focal classification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76856"/>
            <a:ext cx="4187952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D2A33"/>
                </a:solidFill>
                <a:latin typeface="Arial"/>
              </a:rPr>
              <a:t>FL(pt) = − αt (1 − pt)^γ log(pt)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907792"/>
            <a:ext cx="373075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2A8A0"/>
                </a:solidFill>
                <a:latin typeface="Arial"/>
              </a:rPr>
              <a:t>γ = 2.0   •   αt = 0.25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1545336"/>
            <a:ext cx="6007608" cy="1874519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33872" y="182880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rial"/>
              </a:rPr>
              <a:t>Composite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276856"/>
            <a:ext cx="5449824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D2A33"/>
                </a:solidFill>
                <a:latin typeface="Arial"/>
              </a:rPr>
              <a:t>Ltotal = λbox LCIoU + λcls LFocal + λdfl LDFL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907792"/>
            <a:ext cx="4983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2C6E9B"/>
                </a:solidFill>
                <a:latin typeface="Arial"/>
              </a:rPr>
              <a:t>λbox = 7.5   •   λcls = 0.5   •   λdfl = 1.5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3675887"/>
            <a:ext cx="4736592" cy="1901952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3968496"/>
            <a:ext cx="1920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2A8A0"/>
                </a:solidFill>
                <a:latin typeface="Arial"/>
              </a:rPr>
              <a:t>Why focal loss?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4005072" cy="585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D2A33"/>
                </a:solidFill>
                <a:latin typeface="Arial"/>
              </a:rPr>
              <a:t>Easy majority-class examples receive less relative emphasis, while difficult examples remain influential.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41264" y="3675887"/>
            <a:ext cx="6007608" cy="1901952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EDD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33872" y="3968496"/>
            <a:ext cx="2057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23A"/>
                </a:solidFill>
                <a:latin typeface="Arial"/>
              </a:rPr>
              <a:t>Why 20% copy-paste?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4389120"/>
            <a:ext cx="5074920" cy="585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D2A33"/>
                </a:solidFill>
                <a:latin typeface="Arial"/>
              </a:rPr>
              <a:t>Augmentation increases exposure to underrepresented lesion instances without acquiring new radiographs.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065776"/>
            <a:ext cx="987552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7324D"/>
                </a:solidFill>
                <a:latin typeface="Arial"/>
              </a:rPr>
              <a:t>40.10%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5148072"/>
            <a:ext cx="150876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D2A33"/>
                </a:solidFill>
                <a:latin typeface="Arial"/>
              </a:rPr>
              <a:t>mAP with copy-paste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5065776"/>
            <a:ext cx="987552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6B7680"/>
                </a:solidFill>
                <a:latin typeface="Arial"/>
              </a:rPr>
              <a:t>37.70%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9256" y="5148072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1D2A33"/>
                </a:solidFill>
                <a:latin typeface="Arial"/>
              </a:rPr>
              <a:t>without augmentation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3.3 and Results; 20% copy-paste ablation.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14 •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Experimental setup and 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Implementation settings are reproduced from the paper.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5216" y="1536192"/>
          <a:ext cx="5532120" cy="4270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Reported setting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PyTorch 2.0.1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GPU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NVIDIA RTX 3050 • 8 GB memory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Cross-validation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5-fold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Reproducibility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Deterministic algorithms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Random initialization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Seed = 42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Classification metrics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AUROC • F1 • Sensitivity • Specificity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78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Detection metric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D2A33"/>
                          </a:solidFill>
                          <a:latin typeface="Arial"/>
                        </a:rPr>
                        <a:t>AP at IoU = 0.5 • mAP@0.5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55664" y="1536192"/>
            <a:ext cx="5084064" cy="1234440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9984" y="1792224"/>
            <a:ext cx="20116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2A8A0"/>
                </a:solidFill>
                <a:latin typeface="Arial"/>
              </a:rPr>
              <a:t>Image-level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130552"/>
            <a:ext cx="44348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Binary abnormality screening evaluates whether the gate identifies studies that require further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2971800"/>
            <a:ext cx="5084064" cy="1234440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9984" y="3227832"/>
            <a:ext cx="20116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2C6E9B"/>
                </a:solidFill>
                <a:latin typeface="Arial"/>
              </a:rPr>
              <a:t>Lesion-level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66160"/>
            <a:ext cx="44348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Detection evaluates localization across seven lesion categories at IoU 0.5.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4407408"/>
            <a:ext cx="5084064" cy="1399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4" y="4663440"/>
            <a:ext cx="20116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324D"/>
                </a:solidFill>
                <a:latin typeface="Arial"/>
              </a:rPr>
              <a:t>Reproducibility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5001768"/>
            <a:ext cx="44348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D2A33"/>
                </a:solidFill>
                <a:latin typeface="Arial"/>
              </a:rPr>
              <a:t>Deterministic algorithms + constant initialization seed = 42 are reported to reduce stochastic variation.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4.1.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Classification performance: DERNet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Reported image-level metrics on the benchmark test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17904"/>
          <a:ext cx="7360920" cy="350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307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AUROC (%)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F1 (%)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Sens. (%)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Spec. (%)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0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EfficientNetV2-S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89.44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79.34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70.80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91.12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0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ResNet50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88.88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80.15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82.72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78.13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0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DenseNet121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86.93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79.55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80.39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79.32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30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VinDr Ensemble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88.61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81.06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83.07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79.32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307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HealNNET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88.84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81.20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D2A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3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7324D"/>
                          </a:solidFill>
                          <a:latin typeface="Arial"/>
                        </a:rPr>
                        <a:t>DERNet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7324D"/>
                          </a:solidFill>
                          <a:latin typeface="Arial"/>
                        </a:rPr>
                        <a:t>91.03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7324D"/>
                          </a:solidFill>
                          <a:latin typeface="Arial"/>
                        </a:rPr>
                        <a:t>83.09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7324D"/>
                          </a:solidFill>
                          <a:latin typeface="Arial"/>
                        </a:rPr>
                        <a:t>84.91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7324D"/>
                          </a:solidFill>
                          <a:latin typeface="Arial"/>
                        </a:rPr>
                        <a:t>81.68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75320" y="1517904"/>
            <a:ext cx="14813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1517904"/>
            <a:ext cx="54864" cy="1024128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4" y="1636776"/>
            <a:ext cx="127101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91.03%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002536"/>
            <a:ext cx="1271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AUROC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267712"/>
            <a:ext cx="1271016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48672" y="1517904"/>
            <a:ext cx="14813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48672" y="1517904"/>
            <a:ext cx="54864" cy="1024128"/>
          </a:xfrm>
          <a:prstGeom prst="rect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94976" y="1636776"/>
            <a:ext cx="127101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84.91%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002536"/>
            <a:ext cx="1271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2267712"/>
            <a:ext cx="1271016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770632"/>
            <a:ext cx="14813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2770632"/>
            <a:ext cx="54864" cy="1024128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21624" y="2889503"/>
            <a:ext cx="127101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83.09%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3255263"/>
            <a:ext cx="1271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520439"/>
            <a:ext cx="1271016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8672" y="2770632"/>
            <a:ext cx="14813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48672" y="2770632"/>
            <a:ext cx="54864" cy="1024128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4976" y="2889503"/>
            <a:ext cx="127101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81.68%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255263"/>
            <a:ext cx="1271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Specificity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3520439"/>
            <a:ext cx="1271016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4142232"/>
            <a:ext cx="3154680" cy="1060704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22208" y="4407408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7324D"/>
                </a:solidFill>
                <a:latin typeface="Arial"/>
              </a:rPr>
              <a:t>Reported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4727448"/>
            <a:ext cx="2606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D2A33"/>
                </a:solidFill>
                <a:latin typeface="Arial"/>
              </a:rPr>
              <a:t>VinDr Ensemble AUROC: 88.61%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Table 1 and Section 4.1; poster Results 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16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Detection benchmark: AP at IoU 0.5 across seven lesion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LT labels follow the paper’s definition; the table is recreated as native PowerPoint cells.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" y="1389888"/>
          <a:ext cx="11155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LT2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LT4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LT6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LT8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LT10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LT11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LT13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mAP@0.5</a:t>
                      </a:r>
                    </a:p>
                  </a:txBody>
                  <a:tcPr marL="27432" marR="27432" marT="18288" marB="18288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RetinaNet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14.53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25.35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41.67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32.14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65.49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51.85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5.30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28.09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Faster R-CNN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22.66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35.99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49.24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31.68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65.22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51.68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2.16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31.83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Sparse R-CNN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20.09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32.67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48.16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45.32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72.20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49.30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5.41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33.15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VinDr-SpineXR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21.43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27.36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34.78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41.29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62.53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43.39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4.16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33.56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EGCA-Net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22.36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29.75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36.73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44.69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66.58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50.41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2.09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36.09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YOLO12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24.60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38.90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38.10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40.20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68.40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55.50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3.04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38.40</a:t>
                      </a:r>
                    </a:p>
                  </a:txBody>
                  <a:tcPr marL="27432" marR="27432" marT="18288" marB="18288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YOLO26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23.60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34.90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38.40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37.50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67.30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43.30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3.35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D2A33"/>
                          </a:solidFill>
                          <a:latin typeface="Arial"/>
                        </a:rPr>
                        <a:t>35.50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Ours (YOLO11-L)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26.70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41.40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40.60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54.80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74.10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51.20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2.99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17324D"/>
                          </a:solidFill>
                          <a:latin typeface="Arial"/>
                        </a:rPr>
                        <a:t>40.10</a:t>
                      </a:r>
                    </a:p>
                  </a:txBody>
                  <a:tcPr marL="27432" marR="27432" marT="18288" marB="18288"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" y="565099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B7680"/>
                </a:solidFill>
                <a:latin typeface="Arial"/>
              </a:rPr>
              <a:t>LT2 = Disc Space Narrowing  •  LT4 = Foraminal Stenosis  •  LT6 = Osteophytes  •  LT8 = Spondylolisthesis  •  LT10 = Surgical Implants  •  LT11 = Vertebral Collapse  •  LT13 = 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Table 2; provided poster Results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17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Per-class detection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Aggregate mAP is useful, but lesion-specific behavior shows where the detector performs differently.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499616"/>
            <a:ext cx="687628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792224"/>
            <a:ext cx="36576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Reported AP (%) by lesion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13432"/>
            <a:ext cx="1783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1D2A33"/>
                </a:solidFill>
                <a:latin typeface="Arial"/>
              </a:rPr>
              <a:t>Disc Space Narrowing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2322575"/>
            <a:ext cx="3566160" cy="146304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70632" y="2322575"/>
            <a:ext cx="1190205" cy="146304"/>
          </a:xfrm>
          <a:prstGeom prst="rect">
            <a:avLst/>
          </a:prstGeom>
          <a:solidFill>
            <a:srgbClr val="12A8A0"/>
          </a:solidFill>
          <a:ln w="12700"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304288"/>
            <a:ext cx="6583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60" b="1" i="0">
                <a:solidFill>
                  <a:srgbClr val="12A8A0"/>
                </a:solidFill>
                <a:latin typeface="Arial"/>
              </a:rPr>
              <a:t>26.70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770632"/>
            <a:ext cx="1783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1D2A33"/>
                </a:solidFill>
                <a:latin typeface="Arial"/>
              </a:rPr>
              <a:t>Foraminal Stenosis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0632" y="2779775"/>
            <a:ext cx="3566160" cy="146304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70632" y="2779775"/>
            <a:ext cx="1845487" cy="146304"/>
          </a:xfrm>
          <a:prstGeom prst="rect">
            <a:avLst/>
          </a:prstGeom>
          <a:solidFill>
            <a:srgbClr val="2C6E9B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761488"/>
            <a:ext cx="6583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60" b="1" i="0">
                <a:solidFill>
                  <a:srgbClr val="2C6E9B"/>
                </a:solidFill>
                <a:latin typeface="Arial"/>
              </a:rPr>
              <a:t>41.40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227832"/>
            <a:ext cx="1783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1D2A33"/>
                </a:solidFill>
                <a:latin typeface="Arial"/>
              </a:rPr>
              <a:t>Osteophytes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0632" y="3236975"/>
            <a:ext cx="3566160" cy="146304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0632" y="3236975"/>
            <a:ext cx="1809826" cy="146304"/>
          </a:xfrm>
          <a:prstGeom prst="rect">
            <a:avLst/>
          </a:prstGeom>
          <a:solidFill>
            <a:srgbClr val="244861"/>
          </a:solidFill>
          <a:ln w="12700">
            <a:solidFill>
              <a:srgbClr val="24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218688"/>
            <a:ext cx="6583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60" b="1" i="0">
                <a:solidFill>
                  <a:srgbClr val="244861"/>
                </a:solidFill>
                <a:latin typeface="Arial"/>
              </a:rPr>
              <a:t>40.60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85031"/>
            <a:ext cx="1783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1D2A33"/>
                </a:solidFill>
                <a:latin typeface="Arial"/>
              </a:rPr>
              <a:t>Spondylolisthesis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0632" y="3694175"/>
            <a:ext cx="3566160" cy="146304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70632" y="3694175"/>
            <a:ext cx="2442819" cy="146304"/>
          </a:xfrm>
          <a:prstGeom prst="rect">
            <a:avLst/>
          </a:prstGeom>
          <a:solidFill>
            <a:srgbClr val="12A8A0"/>
          </a:solidFill>
          <a:ln w="12700"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3675887"/>
            <a:ext cx="6583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60" b="1" i="0">
                <a:solidFill>
                  <a:srgbClr val="12A8A0"/>
                </a:solidFill>
                <a:latin typeface="Arial"/>
              </a:rPr>
              <a:t>54.80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142231"/>
            <a:ext cx="1783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1D2A33"/>
                </a:solidFill>
                <a:latin typeface="Arial"/>
              </a:rPr>
              <a:t>Surgical Implants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70632" y="4151375"/>
            <a:ext cx="3566160" cy="146304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70632" y="4151375"/>
            <a:ext cx="3303155" cy="146304"/>
          </a:xfrm>
          <a:prstGeom prst="rect">
            <a:avLst/>
          </a:prstGeom>
          <a:solidFill>
            <a:srgbClr val="D8A23A"/>
          </a:solidFill>
          <a:ln w="12700"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133087"/>
            <a:ext cx="6583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60" b="1" i="0">
                <a:solidFill>
                  <a:srgbClr val="D8A23A"/>
                </a:solidFill>
                <a:latin typeface="Arial"/>
              </a:rPr>
              <a:t>74.10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599431"/>
            <a:ext cx="1783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1D2A33"/>
                </a:solidFill>
                <a:latin typeface="Arial"/>
              </a:rPr>
              <a:t>Vertebral Collapse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70632" y="4608575"/>
            <a:ext cx="3566160" cy="146304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70632" y="4608575"/>
            <a:ext cx="2282342" cy="146304"/>
          </a:xfrm>
          <a:prstGeom prst="rect">
            <a:avLst/>
          </a:prstGeom>
          <a:solidFill>
            <a:srgbClr val="B24747"/>
          </a:solidFill>
          <a:ln w="12700"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19088" y="4590288"/>
            <a:ext cx="6583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60" b="1" i="0">
                <a:solidFill>
                  <a:srgbClr val="B24747"/>
                </a:solidFill>
                <a:latin typeface="Arial"/>
              </a:rPr>
              <a:t>51.20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5056631"/>
            <a:ext cx="1783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1D2A33"/>
                </a:solidFill>
                <a:latin typeface="Arial"/>
              </a:rPr>
              <a:t>Other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632" y="5065775"/>
            <a:ext cx="3566160" cy="146304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70632" y="5065775"/>
            <a:ext cx="133285" cy="146304"/>
          </a:xfrm>
          <a:prstGeom prst="rect">
            <a:avLst/>
          </a:prstGeom>
          <a:solidFill>
            <a:srgbClr val="6B7680"/>
          </a:solidFill>
          <a:ln w="12700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5047488"/>
            <a:ext cx="65836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60" b="1" i="0">
                <a:solidFill>
                  <a:srgbClr val="6B7680"/>
                </a:solidFill>
                <a:latin typeface="Arial"/>
              </a:rPr>
              <a:t>2.99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17536" y="1499616"/>
            <a:ext cx="3822191" cy="1097280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EDD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91856" y="1773936"/>
            <a:ext cx="2468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8A23A"/>
                </a:solidFill>
                <a:latin typeface="Arial"/>
              </a:rPr>
              <a:t>Higher reported 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2112264"/>
            <a:ext cx="321868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1D2A33"/>
                </a:solidFill>
                <a:latin typeface="Arial"/>
              </a:rPr>
              <a:t>Surgical Implants (74.10%), Spondylolisthesis (54.80%), Vertebral Collapse (51.20%).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17536" y="2770632"/>
            <a:ext cx="3822191" cy="1188720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91856" y="3044951"/>
            <a:ext cx="2468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A8A0"/>
                </a:solidFill>
                <a:latin typeface="Arial"/>
              </a:rPr>
              <a:t>Dominant class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1856" y="3383279"/>
            <a:ext cx="321868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1D2A33"/>
                </a:solidFill>
                <a:latin typeface="Arial"/>
              </a:rPr>
              <a:t>Osteophytes: 40.60% AP despite representing 82.1% of the reported boxes.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17536" y="4187952"/>
            <a:ext cx="3822191" cy="132588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F1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91856" y="4462272"/>
            <a:ext cx="2468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24747"/>
                </a:solidFill>
                <a:latin typeface="Arial"/>
              </a:rPr>
              <a:t>Remaining challenge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1856" y="4800600"/>
            <a:ext cx="321868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1D2A33"/>
                </a:solidFill>
                <a:latin typeface="Arial"/>
              </a:rPr>
              <a:t>Other remains difficult at 2.99% AP, highlighting room for improved rare / diverse lesion modeling.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Table 2 and discussion.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18 •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Saliency Map, Grad-CAM and LIME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paper uses complementary XAI views to inspect whether model attention is anatomically grounded.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747979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4_x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18640"/>
            <a:ext cx="6967727" cy="21086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22576" y="4599432"/>
            <a:ext cx="397763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1">
                <a:solidFill>
                  <a:srgbClr val="7B8791"/>
                </a:solidFill>
                <a:latin typeface="Arial"/>
              </a:rPr>
              <a:t>Original Fig. 4 from the camera-ready paper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919472"/>
            <a:ext cx="1207008" cy="274320"/>
          </a:xfrm>
          <a:prstGeom prst="roundRect">
            <a:avLst/>
          </a:prstGeom>
          <a:solidFill>
            <a:srgbClr val="FCECEC"/>
          </a:solidFill>
          <a:ln w="6350">
            <a:solidFill>
              <a:srgbClr val="F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4956048"/>
            <a:ext cx="1133856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B24747"/>
                </a:solidFill>
                <a:latin typeface="Arial"/>
              </a:rPr>
              <a:t>Saliency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4956048"/>
            <a:ext cx="15087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7324D"/>
                </a:solidFill>
                <a:latin typeface="Arial"/>
              </a:rPr>
              <a:t>mean X-IoU = 0.61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4919472"/>
            <a:ext cx="987552" cy="274320"/>
          </a:xfrm>
          <a:prstGeom prst="roundRect">
            <a:avLst/>
          </a:prstGeom>
          <a:solidFill>
            <a:srgbClr val="EAF3F9"/>
          </a:solidFill>
          <a:ln w="6350"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8496" y="4956048"/>
            <a:ext cx="9144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2C6E9B"/>
                </a:solidFill>
                <a:latin typeface="Arial"/>
              </a:rPr>
              <a:t>Grad-CAM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4956048"/>
            <a:ext cx="15087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7324D"/>
                </a:solidFill>
                <a:latin typeface="Arial"/>
              </a:rPr>
              <a:t>mean X-IoU = 0.64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481328"/>
            <a:ext cx="3273552" cy="1170432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F1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1755648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24747"/>
                </a:solidFill>
                <a:latin typeface="Arial"/>
              </a:rPr>
              <a:t>Saliency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084832"/>
            <a:ext cx="257860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1D2A33"/>
                </a:solidFill>
                <a:latin typeface="Arial"/>
              </a:rPr>
              <a:t>Thresholded attention overlaps lesion regions / vertebral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834640"/>
            <a:ext cx="3273552" cy="1170432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3108960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C6E9B"/>
                </a:solidFill>
                <a:latin typeface="Arial"/>
              </a:rPr>
              <a:t>Grad-CAM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438144"/>
            <a:ext cx="257860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1D2A33"/>
                </a:solidFill>
                <a:latin typeface="Arial"/>
              </a:rPr>
              <a:t>Heatmaps align with regions localized by YOLO11-L.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187952"/>
            <a:ext cx="3273552" cy="1344168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4462272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A8A0"/>
                </a:solidFill>
                <a:latin typeface="Arial"/>
              </a:rPr>
              <a:t>LIME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791456"/>
            <a:ext cx="257860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1D2A33"/>
                </a:solidFill>
                <a:latin typeface="Arial"/>
              </a:rPr>
              <a:t>Local importance highlights meaningful spinal structures rather than random background.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742432"/>
            <a:ext cx="32461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80" b="0" i="0">
                <a:solidFill>
                  <a:srgbClr val="6B7680"/>
                </a:solidFill>
                <a:latin typeface="Arial"/>
              </a:rPr>
              <a:t>Interpretation: XAI supports anatomical grounding; it is not a substitute for clinical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Fig. 4 and Section 4.1; poster AI Explainability panel.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19 •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Computational efficiency and staged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efficiency argument comes from routing only abnormal candidates into the heavier localization stage.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499616"/>
            <a:ext cx="22677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1499616"/>
            <a:ext cx="54864" cy="107899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18488"/>
            <a:ext cx="20574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15.4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984248"/>
            <a:ext cx="2057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GFLOPs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249424"/>
            <a:ext cx="2057400" cy="256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 screening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54096" y="1499616"/>
            <a:ext cx="22677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54096" y="1499616"/>
            <a:ext cx="54864" cy="1078992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1618488"/>
            <a:ext cx="20574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0.9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1984248"/>
            <a:ext cx="2057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249424"/>
            <a:ext cx="2057400" cy="256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 screening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22976" y="1499616"/>
            <a:ext cx="22677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22976" y="1499616"/>
            <a:ext cx="54864" cy="1078992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1618488"/>
            <a:ext cx="20574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120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1984248"/>
            <a:ext cx="2057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8424" y="2249424"/>
            <a:ext cx="2057400" cy="256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 screening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1499616"/>
            <a:ext cx="3547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1" y="1746504"/>
            <a:ext cx="13258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324D"/>
                </a:solidFill>
                <a:latin typeface="Arial"/>
              </a:rPr>
              <a:t>After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2066543"/>
            <a:ext cx="27614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B24747"/>
                </a:solidFill>
                <a:latin typeface="Arial"/>
              </a:rPr>
              <a:t>YOLO11-L: 74.6 GFLOPs • 1.8 GB • 350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962656"/>
            <a:ext cx="1920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7324D"/>
                </a:solidFill>
                <a:latin typeface="Arial"/>
              </a:rPr>
              <a:t>Staged inference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419856"/>
            <a:ext cx="2331720" cy="932688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657600"/>
            <a:ext cx="193852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ALL STUDIES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6392" y="3886200"/>
            <a:ext cx="630936" cy="0"/>
          </a:xfrm>
          <a:prstGeom prst="line">
            <a:avLst/>
          </a:prstGeom>
          <a:ln w="31750">
            <a:solidFill>
              <a:srgbClr val="12A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58768" y="3346704"/>
            <a:ext cx="2423160" cy="1078992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51376" y="3584448"/>
            <a:ext cx="1828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2A8A0"/>
                </a:solidFill>
                <a:latin typeface="Arial"/>
              </a:rPr>
              <a:t>DERNet triage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3913632"/>
            <a:ext cx="184708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9" b="0" i="0">
                <a:solidFill>
                  <a:srgbClr val="1D2A33"/>
                </a:solidFill>
                <a:latin typeface="Arial"/>
              </a:rPr>
              <a:t>15.4 GFLOPs • 120 ms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391656" y="3291840"/>
            <a:ext cx="722376" cy="384047"/>
          </a:xfrm>
          <a:prstGeom prst="line">
            <a:avLst/>
          </a:prstGeom>
          <a:ln w="2540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91656" y="4133087"/>
            <a:ext cx="722376" cy="438913"/>
          </a:xfrm>
          <a:prstGeom prst="line">
            <a:avLst/>
          </a:prstGeom>
          <a:ln w="2540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223760" y="2889504"/>
            <a:ext cx="2057400" cy="86868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34072" y="3191256"/>
            <a:ext cx="1645920" cy="1920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C6E9B"/>
                </a:solidFill>
                <a:latin typeface="Arial"/>
              </a:rPr>
              <a:t>NORMAL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4072" y="3447288"/>
            <a:ext cx="1645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80" b="0" i="0">
                <a:solidFill>
                  <a:srgbClr val="6B7680"/>
                </a:solidFill>
                <a:latin typeface="Arial"/>
              </a:rPr>
              <a:t>exit early / filtered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4261104"/>
            <a:ext cx="2057400" cy="86868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F1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06640" y="4562856"/>
            <a:ext cx="1682496" cy="1920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B24747"/>
                </a:solidFill>
                <a:latin typeface="Arial"/>
              </a:rPr>
              <a:t>ABNORMAL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4072" y="4809744"/>
            <a:ext cx="16459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80" b="0" i="0">
                <a:solidFill>
                  <a:srgbClr val="6B7680"/>
                </a:solidFill>
                <a:latin typeface="Arial"/>
              </a:rPr>
              <a:t>run YOLO11-L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46336" y="3822191"/>
            <a:ext cx="192024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4114800"/>
            <a:ext cx="14630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324D"/>
                </a:solidFill>
                <a:latin typeface="Arial"/>
              </a:rPr>
              <a:t>Deployment interpretation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617720"/>
            <a:ext cx="146304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i="0">
                <a:solidFill>
                  <a:srgbClr val="1D2A33"/>
                </a:solidFill>
                <a:latin typeface="Arial"/>
              </a:rPr>
              <a:t>Stage 1 screens everyone; Stage 2 is reserved for detailed localization.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Section 4.2; poster Efficiency and Ablation panel.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20 •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What the study demonstrates, what remains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paper frames the system as screening / localization support rather than a replacement for MRI or clinical diagnosis.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600200"/>
            <a:ext cx="33649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2788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What this study demonstrates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432304"/>
            <a:ext cx="164592" cy="164592"/>
          </a:xfrm>
          <a:prstGeom prst="ellipse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2377440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Sensitivity-oriented image triage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2944368"/>
            <a:ext cx="164592" cy="164592"/>
          </a:xfrm>
          <a:prstGeom prst="ellipse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2889504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Fine-grained lesion localization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3456432"/>
            <a:ext cx="164592" cy="164592"/>
          </a:xfrm>
          <a:prstGeom prst="ellipse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3401568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XAI alignment with pathology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3968496"/>
            <a:ext cx="164592" cy="164592"/>
          </a:xfrm>
          <a:prstGeom prst="ellipse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3913632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Compute-aware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600200"/>
            <a:ext cx="33649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1874519"/>
            <a:ext cx="2788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Reported limitations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2432304"/>
            <a:ext cx="164592" cy="164592"/>
          </a:xfrm>
          <a:prstGeom prst="ellipse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59" y="2377440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Single-source dataset</a:t>
            </a:r>
          </a:p>
        </p:txBody>
      </p:sp>
      <p:sp>
        <p:nvSpPr>
          <p:cNvPr id="24" name="Oval 23"/>
          <p:cNvSpPr/>
          <p:nvPr/>
        </p:nvSpPr>
        <p:spPr>
          <a:xfrm>
            <a:off x="4663440" y="2944368"/>
            <a:ext cx="164592" cy="164592"/>
          </a:xfrm>
          <a:prstGeom prst="ellipse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59" y="2889504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Rare categories remain difficult</a:t>
            </a:r>
          </a:p>
        </p:txBody>
      </p:sp>
      <p:sp>
        <p:nvSpPr>
          <p:cNvPr id="26" name="Oval 25"/>
          <p:cNvSpPr/>
          <p:nvPr/>
        </p:nvSpPr>
        <p:spPr>
          <a:xfrm>
            <a:off x="4663440" y="3456432"/>
            <a:ext cx="164592" cy="164592"/>
          </a:xfrm>
          <a:prstGeom prst="ellipse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59" y="3401568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No longitudinal patient data</a:t>
            </a:r>
          </a:p>
        </p:txBody>
      </p:sp>
      <p:sp>
        <p:nvSpPr>
          <p:cNvPr id="28" name="Oval 27"/>
          <p:cNvSpPr/>
          <p:nvPr/>
        </p:nvSpPr>
        <p:spPr>
          <a:xfrm>
            <a:off x="4663440" y="3968496"/>
            <a:ext cx="164592" cy="164592"/>
          </a:xfrm>
          <a:prstGeom prst="ellipse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59" y="3913632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External validation still needed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1600200"/>
            <a:ext cx="33649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1874519"/>
            <a:ext cx="2788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Future work</a:t>
            </a:r>
          </a:p>
        </p:txBody>
      </p:sp>
      <p:sp>
        <p:nvSpPr>
          <p:cNvPr id="32" name="Oval 31"/>
          <p:cNvSpPr/>
          <p:nvPr/>
        </p:nvSpPr>
        <p:spPr>
          <a:xfrm>
            <a:off x="8430768" y="2432304"/>
            <a:ext cx="164592" cy="164592"/>
          </a:xfrm>
          <a:prstGeom prst="ellipse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05088" y="2377440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Multi-center validation</a:t>
            </a:r>
          </a:p>
        </p:txBody>
      </p:sp>
      <p:sp>
        <p:nvSpPr>
          <p:cNvPr id="34" name="Oval 33"/>
          <p:cNvSpPr/>
          <p:nvPr/>
        </p:nvSpPr>
        <p:spPr>
          <a:xfrm>
            <a:off x="8430768" y="2944368"/>
            <a:ext cx="164592" cy="164592"/>
          </a:xfrm>
          <a:prstGeom prst="ellipse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05088" y="2889504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Better rare-lesion coverage</a:t>
            </a:r>
          </a:p>
        </p:txBody>
      </p:sp>
      <p:sp>
        <p:nvSpPr>
          <p:cNvPr id="36" name="Oval 35"/>
          <p:cNvSpPr/>
          <p:nvPr/>
        </p:nvSpPr>
        <p:spPr>
          <a:xfrm>
            <a:off x="8430768" y="3456432"/>
            <a:ext cx="164592" cy="164592"/>
          </a:xfrm>
          <a:prstGeom prst="ellipse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05088" y="3401568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Longitudinal radiographic analysis</a:t>
            </a:r>
          </a:p>
        </p:txBody>
      </p:sp>
      <p:sp>
        <p:nvSpPr>
          <p:cNvPr id="38" name="Oval 37"/>
          <p:cNvSpPr/>
          <p:nvPr/>
        </p:nvSpPr>
        <p:spPr>
          <a:xfrm>
            <a:off x="8430768" y="3968496"/>
            <a:ext cx="164592" cy="164592"/>
          </a:xfrm>
          <a:prstGeom prst="ellipse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05088" y="3913632"/>
            <a:ext cx="25420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D2A33"/>
                </a:solidFill>
                <a:latin typeface="Arial"/>
              </a:rPr>
              <a:t>Broader deployment evaluation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08176" y="5248656"/>
            <a:ext cx="9418320" cy="54864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664208" y="5440680"/>
            <a:ext cx="89154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Next research question: can sensitivity-gated routing generalize across centers, scanners, populations, and longitudinal imaging while retaining affordability?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Discussion and Conclusion.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21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Key takeaways and the full reported result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The contribution is the combination of sensitivity-gated screening, detailed localization, explainability, and staged computation.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6053328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24D"/>
                </a:solidFill>
                <a:latin typeface="Arial"/>
              </a:rPr>
              <a:t>Five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12848"/>
            <a:ext cx="53492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DERNet combines DenseNet121, EfficientNetV2-S, and ResNet50 for image-level triage.</a:t>
            </a:r>
          </a:p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Customized YOLO11-L performs multi-scale localization after abnormal routing.</a:t>
            </a:r>
          </a:p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Focal loss + 20% copy-paste address severe lesion imbalance.</a:t>
            </a:r>
          </a:p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Saliency Map, Grad-CAM and LIME provide complementary evidence of anatomical grounding.</a:t>
            </a:r>
          </a:p>
          <a:p>
            <a:pPr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>
                <a:latin typeface="Arial"/>
              </a:rPr>
              <a:t>• The staged pipeline reserves heavy compute for studies that need detailed localization.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517904"/>
            <a:ext cx="4636008" cy="3584448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96328" y="1792224"/>
            <a:ext cx="2377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1" i="0">
                <a:solidFill>
                  <a:srgbClr val="17324D"/>
                </a:solidFill>
                <a:latin typeface="Arial"/>
              </a:rPr>
              <a:t>Main reported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2276856"/>
            <a:ext cx="148132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1D2A33"/>
                </a:solidFill>
                <a:latin typeface="Arial"/>
              </a:rPr>
              <a:t>AUROC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21992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50" b="1" i="0">
                <a:solidFill>
                  <a:srgbClr val="12A8A0"/>
                </a:solidFill>
                <a:latin typeface="Arial"/>
              </a:rPr>
              <a:t>91.03%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2724912"/>
            <a:ext cx="148132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1D2A33"/>
                </a:solidFill>
                <a:latin typeface="Arial"/>
              </a:rPr>
              <a:t>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670048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50" b="1" i="0">
                <a:solidFill>
                  <a:srgbClr val="12A8A0"/>
                </a:solidFill>
                <a:latin typeface="Arial"/>
              </a:rPr>
              <a:t>84.91%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172968"/>
            <a:ext cx="148132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1D2A33"/>
                </a:solidFill>
                <a:latin typeface="Arial"/>
              </a:rPr>
              <a:t>Specificity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118104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50" b="1" i="0">
                <a:solidFill>
                  <a:srgbClr val="12A8A0"/>
                </a:solidFill>
                <a:latin typeface="Arial"/>
              </a:rPr>
              <a:t>81.68%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621024"/>
            <a:ext cx="148132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1D2A33"/>
                </a:solidFill>
                <a:latin typeface="Arial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566160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50" b="1" i="0">
                <a:solidFill>
                  <a:srgbClr val="12A8A0"/>
                </a:solidFill>
                <a:latin typeface="Arial"/>
              </a:rPr>
              <a:t>83.09%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4069080"/>
            <a:ext cx="1481328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1D2A33"/>
                </a:solidFill>
                <a:latin typeface="Arial"/>
              </a:rPr>
              <a:t>mAP@0.5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014216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50" b="1" i="0">
                <a:solidFill>
                  <a:srgbClr val="2C6E9B"/>
                </a:solidFill>
                <a:latin typeface="Arial"/>
              </a:rPr>
              <a:t>40.10%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21808"/>
            <a:ext cx="10972800" cy="493776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5468112"/>
            <a:ext cx="103784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Resource / code: https://cimilab.github.io/DERNet/    •    Thank you — Questions &amp; 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camera-ready paper, Conclusion and reported metrics; poster Conclusion panel.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3200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2A8A0"/>
                </a:solidFill>
                <a:latin typeface="Arial"/>
              </a:rPr>
              <a:t>22 •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1097280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324D"/>
                </a:solidFill>
                <a:latin typeface="Arial"/>
              </a:rPr>
              <a:t>Selected references cited in the camera-ready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Arial"/>
              </a:rPr>
              <a:t>References are reproduced from the provided paper; the slide keeps the list compact for presentation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75488" y="6428232"/>
            <a:ext cx="11247120" cy="0"/>
          </a:xfrm>
          <a:prstGeom prst="line">
            <a:avLst/>
          </a:prstGeom>
          <a:ln w="10160">
            <a:solidFill>
              <a:srgbClr val="D6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6B7680"/>
                </a:solidFill>
                <a:latin typeface="Arial"/>
              </a:rPr>
              <a:t>MIRASOL • MICCAI 2026 • Submission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715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Prosenjit Mondol • Samrat Kumar Dey • Arpita Howlader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73952"/>
            <a:ext cx="23774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36192"/>
            <a:ext cx="5413248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08776" y="1536192"/>
            <a:ext cx="5340096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828032" cy="39776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1D2A33"/>
                </a:solidFill>
                <a:latin typeface="Arial"/>
              </a:rPr>
              <a:t>[1] Nguyen H.T. et al. VinDr-SpineXR: a deep learning framework for spinal lesion detection and classification from radiographs. Springer, 2021.
[2] Pham H.H. et al. VinDr-SpineXR: a large annotated medical image dataset for spinal lesions detection and classification from radiographs. PhysioNet, 2021.
[3] Krupinski E.A. et al. Long radiology workdays reduce detection and accommodation accuracy. JACR, 2010.
[4] Huang J. et al. Pathological priors inspired network for vertebral osteophytes recognition. IEEE TMI, 2024.
[5] Shen D., Wu G., Suk H.-I. Deep learning in medical image analysis. Annu. Rev. Biomed. Eng., 2017.
[6] Cheng L.-W. et al. Automated detection of vertebral fractures from X-ray images. Neurocomputing, 2024.
[7] Ren S. et al. Faster R-CNN: towards real-time object detection with region proposal networks. NeurIPS, 2015.
[8] Sun P. et al. Sparse R-CNN: end-to-end object detection with learnable proposals. CVPR, 2021.
[9] Dayıoğlu M. et al. Performance analysis of YOLO11 models in PCB defect detection tasks. 2025.
[10] Huang G. et al. Densely connected convolutional networks. CVPR, 2017.
[11] Tan M., Le Q. EfficientNetV2: smaller models and faster training. ICML, 2021.
[12] He K. et al. Deep residual learning for image recognition. CVPR, 2016.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810512"/>
            <a:ext cx="4773168" cy="39776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1D2A33"/>
                </a:solidFill>
                <a:latin typeface="Arial"/>
              </a:rPr>
              <a:t>[13] Gan Y. et al. A novel lightweight detector for precise measurement of defects in photovoltaic panels in complex industrial scenarios. 2025.
[14] Kares F. et al. What makes for a good saliency map? arXiv:2504.17023, 2025.
[15] Ennab M., Mcheick H. Advancing AI interpretability in medical imaging: a comparative analysis of pixel-level interpretability and Grad-CAM models. 2025.
[16] Upadhyay V. HealNNET-Lesions: a deep learning framework for spinal lesion detection. 2025.
[17] AbuJalambo M. et al. Spine tumor segmentation using deep learning: a review. 2026.
[18] Huynh H.N. et al. Classification of lumbar spine degeneration using vision transformer with the RSNA dataset. 2025.
[19] Guo L. et al. Spinal lesion detection in X-Ray images via edge guidance and context aggregation. 2025.
[20] Zhao X. et al. Federated vision transformer with adaptive focal loss for medical image classification. Knowledge-Based Systems, 2026.
[21] Pham H.H. et al. VinDr-SpineXR: a large annotated medical image dataset... PhysioNet, 2021.
[22] Halloum K., Ez-Zahraouy H. Enhancing medical image classification through transfer learning and CLAHE optimization. 2025.
[23] Lin T.-Y. et al. Focal loss for dense object detection. ICCV, 2017.
[24] Al Rabbani Alif M., Hussain M. YOLOv12: a breakdown of the key architectural features. arXiv, 2025.
[25] Hidayatullah P., Tubagus R. YOLO26: a comprehensive architecture overview and key improvements.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63056"/>
            <a:ext cx="10972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7B8791"/>
                </a:solidFill>
                <a:latin typeface="Arial"/>
              </a:rPr>
              <a:t>Source: provided camera-ready paper, References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3801</Words>
  <Application>Microsoft Office PowerPoint</Application>
  <PresentationFormat>Widescreen</PresentationFormat>
  <Paragraphs>616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Sensitivity-Gated Cascade for Compute-Efficient Spinal Lesion Detection in Resource-Constrained Settings</dc:title>
  <dc:subject>MIRASOL • MICCAI 2026 • Detailed editable research presentation</dc:subject>
  <dc:creator>Prosenjit Mondol</dc:creator>
  <cp:keywords>MIRASOL, MICCAI 2026, spinal lesion, DERNet, YOLO11-L, VinDr-SpineXR</cp:keywords>
  <dc:description>generated using python-pptx</dc:description>
  <cp:lastModifiedBy>Prosenjit mondol</cp:lastModifiedBy>
  <cp:revision>2</cp:revision>
  <dcterms:created xsi:type="dcterms:W3CDTF">2013-01-27T09:14:16Z</dcterms:created>
  <dcterms:modified xsi:type="dcterms:W3CDTF">2026-09-19T09:58:34Z</dcterms:modified>
  <cp:category/>
</cp:coreProperties>
</file>