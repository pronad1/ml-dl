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0267275" cy="42794238"/>
  <p:notesSz cx="6858000" cy="9144000"/>
  <p:embeddedFontLst>
    <p:embeddedFont>
      <p:font typeface="Cambria Math" panose="02040503050406030204" pitchFamily="18" charset="0"/>
      <p:regular r:id="rId5"/>
    </p:embeddedFont>
    <p:embeddedFont>
      <p:font typeface="Nunito" pitchFamily="2" charset="0"/>
      <p:regular r:id="rId6"/>
      <p:bold r:id="rId7"/>
      <p:italic r:id="rId8"/>
      <p:boldItalic r:id="rId9"/>
    </p:embeddedFon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4tA5eJSa7q9FVs5vkRo3Z2gCn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9" autoAdjust="0"/>
  </p:normalViewPr>
  <p:slideViewPr>
    <p:cSldViewPr snapToGrid="0">
      <p:cViewPr>
        <p:scale>
          <a:sx n="33" d="100"/>
          <a:sy n="33" d="100"/>
        </p:scale>
        <p:origin x="730" y="-26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0E5C149-9262-4ADF-EE34-566796B6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6ED094B-CB66-4BBE-FBB7-8D5F9E2CF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607F2BB-1F50-3DF6-2AEE-4ABD309A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52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rgbClr val="757575"/>
              </a:buClr>
              <a:buSzPts val="7944"/>
              <a:buNone/>
              <a:defRPr sz="7944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6620"/>
              <a:buNone/>
              <a:defRPr sz="662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958"/>
              <a:buNone/>
              <a:defRPr sz="5958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322808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084821" y="15631784"/>
            <a:ext cx="1280447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322810" y="10490535"/>
            <a:ext cx="1286753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322810" y="15631784"/>
            <a:ext cx="1286753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1192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0592"/>
              <a:buChar char="•"/>
              <a:defRPr sz="10592"/>
            </a:lvl1pPr>
            <a:lvl2pPr marL="914400" lvl="1" indent="-817118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68"/>
              <a:buChar char="•"/>
              <a:defRPr sz="9268"/>
            </a:lvl2pPr>
            <a:lvl3pPr marL="1371600" lvl="2" indent="-733044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Char char="•"/>
              <a:defRPr sz="7944"/>
            </a:lvl3pPr>
            <a:lvl4pPr marL="1828800" lvl="3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4pPr>
            <a:lvl5pPr marL="2286000" lvl="4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5pPr>
            <a:lvl6pPr marL="2743200" lvl="5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6pPr>
            <a:lvl7pPr marL="3200400" lvl="6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7pPr>
            <a:lvl8pPr marL="3657600" lvl="7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8pPr>
            <a:lvl9pPr marL="4114800" lvl="8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557362" y="11915498"/>
            <a:ext cx="27152551" cy="2610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790141" y="17148276"/>
            <a:ext cx="36266139" cy="652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6451791" y="10811065"/>
            <a:ext cx="36266139" cy="1920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4"/>
              <a:buFont typeface="Play"/>
              <a:buNone/>
              <a:defRPr sz="1456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118" algn="l" rtl="0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9268"/>
              <a:buFont typeface="Arial"/>
              <a:buChar char="•"/>
              <a:defRPr sz="9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733044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Font typeface="Arial"/>
              <a:buChar char="•"/>
              <a:defRPr sz="794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4897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Font typeface="Arial"/>
              <a:buChar char="•"/>
              <a:defRPr sz="66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21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663308" y="378278"/>
            <a:ext cx="2042160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Sensitivity-Gated Cascade for Compute-Efficient Spinal Lesion Detection in Resource-Constrained Settings</a:t>
            </a:r>
            <a:endParaRPr sz="7200" i="0" u="none" strike="noStrike" cap="none" dirty="0">
              <a:solidFill>
                <a:schemeClr val="tx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1889" y="264087"/>
            <a:ext cx="4892430" cy="29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60129"/>
          <a:stretch/>
        </p:blipFill>
        <p:spPr>
          <a:xfrm>
            <a:off x="25923321" y="1381960"/>
            <a:ext cx="26107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9C53BB-AAAA-8C39-D7E9-EABB55E7F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57" y="668633"/>
            <a:ext cx="1938021" cy="16550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46F0EC-6D62-205E-C5DC-9A457E927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5432" y="722694"/>
            <a:ext cx="1749608" cy="16489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0A17FA-5572-2D2B-4022-3CCABD718E64}"/>
              </a:ext>
            </a:extLst>
          </p:cNvPr>
          <p:cNvCxnSpPr>
            <a:cxnSpLocks/>
          </p:cNvCxnSpPr>
          <p:nvPr/>
        </p:nvCxnSpPr>
        <p:spPr>
          <a:xfrm>
            <a:off x="10114981" y="6486877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C096304-B7F6-2333-03D6-BA2BEEC065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920" y="34322838"/>
            <a:ext cx="3415315" cy="294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45CE99-08A7-907E-BA96-C3A389385CA0}"/>
              </a:ext>
            </a:extLst>
          </p:cNvPr>
          <p:cNvSpPr txBox="1"/>
          <p:nvPr/>
        </p:nvSpPr>
        <p:spPr>
          <a:xfrm>
            <a:off x="224358" y="6577048"/>
            <a:ext cx="5489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C3DB02-DC46-2591-C5C9-CD1098DD91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139" y="7741578"/>
            <a:ext cx="9604723" cy="68214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B72953-CA6F-BBD8-F143-88178F7AC5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344" y="23784950"/>
            <a:ext cx="9695332" cy="6924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590AA1-F173-E3BC-5A31-181F101BDA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45" y="30473486"/>
            <a:ext cx="9495274" cy="4210246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EFB3864A-4EC4-D6C1-7044-94EC2F4A5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422355"/>
              </p:ext>
            </p:extLst>
          </p:nvPr>
        </p:nvGraphicFramePr>
        <p:xfrm>
          <a:off x="20775087" y="7945500"/>
          <a:ext cx="9231240" cy="3812904"/>
        </p:xfrm>
        <a:graphic>
          <a:graphicData uri="http://schemas.openxmlformats.org/drawingml/2006/table">
            <a:tbl>
              <a:tblPr/>
              <a:tblGrid>
                <a:gridCol w="2365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4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16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0A920211-EC0A-8643-881C-F134858D6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39561"/>
                  </p:ext>
                </p:extLst>
              </p:nvPr>
            </p:nvGraphicFramePr>
            <p:xfrm>
              <a:off x="20775085" y="13489257"/>
              <a:ext cx="9307203" cy="5413938"/>
            </p:xfrm>
            <a:graphic>
              <a:graphicData uri="http://schemas.openxmlformats.org/drawingml/2006/table">
                <a:tbl>
                  <a:tblPr/>
                  <a:tblGrid>
                    <a:gridCol w="18146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43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4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1880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63348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34083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19448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511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809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7099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022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455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6034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55429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0A920211-EC0A-8643-881C-F134858D6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39561"/>
                  </p:ext>
                </p:extLst>
              </p:nvPr>
            </p:nvGraphicFramePr>
            <p:xfrm>
              <a:off x="20775085" y="13489257"/>
              <a:ext cx="9307203" cy="5413938"/>
            </p:xfrm>
            <a:graphic>
              <a:graphicData uri="http://schemas.openxmlformats.org/drawingml/2006/table">
                <a:tbl>
                  <a:tblPr/>
                  <a:tblGrid>
                    <a:gridCol w="18146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43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4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1880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63348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34083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19448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511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809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77381" t="-3478" r="-632738" b="-68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022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455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6034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441467-B8D7-ED82-C0E3-A02AACB3B740}"/>
              </a:ext>
            </a:extLst>
          </p:cNvPr>
          <p:cNvSpPr txBox="1"/>
          <p:nvPr/>
        </p:nvSpPr>
        <p:spPr>
          <a:xfrm>
            <a:off x="20775085" y="19014524"/>
            <a:ext cx="9307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narrowing, foraminal stenosis, osteophytes, spondylolisthesis,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surgical implant, vertebral collapse, and other lesions, respectively.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30ECD2-D404-6E64-68E8-51A87DCCCC6F}"/>
              </a:ext>
            </a:extLst>
          </p:cNvPr>
          <p:cNvSpPr txBox="1"/>
          <p:nvPr/>
        </p:nvSpPr>
        <p:spPr>
          <a:xfrm>
            <a:off x="20775087" y="7366229"/>
            <a:ext cx="93072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D2E8DC-96C1-42C8-C7FE-28EA14015E37}"/>
              </a:ext>
            </a:extLst>
          </p:cNvPr>
          <p:cNvSpPr txBox="1"/>
          <p:nvPr/>
        </p:nvSpPr>
        <p:spPr>
          <a:xfrm>
            <a:off x="20639289" y="12333304"/>
            <a:ext cx="9294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2. The detection performance for each type of spinal lesion.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0238F-E99B-9BFB-B97A-F2DD468EB913}"/>
              </a:ext>
            </a:extLst>
          </p:cNvPr>
          <p:cNvSpPr txBox="1"/>
          <p:nvPr/>
        </p:nvSpPr>
        <p:spPr>
          <a:xfrm>
            <a:off x="276304" y="7404912"/>
            <a:ext cx="95683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a wide spectrum of spinal pathologies [1].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3187CA-6BD0-A72D-FB0B-91CC39EDFFF5}"/>
              </a:ext>
            </a:extLst>
          </p:cNvPr>
          <p:cNvSpPr txBox="1"/>
          <p:nvPr/>
        </p:nvSpPr>
        <p:spPr>
          <a:xfrm>
            <a:off x="23315834" y="37228982"/>
            <a:ext cx="413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4EAAA-1E1D-1C4D-65CF-60915C2AB7A1}"/>
              </a:ext>
            </a:extLst>
          </p:cNvPr>
          <p:cNvSpPr txBox="1"/>
          <p:nvPr/>
        </p:nvSpPr>
        <p:spPr>
          <a:xfrm>
            <a:off x="20822782" y="38004584"/>
            <a:ext cx="92595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B0E7BCFD-9118-8F65-301D-0D93CE68F78F}"/>
              </a:ext>
            </a:extLst>
          </p:cNvPr>
          <p:cNvSpPr/>
          <p:nvPr/>
        </p:nvSpPr>
        <p:spPr>
          <a:xfrm>
            <a:off x="275121" y="11523000"/>
            <a:ext cx="9638353" cy="2101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91DE328F-D272-4E33-9B30-FAF1163A75F4}"/>
              </a:ext>
            </a:extLst>
          </p:cNvPr>
          <p:cNvSpPr/>
          <p:nvPr/>
        </p:nvSpPr>
        <p:spPr>
          <a:xfrm>
            <a:off x="238344" y="11545405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A2EEB0D8-FE75-D516-465E-9467C5465008}"/>
              </a:ext>
            </a:extLst>
          </p:cNvPr>
          <p:cNvSpPr/>
          <p:nvPr/>
        </p:nvSpPr>
        <p:spPr>
          <a:xfrm>
            <a:off x="276305" y="11639846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24AECD59-6022-278C-8A45-44A3F1C7DA99}"/>
              </a:ext>
            </a:extLst>
          </p:cNvPr>
          <p:cNvSpPr/>
          <p:nvPr/>
        </p:nvSpPr>
        <p:spPr>
          <a:xfrm>
            <a:off x="2110435" y="11666534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9142D63-88F4-0E5F-5411-60885E95A497}"/>
              </a:ext>
            </a:extLst>
          </p:cNvPr>
          <p:cNvSpPr/>
          <p:nvPr/>
        </p:nvSpPr>
        <p:spPr>
          <a:xfrm>
            <a:off x="196368" y="12777093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CD0DE5B-2FC4-291A-8579-340C35B6D8DE}"/>
              </a:ext>
            </a:extLst>
          </p:cNvPr>
          <p:cNvSpPr/>
          <p:nvPr/>
        </p:nvSpPr>
        <p:spPr>
          <a:xfrm>
            <a:off x="2110435" y="12716429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238624-C9DF-7C76-370D-63D35B0BF716}"/>
              </a:ext>
            </a:extLst>
          </p:cNvPr>
          <p:cNvSpPr txBox="1"/>
          <p:nvPr/>
        </p:nvSpPr>
        <p:spPr>
          <a:xfrm>
            <a:off x="224358" y="14132696"/>
            <a:ext cx="775039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FFBDBA42-3ECD-18C9-2530-44D4E9187652}"/>
              </a:ext>
            </a:extLst>
          </p:cNvPr>
          <p:cNvSpPr/>
          <p:nvPr/>
        </p:nvSpPr>
        <p:spPr>
          <a:xfrm>
            <a:off x="202114" y="15101662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9C946251-796C-FB6A-1BDB-DC9F4FF9EF69}"/>
              </a:ext>
            </a:extLst>
          </p:cNvPr>
          <p:cNvSpPr/>
          <p:nvPr/>
        </p:nvSpPr>
        <p:spPr>
          <a:xfrm>
            <a:off x="201727" y="150832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13C1EE9-1833-1FF7-F35D-2F053588D291}"/>
              </a:ext>
            </a:extLst>
          </p:cNvPr>
          <p:cNvSpPr/>
          <p:nvPr/>
        </p:nvSpPr>
        <p:spPr>
          <a:xfrm>
            <a:off x="872545" y="15104716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7686367F-4B47-0275-A43A-50AFD59F8DE2}"/>
              </a:ext>
            </a:extLst>
          </p:cNvPr>
          <p:cNvSpPr/>
          <p:nvPr/>
        </p:nvSpPr>
        <p:spPr>
          <a:xfrm>
            <a:off x="751020" y="15741228"/>
            <a:ext cx="8982598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8B74E5A5-B994-3300-FB67-1897D910BBD4}"/>
              </a:ext>
            </a:extLst>
          </p:cNvPr>
          <p:cNvSpPr/>
          <p:nvPr/>
        </p:nvSpPr>
        <p:spPr>
          <a:xfrm>
            <a:off x="361385" y="19468860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E2FE89B5-58EA-567B-785C-AD348BBD77FA}"/>
              </a:ext>
            </a:extLst>
          </p:cNvPr>
          <p:cNvSpPr/>
          <p:nvPr/>
        </p:nvSpPr>
        <p:spPr>
          <a:xfrm>
            <a:off x="721677" y="17166029"/>
            <a:ext cx="5543368" cy="49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65D6154E-6010-10BE-6F8B-4A4632E682C2}"/>
              </a:ext>
            </a:extLst>
          </p:cNvPr>
          <p:cNvSpPr/>
          <p:nvPr/>
        </p:nvSpPr>
        <p:spPr>
          <a:xfrm>
            <a:off x="840578" y="17870002"/>
            <a:ext cx="9081073" cy="130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6ABC248-384E-ACD2-D7B1-F67E8398E00B}"/>
              </a:ext>
            </a:extLst>
          </p:cNvPr>
          <p:cNvSpPr/>
          <p:nvPr/>
        </p:nvSpPr>
        <p:spPr>
          <a:xfrm>
            <a:off x="872545" y="19526804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B7F9091F-D324-3599-9B16-5195DF1F7F63}"/>
              </a:ext>
            </a:extLst>
          </p:cNvPr>
          <p:cNvSpPr/>
          <p:nvPr/>
        </p:nvSpPr>
        <p:spPr>
          <a:xfrm>
            <a:off x="690060" y="20108343"/>
            <a:ext cx="9045074" cy="14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39809-B2C6-7D65-8636-4CA4368187F3}"/>
              </a:ext>
            </a:extLst>
          </p:cNvPr>
          <p:cNvSpPr txBox="1"/>
          <p:nvPr/>
        </p:nvSpPr>
        <p:spPr>
          <a:xfrm>
            <a:off x="219849" y="21654850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Contributions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EFC30B78-4010-9300-3BCB-BB152F881246}"/>
              </a:ext>
            </a:extLst>
          </p:cNvPr>
          <p:cNvSpPr/>
          <p:nvPr/>
        </p:nvSpPr>
        <p:spPr>
          <a:xfrm>
            <a:off x="193561" y="22569645"/>
            <a:ext cx="9291587" cy="1826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189804B1-420A-EDB7-B8BC-77C1A1F23757}"/>
              </a:ext>
            </a:extLst>
          </p:cNvPr>
          <p:cNvSpPr/>
          <p:nvPr/>
        </p:nvSpPr>
        <p:spPr>
          <a:xfrm>
            <a:off x="220550" y="22579050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9086BA29-FD87-304C-96BE-CBB2850997B7}"/>
              </a:ext>
            </a:extLst>
          </p:cNvPr>
          <p:cNvSpPr/>
          <p:nvPr/>
        </p:nvSpPr>
        <p:spPr>
          <a:xfrm>
            <a:off x="258581" y="23043777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48063B66-5F0B-1414-A17B-1560C92C618A}"/>
              </a:ext>
            </a:extLst>
          </p:cNvPr>
          <p:cNvSpPr/>
          <p:nvPr/>
        </p:nvSpPr>
        <p:spPr>
          <a:xfrm>
            <a:off x="224768" y="24608244"/>
            <a:ext cx="9311061" cy="208678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A8189E88-4099-8C27-0483-39C63ED7BC0E}"/>
              </a:ext>
            </a:extLst>
          </p:cNvPr>
          <p:cNvSpPr/>
          <p:nvPr/>
        </p:nvSpPr>
        <p:spPr>
          <a:xfrm>
            <a:off x="275121" y="25146389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class imbalance and localize minute lesions, achieving 40.10% mAP@0.5.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9F9966B1-DDB7-DA84-5C14-46076A52BAEC}"/>
              </a:ext>
            </a:extLst>
          </p:cNvPr>
          <p:cNvSpPr/>
          <p:nvPr/>
        </p:nvSpPr>
        <p:spPr>
          <a:xfrm>
            <a:off x="270000" y="26966527"/>
            <a:ext cx="9220596" cy="264375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E8A80E10-96C9-6B3E-9910-19A3A2DCC551}"/>
              </a:ext>
            </a:extLst>
          </p:cNvPr>
          <p:cNvSpPr/>
          <p:nvPr/>
        </p:nvSpPr>
        <p:spPr>
          <a:xfrm>
            <a:off x="270000" y="26900858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00549C5-5906-819D-7EBF-3A59655A99BE}"/>
              </a:ext>
            </a:extLst>
          </p:cNvPr>
          <p:cNvSpPr/>
          <p:nvPr/>
        </p:nvSpPr>
        <p:spPr>
          <a:xfrm>
            <a:off x="304777" y="27534173"/>
            <a:ext cx="9083181" cy="202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 setting.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E1692B-4A98-67F6-F944-23E7456852F0}"/>
              </a:ext>
            </a:extLst>
          </p:cNvPr>
          <p:cNvSpPr txBox="1"/>
          <p:nvPr/>
        </p:nvSpPr>
        <p:spPr>
          <a:xfrm>
            <a:off x="206011" y="29698858"/>
            <a:ext cx="707293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Spine Lesion Distribution</a:t>
            </a: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958A682-89DE-BC9D-24ED-6FEA877E26B5}"/>
              </a:ext>
            </a:extLst>
          </p:cNvPr>
          <p:cNvSpPr/>
          <p:nvPr/>
        </p:nvSpPr>
        <p:spPr>
          <a:xfrm>
            <a:off x="195768" y="1717912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320F8BA4-0207-26A1-ADF0-17102185835F}"/>
              </a:ext>
            </a:extLst>
          </p:cNvPr>
          <p:cNvSpPr/>
          <p:nvPr/>
        </p:nvSpPr>
        <p:spPr>
          <a:xfrm>
            <a:off x="195766" y="1714474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4C597398-FB67-E155-25B1-9EE604394E6F}"/>
              </a:ext>
            </a:extLst>
          </p:cNvPr>
          <p:cNvSpPr/>
          <p:nvPr/>
        </p:nvSpPr>
        <p:spPr>
          <a:xfrm>
            <a:off x="258859" y="19455721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D56D177E-A9A1-E27F-C5B1-B808008E04F1}"/>
              </a:ext>
            </a:extLst>
          </p:cNvPr>
          <p:cNvSpPr/>
          <p:nvPr/>
        </p:nvSpPr>
        <p:spPr>
          <a:xfrm>
            <a:off x="258860" y="194557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A6FF18-3E02-EA35-2947-F2416B118AEF}"/>
              </a:ext>
            </a:extLst>
          </p:cNvPr>
          <p:cNvSpPr txBox="1"/>
          <p:nvPr/>
        </p:nvSpPr>
        <p:spPr>
          <a:xfrm>
            <a:off x="270001" y="36867523"/>
            <a:ext cx="951991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8,389 training | 2077 test studies</a:t>
            </a:r>
            <a:endParaRPr lang="en-US" sz="32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/>
              <a:t>Pathology Annotation: </a:t>
            </a:r>
            <a:r>
              <a:rPr lang="en-US" sz="3200" dirty="0"/>
              <a:t>15,290 expert-labeled bounding boxes across 7 lesion classes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/>
              <a:t>Severe Class Skew: </a:t>
            </a:r>
            <a:r>
              <a:rPr lang="en-US" sz="3200" dirty="0"/>
              <a:t>Osteophytes comprise 82.1%, while critical findings like Vertebral Collapse represent only 1.8% of all annotations</a:t>
            </a:r>
            <a:endParaRPr lang="en-US" sz="320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200" dirty="0"/>
              <a:t>amid overlapping bone anatomy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A28CA0-4870-DE99-367C-F1C510B83F0B}"/>
              </a:ext>
            </a:extLst>
          </p:cNvPr>
          <p:cNvSpPr txBox="1"/>
          <p:nvPr/>
        </p:nvSpPr>
        <p:spPr>
          <a:xfrm>
            <a:off x="10422122" y="6606149"/>
            <a:ext cx="892745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Proposed Cascaded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04C7EF-5E41-C289-F389-AD186D89017C}"/>
              </a:ext>
            </a:extLst>
          </p:cNvPr>
          <p:cNvSpPr txBox="1"/>
          <p:nvPr/>
        </p:nvSpPr>
        <p:spPr>
          <a:xfrm>
            <a:off x="10517139" y="14923877"/>
            <a:ext cx="94797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2.  Overview of the cascaded framework for spinal </a:t>
            </a: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triage and localization.</a:t>
            </a: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0E927E40-C038-65C3-C3C1-0E4E787D27DD}"/>
              </a:ext>
            </a:extLst>
          </p:cNvPr>
          <p:cNvSpPr/>
          <p:nvPr/>
        </p:nvSpPr>
        <p:spPr>
          <a:xfrm>
            <a:off x="10429282" y="16310664"/>
            <a:ext cx="9692579" cy="6152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A6DD75-A289-1991-EF22-6C2922CC0E11}"/>
              </a:ext>
            </a:extLst>
          </p:cNvPr>
          <p:cNvSpPr txBox="1"/>
          <p:nvPr/>
        </p:nvSpPr>
        <p:spPr>
          <a:xfrm>
            <a:off x="10517139" y="22924029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DERNet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3E52E0-7AB7-3DC7-0A6A-7B9DC1AD7D8E}"/>
              </a:ext>
            </a:extLst>
          </p:cNvPr>
          <p:cNvSpPr txBox="1"/>
          <p:nvPr/>
        </p:nvSpPr>
        <p:spPr>
          <a:xfrm>
            <a:off x="10592766" y="31085908"/>
            <a:ext cx="94645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Fig. 3.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high-sensitivity radiographic triage. Each backbone (DenseNet121, EfficientNetV2-S, ResNet50) produces independent posterior probabilities via Global Average Pooling and Sigmoid.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2B5503C-FC3B-4438-E8F7-3F206DFD060B}"/>
              </a:ext>
            </a:extLst>
          </p:cNvPr>
          <p:cNvSpPr txBox="1"/>
          <p:nvPr/>
        </p:nvSpPr>
        <p:spPr>
          <a:xfrm>
            <a:off x="10402363" y="16319784"/>
            <a:ext cx="97194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 mitigate radiographic exposure variance CLAHE computes the enhanced intensity by mapping the local CDF as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4797B64-0E75-0155-954F-B0CB7124FF23}"/>
              </a:ext>
            </a:extLst>
          </p:cNvPr>
          <p:cNvSpPr txBox="1"/>
          <p:nvPr/>
        </p:nvSpPr>
        <p:spPr>
          <a:xfrm>
            <a:off x="20734293" y="6617681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Results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31B843A-7A0F-7CAE-FAEE-C8A8C883E1A4}"/>
              </a:ext>
            </a:extLst>
          </p:cNvPr>
          <p:cNvSpPr txBox="1"/>
          <p:nvPr/>
        </p:nvSpPr>
        <p:spPr>
          <a:xfrm>
            <a:off x="20822782" y="30225465"/>
            <a:ext cx="3218513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Conclusion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41E5F0D-24A0-C873-FB13-13CB1811C123}"/>
              </a:ext>
            </a:extLst>
          </p:cNvPr>
          <p:cNvCxnSpPr>
            <a:cxnSpLocks/>
          </p:cNvCxnSpPr>
          <p:nvPr/>
        </p:nvCxnSpPr>
        <p:spPr>
          <a:xfrm>
            <a:off x="20448475" y="6486877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1788761-0157-C691-A82B-EA305FC66150}"/>
              </a:ext>
            </a:extLst>
          </p:cNvPr>
          <p:cNvSpPr txBox="1"/>
          <p:nvPr/>
        </p:nvSpPr>
        <p:spPr>
          <a:xfrm>
            <a:off x="238344" y="34827901"/>
            <a:ext cx="96063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Fig. 1. </a:t>
            </a:r>
            <a:r>
              <a:rPr lang="en-US" sz="3000" dirty="0"/>
              <a:t>Severe class imbalance across seven spinal lesion categories in the </a:t>
            </a:r>
            <a:r>
              <a:rPr lang="en-US" sz="3000" dirty="0" err="1"/>
              <a:t>VinDr-SpineXR</a:t>
            </a:r>
            <a:r>
              <a:rPr lang="en-US" sz="3000" dirty="0"/>
              <a:t> training cohort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9716331F-8A2C-E04E-FDF4-C29A77E8537B}"/>
              </a:ext>
            </a:extLst>
          </p:cNvPr>
          <p:cNvSpPr/>
          <p:nvPr/>
        </p:nvSpPr>
        <p:spPr>
          <a:xfrm>
            <a:off x="20895998" y="34572013"/>
            <a:ext cx="4085710" cy="21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Scan this QR for additional resources including code, data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24F5C7B-A63B-7AB4-E41D-1E2C8C3DE4C9}"/>
              </a:ext>
            </a:extLst>
          </p:cNvPr>
          <p:cNvSpPr txBox="1"/>
          <p:nvPr/>
        </p:nvSpPr>
        <p:spPr>
          <a:xfrm>
            <a:off x="20895910" y="20157819"/>
            <a:ext cx="6732297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AI Explainability (XAI)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16CC8-DE2F-B283-3E25-6EA02EB8C9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2782" y="20993326"/>
            <a:ext cx="5319968" cy="3085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DFB2ED-95D4-5147-A456-9DD19682D6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42750" y="21024150"/>
            <a:ext cx="4106701" cy="3094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45E5BB-C26E-8647-419F-CD009B437037}"/>
              </a:ext>
            </a:extLst>
          </p:cNvPr>
          <p:cNvSpPr txBox="1"/>
          <p:nvPr/>
        </p:nvSpPr>
        <p:spPr>
          <a:xfrm>
            <a:off x="20753118" y="24171749"/>
            <a:ext cx="93689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4. </a:t>
            </a:r>
            <a:r>
              <a:rPr lang="en-US" sz="3000" dirty="0"/>
              <a:t>Multi-modal XAI validation verifies attention on genuine lesion pathology rather than artifacts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QR code scan icon in flat style. Mobile phone scanning ...">
            <a:extLst>
              <a:ext uri="{FF2B5EF4-FFF2-40B4-BE49-F238E27FC236}">
                <a16:creationId xmlns:a16="http://schemas.microsoft.com/office/drawing/2014/main" id="{7159E680-6343-1DB3-1072-B3FDCB47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8997" y="34765342"/>
            <a:ext cx="1661895" cy="20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stomizable Arrow Icon Designs for Web and App Use">
            <a:extLst>
              <a:ext uri="{FF2B5EF4-FFF2-40B4-BE49-F238E27FC236}">
                <a16:creationId xmlns:a16="http://schemas.microsoft.com/office/drawing/2014/main" id="{40A04795-E4E2-1D54-953B-25010B9A9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2545" y="35459441"/>
            <a:ext cx="579784" cy="7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7173E8-BCCB-CE12-4598-63FAE838E80F}"/>
              </a:ext>
            </a:extLst>
          </p:cNvPr>
          <p:cNvSpPr txBox="1"/>
          <p:nvPr/>
        </p:nvSpPr>
        <p:spPr>
          <a:xfrm>
            <a:off x="20822782" y="25234583"/>
            <a:ext cx="577211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Efficiency &amp; Ablation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C17A8237-A870-39E7-150F-5D8837D8F211}"/>
              </a:ext>
            </a:extLst>
          </p:cNvPr>
          <p:cNvSpPr/>
          <p:nvPr/>
        </p:nvSpPr>
        <p:spPr>
          <a:xfrm>
            <a:off x="20895910" y="26251053"/>
            <a:ext cx="2507649" cy="1177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76339DE-35BC-6B58-B6DA-898910E9C493}"/>
              </a:ext>
            </a:extLst>
          </p:cNvPr>
          <p:cNvSpPr/>
          <p:nvPr/>
        </p:nvSpPr>
        <p:spPr>
          <a:xfrm>
            <a:off x="20902962" y="26389643"/>
            <a:ext cx="2819629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CPU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C17DC3CA-1C2B-8716-C24C-27C5BDF77018}"/>
              </a:ext>
            </a:extLst>
          </p:cNvPr>
          <p:cNvSpPr/>
          <p:nvPr/>
        </p:nvSpPr>
        <p:spPr>
          <a:xfrm>
            <a:off x="20869441" y="27715120"/>
            <a:ext cx="250764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364DA1C8-8536-D1E6-3FB1-4B007219C0E5}"/>
              </a:ext>
            </a:extLst>
          </p:cNvPr>
          <p:cNvSpPr/>
          <p:nvPr/>
        </p:nvSpPr>
        <p:spPr>
          <a:xfrm>
            <a:off x="21064795" y="27760260"/>
            <a:ext cx="2386494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Imbalance Ablation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FAFBBE9E-B5DB-CD07-3AA9-B7EF15C63AB2}"/>
              </a:ext>
            </a:extLst>
          </p:cNvPr>
          <p:cNvSpPr/>
          <p:nvPr/>
        </p:nvSpPr>
        <p:spPr>
          <a:xfrm>
            <a:off x="23415898" y="26247568"/>
            <a:ext cx="6626609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15.4 GFLOPS screening filters </a:t>
            </a:r>
            <a:r>
              <a:rPr lang="en-US" sz="2800" dirty="0" err="1"/>
              <a:t>normals</a:t>
            </a:r>
            <a:r>
              <a:rPr lang="en-US" sz="2800" dirty="0"/>
              <a:t> upfront; heavier 74.6 GFLOPS detector executes on abnormalities for CPU triage.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71E3D774-D974-4773-3DE3-B150CB7CF14F}"/>
              </a:ext>
            </a:extLst>
          </p:cNvPr>
          <p:cNvSpPr/>
          <p:nvPr/>
        </p:nvSpPr>
        <p:spPr>
          <a:xfrm>
            <a:off x="20902962" y="29148545"/>
            <a:ext cx="2535154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DCD6582B-8082-BEF4-EA74-EFA5A7237293}"/>
              </a:ext>
            </a:extLst>
          </p:cNvPr>
          <p:cNvSpPr/>
          <p:nvPr/>
        </p:nvSpPr>
        <p:spPr>
          <a:xfrm>
            <a:off x="23384392" y="27711451"/>
            <a:ext cx="6621936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20% copy-paste lifts mAP@0.5 from 37.70% → 40.10% on rare lesions.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422466C2-155E-5FD9-8D55-C937CA8178FA}"/>
              </a:ext>
            </a:extLst>
          </p:cNvPr>
          <p:cNvSpPr/>
          <p:nvPr/>
        </p:nvSpPr>
        <p:spPr>
          <a:xfrm>
            <a:off x="23481416" y="29169224"/>
            <a:ext cx="6481082" cy="10884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0.61–0.64 mean X-</a:t>
            </a:r>
            <a:r>
              <a:rPr lang="en-US" sz="2800" dirty="0" err="1"/>
              <a:t>IoU</a:t>
            </a:r>
            <a:r>
              <a:rPr lang="en-US" sz="2800" dirty="0"/>
              <a:t> grounds triage to bone margins, safeguarding scarce MRI slots.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C7544533-7320-B555-024B-FE9BFAF12256}"/>
              </a:ext>
            </a:extLst>
          </p:cNvPr>
          <p:cNvSpPr/>
          <p:nvPr/>
        </p:nvSpPr>
        <p:spPr>
          <a:xfrm>
            <a:off x="20902962" y="29163157"/>
            <a:ext cx="2696987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Anatomical Trust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84;p1">
            <a:extLst>
              <a:ext uri="{FF2B5EF4-FFF2-40B4-BE49-F238E27FC236}">
                <a16:creationId xmlns:a16="http://schemas.microsoft.com/office/drawing/2014/main" id="{5B260F45-B4BA-FC60-5E82-00617D0C1B30}"/>
              </a:ext>
            </a:extLst>
          </p:cNvPr>
          <p:cNvSpPr txBox="1"/>
          <p:nvPr/>
        </p:nvSpPr>
        <p:spPr>
          <a:xfrm>
            <a:off x="3661610" y="3693229"/>
            <a:ext cx="2242499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4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Prosenjit Mondol , Samrat Kumar Dey  and Arpita Howlader</a:t>
            </a:r>
          </a:p>
          <a:p>
            <a:pPr algn="ctr">
              <a:buClr>
                <a:schemeClr val="dk1"/>
              </a:buClr>
              <a:buSzPts val="7200"/>
            </a:pPr>
            <a:r>
              <a:rPr lang="en-US" sz="3200" u="none" strike="noStrike" cap="none" baseline="30000" dirty="0">
                <a:solidFill>
                  <a:schemeClr val="tx1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1</a:t>
            </a:r>
            <a:r>
              <a:rPr lang="en-US" sz="3200" u="none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Faculty of Computer Science and Engineering, Patuakhali Science and Technology University, Dumki 8602, Bangladesh.</a:t>
            </a:r>
          </a:p>
          <a:p>
            <a:pPr algn="ctr">
              <a:buClr>
                <a:schemeClr val="dk1"/>
              </a:buClr>
              <a:buSzPts val="7200"/>
            </a:pPr>
            <a:r>
              <a:rPr lang="en-US" sz="3200" i="0" u="none" strike="noStrike" cap="none" baseline="30000" dirty="0">
                <a:solidFill>
                  <a:schemeClr val="tx1"/>
                </a:solidFill>
                <a:latin typeface="+mj-lt"/>
                <a:ea typeface="Nunito"/>
                <a:cs typeface="Nunito"/>
                <a:sym typeface="Nunito"/>
              </a:rPr>
              <a:t>2</a:t>
            </a:r>
            <a:r>
              <a:rPr lang="en-US" sz="3200" i="0" u="none" strike="noStrike" cap="none" dirty="0">
                <a:solidFill>
                  <a:schemeClr val="tx1"/>
                </a:solidFill>
                <a:latin typeface="+mj-lt"/>
                <a:ea typeface="Nunito"/>
                <a:cs typeface="Nunito"/>
                <a:sym typeface="Nunito"/>
              </a:rPr>
              <a:t>School of Science and Technology, Bangladesh Open University, Gazipur 1705, Bangladesh</a:t>
            </a:r>
            <a:endParaRPr sz="3200" i="0" u="none" strike="noStrike" cap="none" dirty="0">
              <a:solidFill>
                <a:schemeClr val="tx1"/>
              </a:solidFill>
              <a:latin typeface="+mj-lt"/>
              <a:ea typeface="Nunito"/>
              <a:cs typeface="Nunito"/>
              <a:sym typeface="Nuni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A5353-911E-AA1E-98C1-4C06FB54CC07}"/>
              </a:ext>
            </a:extLst>
          </p:cNvPr>
          <p:cNvSpPr txBox="1"/>
          <p:nvPr/>
        </p:nvSpPr>
        <p:spPr>
          <a:xfrm>
            <a:off x="11091691" y="3675528"/>
            <a:ext cx="41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AFE37-0AE6-B879-151E-871B2656D946}"/>
              </a:ext>
            </a:extLst>
          </p:cNvPr>
          <p:cNvSpPr txBox="1"/>
          <p:nvPr/>
        </p:nvSpPr>
        <p:spPr>
          <a:xfrm>
            <a:off x="23407112" y="3706134"/>
            <a:ext cx="41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1592D4-E31F-808F-209E-AB455308CE30}"/>
              </a:ext>
            </a:extLst>
          </p:cNvPr>
          <p:cNvSpPr txBox="1"/>
          <p:nvPr/>
        </p:nvSpPr>
        <p:spPr>
          <a:xfrm>
            <a:off x="17074468" y="3722646"/>
            <a:ext cx="491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</a:t>
            </a: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7BD8C928-7A48-6AE2-0FAA-07820C030C34}"/>
              </a:ext>
            </a:extLst>
          </p:cNvPr>
          <p:cNvSpPr/>
          <p:nvPr/>
        </p:nvSpPr>
        <p:spPr>
          <a:xfrm>
            <a:off x="-16931" y="41627472"/>
            <a:ext cx="30284206" cy="1199368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C75D3CF4-FFF6-3612-BC3D-316F2AB7A22D}"/>
              </a:ext>
            </a:extLst>
          </p:cNvPr>
          <p:cNvSpPr/>
          <p:nvPr/>
        </p:nvSpPr>
        <p:spPr>
          <a:xfrm>
            <a:off x="11746" y="41634872"/>
            <a:ext cx="30284206" cy="1159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From the </a:t>
            </a:r>
            <a:r>
              <a:rPr lang="en-US" sz="4800" b="1" i="0" dirty="0">
                <a:solidFill>
                  <a:srgbClr val="EDF2FF"/>
                </a:solidFill>
                <a:effectLst/>
                <a:latin typeface="Inter"/>
              </a:rPr>
              <a:t>Computation Informatics &amp; Machine Intelligence Lab (</a:t>
            </a:r>
            <a:r>
              <a:rPr lang="en-US" sz="4800" b="1" i="0" dirty="0" err="1">
                <a:solidFill>
                  <a:srgbClr val="F0F6FC"/>
                </a:solidFill>
                <a:effectLst/>
                <a:latin typeface="Mona Sans VF"/>
              </a:rPr>
              <a:t>CIMILab</a:t>
            </a:r>
            <a:r>
              <a:rPr lang="en-US" sz="4800" b="1" i="0" dirty="0">
                <a:solidFill>
                  <a:srgbClr val="EDF2FF"/>
                </a:solidFill>
                <a:effectLst/>
                <a:latin typeface="Inter"/>
              </a:rPr>
              <a:t>)</a:t>
            </a: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39AFC9D4-B8B7-45D3-5F16-6C008DC26CB2}"/>
              </a:ext>
            </a:extLst>
          </p:cNvPr>
          <p:cNvSpPr/>
          <p:nvPr/>
        </p:nvSpPr>
        <p:spPr>
          <a:xfrm>
            <a:off x="287560" y="2467950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754AADAF-107F-4D23-B94F-7C53535ECDAF}"/>
              </a:ext>
            </a:extLst>
          </p:cNvPr>
          <p:cNvSpPr/>
          <p:nvPr/>
        </p:nvSpPr>
        <p:spPr>
          <a:xfrm>
            <a:off x="219849" y="35983187"/>
            <a:ext cx="9624814" cy="68255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Dataset &amp; Cohort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7432ED5-1E4D-03FF-665D-AB4A9817CEED}"/>
                  </a:ext>
                </a:extLst>
              </p:cNvPr>
              <p:cNvSpPr txBox="1"/>
              <p:nvPr/>
            </p:nvSpPr>
            <p:spPr>
              <a:xfrm>
                <a:off x="11795847" y="18394705"/>
                <a:ext cx="6837343" cy="10746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b="1" i="1" dirty="0"/>
                  <a:t>I’(</a:t>
                </a:r>
                <a:r>
                  <a:rPr lang="en-US" sz="4000" b="1" i="1" dirty="0" err="1"/>
                  <a:t>i</a:t>
                </a:r>
                <a:r>
                  <a:rPr lang="en-US" sz="4000" b="1" i="1" dirty="0"/>
                  <a:t>, j) </a:t>
                </a:r>
                <a14:m>
                  <m:oMath xmlns:m="http://schemas.openxmlformats.org/officeDocument/2006/math">
                    <m:r>
                      <a:rPr lang="en-US" sz="4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𝜷</m:t>
                    </m:r>
                    <m:d>
                      <m:dPr>
                        <m:ctrlPr>
                          <a:rPr lang="pt-BR" sz="3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𝑪𝑫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d>
                                  <m:dPr>
                                    <m:ctrlP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𝑪𝑫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𝑪𝑫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7432ED5-1E4D-03FF-665D-AB4A9817C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5847" y="18394705"/>
                <a:ext cx="6837343" cy="1074653"/>
              </a:xfrm>
              <a:prstGeom prst="rect">
                <a:avLst/>
              </a:prstGeom>
              <a:blipFill>
                <a:blip r:embed="rId17"/>
                <a:stretch>
                  <a:fillRect l="-4456" b="-7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1A4E6C4-B800-418F-7791-03DDF2305DAE}"/>
                  </a:ext>
                </a:extLst>
              </p:cNvPr>
              <p:cNvSpPr txBox="1"/>
              <p:nvPr/>
            </p:nvSpPr>
            <p:spPr>
              <a:xfrm>
                <a:off x="10386669" y="19798661"/>
                <a:ext cx="9670577" cy="258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Tile Grid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𝛀</m:t>
                        </m:r>
                      </m:e>
                      <m:sub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): </a:t>
                </a:r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8 x 8 local grid region scaled by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𝛽</m:t>
                    </m:r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=255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Clip Limit (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𝝉</m:t>
                    </m:r>
                  </m:oMath>
                </a14:m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𝜏</m:t>
                    </m:r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=2.0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suppresses contrast over-amplification and noise in homogeneous bones before normalization.</a:t>
                </a: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1A4E6C4-B800-418F-7791-03DDF2305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669" y="19798661"/>
                <a:ext cx="9670577" cy="2580194"/>
              </a:xfrm>
              <a:prstGeom prst="rect">
                <a:avLst/>
              </a:prstGeom>
              <a:blipFill>
                <a:blip r:embed="rId18"/>
                <a:stretch>
                  <a:fillRect l="-1639" t="-3073" b="-6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Shape 37">
            <a:extLst>
              <a:ext uri="{FF2B5EF4-FFF2-40B4-BE49-F238E27FC236}">
                <a16:creationId xmlns:a16="http://schemas.microsoft.com/office/drawing/2014/main" id="{28211FA6-BAED-A754-29FD-C86635EF9A5D}"/>
              </a:ext>
            </a:extLst>
          </p:cNvPr>
          <p:cNvSpPr/>
          <p:nvPr/>
        </p:nvSpPr>
        <p:spPr>
          <a:xfrm>
            <a:off x="10517139" y="34016736"/>
            <a:ext cx="9692579" cy="7285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F9170B4-8049-8802-6AE7-233C3D2DAF2D}"/>
              </a:ext>
            </a:extLst>
          </p:cNvPr>
          <p:cNvSpPr txBox="1"/>
          <p:nvPr/>
        </p:nvSpPr>
        <p:spPr>
          <a:xfrm>
            <a:off x="10552959" y="34016736"/>
            <a:ext cx="97194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The optimal threshold was found via a grid search with a step size of 0.0002, maximizing the 5-fold cross validation F1-score on the training data, as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93FE8D-4764-1F23-BE19-C742550D5B14}"/>
                  </a:ext>
                </a:extLst>
              </p:cNvPr>
              <p:cNvSpPr txBox="1"/>
              <p:nvPr/>
            </p:nvSpPr>
            <p:spPr>
              <a:xfrm>
                <a:off x="11644745" y="36657578"/>
                <a:ext cx="6837343" cy="593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𝒂𝒓𝒈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𝒎𝒂</m:t>
                      </m:r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𝟑𝟓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𝟔𝟎</m:t>
                              </m:r>
                            </m:e>
                          </m:d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𝝉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693FE8D-4764-1F23-BE19-C742550D5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745" y="36657578"/>
                <a:ext cx="6837343" cy="59362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ED43E620-3607-21D3-0B2F-199332BD20C8}"/>
                  </a:ext>
                </a:extLst>
              </p:cNvPr>
              <p:cNvSpPr txBox="1"/>
              <p:nvPr/>
            </p:nvSpPr>
            <p:spPr>
              <a:xfrm>
                <a:off x="11691931" y="37640681"/>
                <a:ext cx="6837343" cy="11534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𝑻𝑷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𝑻𝑷</m:t>
                          </m:r>
                          <m:d>
                            <m:d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𝑭𝑷</m:t>
                          </m:r>
                          <m:d>
                            <m:d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𝑭𝑵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ED43E620-3607-21D3-0B2F-199332BD2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1931" y="37640681"/>
                <a:ext cx="6837343" cy="115345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8AE888-BE7E-B869-9C2E-12D2C63E2BAF}"/>
                  </a:ext>
                </a:extLst>
              </p:cNvPr>
              <p:cNvSpPr txBox="1"/>
              <p:nvPr/>
            </p:nvSpPr>
            <p:spPr>
              <a:xfrm>
                <a:off x="10597274" y="38816301"/>
                <a:ext cx="9670577" cy="258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Optimal Threshold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𝝉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): </a:t>
                </a:r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Grid search across[0.35, 0.60] yields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𝜏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=0.4787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to maximize 5-fold CV.</a:t>
                </a:r>
              </a:p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Triage Decision Rule</a:t>
                </a:r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: Studies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𝑒𝑛𝑠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≥0.4787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are routed to YOLO11-L as abnormal; others are filtered as normal</a:t>
                </a: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8AE888-BE7E-B869-9C2E-12D2C63E2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274" y="38816301"/>
                <a:ext cx="9670577" cy="2580194"/>
              </a:xfrm>
              <a:prstGeom prst="rect">
                <a:avLst/>
              </a:prstGeom>
              <a:blipFill>
                <a:blip r:embed="rId21"/>
                <a:stretch>
                  <a:fillRect l="-1575" t="-3073" b="-6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Shape 5">
            <a:extLst>
              <a:ext uri="{FF2B5EF4-FFF2-40B4-BE49-F238E27FC236}">
                <a16:creationId xmlns:a16="http://schemas.microsoft.com/office/drawing/2014/main" id="{BD68058F-C391-4961-8942-3B6908A8C7B4}"/>
              </a:ext>
            </a:extLst>
          </p:cNvPr>
          <p:cNvSpPr/>
          <p:nvPr/>
        </p:nvSpPr>
        <p:spPr>
          <a:xfrm>
            <a:off x="20775084" y="31036661"/>
            <a:ext cx="9158844" cy="3222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5" name="Text 8">
            <a:extLst>
              <a:ext uri="{FF2B5EF4-FFF2-40B4-BE49-F238E27FC236}">
                <a16:creationId xmlns:a16="http://schemas.microsoft.com/office/drawing/2014/main" id="{6EFE67C5-5FBA-2678-412D-446DD6EA9239}"/>
              </a:ext>
            </a:extLst>
          </p:cNvPr>
          <p:cNvSpPr/>
          <p:nvPr/>
        </p:nvSpPr>
        <p:spPr>
          <a:xfrm>
            <a:off x="20753118" y="31047176"/>
            <a:ext cx="9158844" cy="320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algn="just" rtl="0">
              <a:spcBef>
                <a:spcPts val="0"/>
              </a:spcBef>
              <a:spcAft>
                <a:spcPts val="0"/>
              </a:spcAft>
            </a:pP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3000" b="0" i="0" spc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3000" b="0" i="0" spc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3000" b="0" i="0" spc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  <a:endParaRPr lang="en-US" sz="3000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44A4261-514D-F725-0343-0A70A0F4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FC80A6C-099F-9A9C-41BF-ADDC865735AF}"/>
              </a:ext>
            </a:extLst>
          </p:cNvPr>
          <p:cNvSpPr txBox="1"/>
          <p:nvPr/>
        </p:nvSpPr>
        <p:spPr>
          <a:xfrm>
            <a:off x="4663308" y="378278"/>
            <a:ext cx="2042160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Sensitivity-Gated Cascade for Compute-Efficient Spinal Lesion Detection in Resource-Constrained Settings</a:t>
            </a:r>
            <a:endParaRPr sz="7200" i="0" u="none" strike="noStrike" cap="none" dirty="0">
              <a:solidFill>
                <a:schemeClr val="tx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7" name="Google Shape;87;p1">
            <a:extLst>
              <a:ext uri="{FF2B5EF4-FFF2-40B4-BE49-F238E27FC236}">
                <a16:creationId xmlns:a16="http://schemas.microsoft.com/office/drawing/2014/main" id="{DFB715F1-625D-94F9-8EA6-D8685F937A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1889" y="264087"/>
            <a:ext cx="4892430" cy="29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CDAEF74B-CFE4-B676-3A43-FC6A60CCFC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60129"/>
          <a:stretch/>
        </p:blipFill>
        <p:spPr>
          <a:xfrm>
            <a:off x="25923321" y="1381960"/>
            <a:ext cx="26107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1531-FF0D-A87E-3773-E986CB5B7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57" y="668633"/>
            <a:ext cx="1938021" cy="16550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CEAD667-53BF-E496-8437-A2A4AA7099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5432" y="722694"/>
            <a:ext cx="1749608" cy="16489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721726-C2C5-DF39-456A-34C509B44768}"/>
              </a:ext>
            </a:extLst>
          </p:cNvPr>
          <p:cNvCxnSpPr>
            <a:cxnSpLocks/>
          </p:cNvCxnSpPr>
          <p:nvPr/>
        </p:nvCxnSpPr>
        <p:spPr>
          <a:xfrm>
            <a:off x="10114981" y="6486877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BF56B7E-06F3-B830-1954-701ACC2951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920" y="34322838"/>
            <a:ext cx="3415315" cy="294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5B8D4C-9F15-0336-32A6-3C287BAAAD6C}"/>
              </a:ext>
            </a:extLst>
          </p:cNvPr>
          <p:cNvSpPr txBox="1"/>
          <p:nvPr/>
        </p:nvSpPr>
        <p:spPr>
          <a:xfrm>
            <a:off x="224358" y="6577048"/>
            <a:ext cx="5489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C412AA-F3D7-BB95-A663-3D4B11699B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139" y="7741578"/>
            <a:ext cx="9604723" cy="68214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95A960-13AF-917B-0B5B-DF37D041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344" y="23784950"/>
            <a:ext cx="9695332" cy="6924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215A67-B21A-1D06-3DAE-1397868293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45" y="30473486"/>
            <a:ext cx="9495274" cy="4210246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5F27CC0C-5792-C8CA-15A2-1EF1FDBDDCB7}"/>
              </a:ext>
            </a:extLst>
          </p:cNvPr>
          <p:cNvGraphicFramePr>
            <a:graphicFrameLocks noGrp="1"/>
          </p:cNvGraphicFramePr>
          <p:nvPr/>
        </p:nvGraphicFramePr>
        <p:xfrm>
          <a:off x="20775087" y="7945500"/>
          <a:ext cx="9231240" cy="3812904"/>
        </p:xfrm>
        <a:graphic>
          <a:graphicData uri="http://schemas.openxmlformats.org/drawingml/2006/table">
            <a:tbl>
              <a:tblPr/>
              <a:tblGrid>
                <a:gridCol w="2365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4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16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AA13C1D3-6345-50FF-D3D7-A3E5AF8BFBA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775085" y="13489257"/>
              <a:ext cx="9307203" cy="5413938"/>
            </p:xfrm>
            <a:graphic>
              <a:graphicData uri="http://schemas.openxmlformats.org/drawingml/2006/table">
                <a:tbl>
                  <a:tblPr/>
                  <a:tblGrid>
                    <a:gridCol w="18146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43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4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1880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63348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34083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19448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511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809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7099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022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455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6034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55429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AA13C1D3-6345-50FF-D3D7-A3E5AF8BFBA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775085" y="13489257"/>
              <a:ext cx="9307203" cy="5413938"/>
            </p:xfrm>
            <a:graphic>
              <a:graphicData uri="http://schemas.openxmlformats.org/drawingml/2006/table">
                <a:tbl>
                  <a:tblPr/>
                  <a:tblGrid>
                    <a:gridCol w="18146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43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4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1880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63348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34083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19448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511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809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77381" t="-3478" r="-632738" b="-68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022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455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6034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824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C0EB79C-7FF0-6832-27D8-9A9C12019C90}"/>
              </a:ext>
            </a:extLst>
          </p:cNvPr>
          <p:cNvSpPr txBox="1"/>
          <p:nvPr/>
        </p:nvSpPr>
        <p:spPr>
          <a:xfrm>
            <a:off x="20775085" y="19014524"/>
            <a:ext cx="9307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narrowing, foraminal stenosis, osteophytes, spondylolisthesis,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surgical implant, vertebral collapse, and other lesions, respectively.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27EAC-2D10-768C-BE1F-1371AA4D9F26}"/>
              </a:ext>
            </a:extLst>
          </p:cNvPr>
          <p:cNvSpPr txBox="1"/>
          <p:nvPr/>
        </p:nvSpPr>
        <p:spPr>
          <a:xfrm>
            <a:off x="20775087" y="7366229"/>
            <a:ext cx="93072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BBE700-4D20-045C-F099-953FCCD5E749}"/>
              </a:ext>
            </a:extLst>
          </p:cNvPr>
          <p:cNvSpPr txBox="1"/>
          <p:nvPr/>
        </p:nvSpPr>
        <p:spPr>
          <a:xfrm>
            <a:off x="20639289" y="12333304"/>
            <a:ext cx="9294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2. The detection performance for each type of spinal lesion.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B8285C-19D8-3C7F-476A-677E241F1767}"/>
              </a:ext>
            </a:extLst>
          </p:cNvPr>
          <p:cNvSpPr txBox="1"/>
          <p:nvPr/>
        </p:nvSpPr>
        <p:spPr>
          <a:xfrm>
            <a:off x="276304" y="7404912"/>
            <a:ext cx="95683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a wide spectrum of spinal pathologies [1].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7E85E-E5DF-CC80-7479-F8A3D1CD7AF2}"/>
              </a:ext>
            </a:extLst>
          </p:cNvPr>
          <p:cNvSpPr txBox="1"/>
          <p:nvPr/>
        </p:nvSpPr>
        <p:spPr>
          <a:xfrm>
            <a:off x="23315834" y="37228982"/>
            <a:ext cx="413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AC00E4-FD0D-307F-FABB-824045AC727E}"/>
              </a:ext>
            </a:extLst>
          </p:cNvPr>
          <p:cNvSpPr txBox="1"/>
          <p:nvPr/>
        </p:nvSpPr>
        <p:spPr>
          <a:xfrm>
            <a:off x="20822782" y="38004584"/>
            <a:ext cx="92595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4BBFAD44-BE23-D58D-B656-F2F1E59BCF24}"/>
              </a:ext>
            </a:extLst>
          </p:cNvPr>
          <p:cNvSpPr/>
          <p:nvPr/>
        </p:nvSpPr>
        <p:spPr>
          <a:xfrm>
            <a:off x="275121" y="11523000"/>
            <a:ext cx="9638353" cy="2101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AA70E12E-EF43-CC3D-6FCB-72CA98EEFFE1}"/>
              </a:ext>
            </a:extLst>
          </p:cNvPr>
          <p:cNvSpPr/>
          <p:nvPr/>
        </p:nvSpPr>
        <p:spPr>
          <a:xfrm>
            <a:off x="238344" y="11545405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062896F0-43D7-C2AB-104C-84066EA8D31C}"/>
              </a:ext>
            </a:extLst>
          </p:cNvPr>
          <p:cNvSpPr/>
          <p:nvPr/>
        </p:nvSpPr>
        <p:spPr>
          <a:xfrm>
            <a:off x="276305" y="11639846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38CEF9E4-0557-5F25-B1D2-DD97124362AE}"/>
              </a:ext>
            </a:extLst>
          </p:cNvPr>
          <p:cNvSpPr/>
          <p:nvPr/>
        </p:nvSpPr>
        <p:spPr>
          <a:xfrm>
            <a:off x="2110435" y="11666534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A305DB71-C3C2-50E3-7C51-88DC4CAA69AC}"/>
              </a:ext>
            </a:extLst>
          </p:cNvPr>
          <p:cNvSpPr/>
          <p:nvPr/>
        </p:nvSpPr>
        <p:spPr>
          <a:xfrm>
            <a:off x="196368" y="12777093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2C03DAEF-4343-E749-503C-835F80D415BF}"/>
              </a:ext>
            </a:extLst>
          </p:cNvPr>
          <p:cNvSpPr/>
          <p:nvPr/>
        </p:nvSpPr>
        <p:spPr>
          <a:xfrm>
            <a:off x="2110435" y="12716429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AF8305-A8AB-74ED-95C1-160D1B54F863}"/>
              </a:ext>
            </a:extLst>
          </p:cNvPr>
          <p:cNvSpPr txBox="1"/>
          <p:nvPr/>
        </p:nvSpPr>
        <p:spPr>
          <a:xfrm>
            <a:off x="224358" y="14132696"/>
            <a:ext cx="775039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96B944A0-7C52-7F89-876E-1318DF7E8F16}"/>
              </a:ext>
            </a:extLst>
          </p:cNvPr>
          <p:cNvSpPr/>
          <p:nvPr/>
        </p:nvSpPr>
        <p:spPr>
          <a:xfrm>
            <a:off x="202114" y="15101662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99F8FD72-9618-759B-8D10-B3C8C8F71F74}"/>
              </a:ext>
            </a:extLst>
          </p:cNvPr>
          <p:cNvSpPr/>
          <p:nvPr/>
        </p:nvSpPr>
        <p:spPr>
          <a:xfrm>
            <a:off x="201727" y="150832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024B830-5558-98EB-0AB0-46FFD0DA4536}"/>
              </a:ext>
            </a:extLst>
          </p:cNvPr>
          <p:cNvSpPr/>
          <p:nvPr/>
        </p:nvSpPr>
        <p:spPr>
          <a:xfrm>
            <a:off x="872545" y="15104716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CD80A37E-2F8E-171E-55E7-8BE43D9C06C0}"/>
              </a:ext>
            </a:extLst>
          </p:cNvPr>
          <p:cNvSpPr/>
          <p:nvPr/>
        </p:nvSpPr>
        <p:spPr>
          <a:xfrm>
            <a:off x="751020" y="15741228"/>
            <a:ext cx="8982598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B258C77B-7BFA-34D0-4DA8-A1B5A8C2C0EE}"/>
              </a:ext>
            </a:extLst>
          </p:cNvPr>
          <p:cNvSpPr/>
          <p:nvPr/>
        </p:nvSpPr>
        <p:spPr>
          <a:xfrm>
            <a:off x="361385" y="19468860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716ACA7E-BC68-3B00-3C22-39F2BC876452}"/>
              </a:ext>
            </a:extLst>
          </p:cNvPr>
          <p:cNvSpPr/>
          <p:nvPr/>
        </p:nvSpPr>
        <p:spPr>
          <a:xfrm>
            <a:off x="721677" y="17166029"/>
            <a:ext cx="5543368" cy="49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7B09AD31-0420-5EA1-A265-40854940FBE4}"/>
              </a:ext>
            </a:extLst>
          </p:cNvPr>
          <p:cNvSpPr/>
          <p:nvPr/>
        </p:nvSpPr>
        <p:spPr>
          <a:xfrm>
            <a:off x="840578" y="17870002"/>
            <a:ext cx="9081073" cy="130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4777A88A-5377-8ADB-2CFE-0BE77C47E443}"/>
              </a:ext>
            </a:extLst>
          </p:cNvPr>
          <p:cNvSpPr/>
          <p:nvPr/>
        </p:nvSpPr>
        <p:spPr>
          <a:xfrm>
            <a:off x="872545" y="19526804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E8979751-AC13-0D53-510D-E1CDD2B169CF}"/>
              </a:ext>
            </a:extLst>
          </p:cNvPr>
          <p:cNvSpPr/>
          <p:nvPr/>
        </p:nvSpPr>
        <p:spPr>
          <a:xfrm>
            <a:off x="690060" y="20108343"/>
            <a:ext cx="9045074" cy="14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C2DD42-A446-ED96-6F5C-17AA02F99194}"/>
              </a:ext>
            </a:extLst>
          </p:cNvPr>
          <p:cNvSpPr txBox="1"/>
          <p:nvPr/>
        </p:nvSpPr>
        <p:spPr>
          <a:xfrm>
            <a:off x="219849" y="21654850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Contributions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32042D85-AF4E-8564-B197-9CD8BE02697E}"/>
              </a:ext>
            </a:extLst>
          </p:cNvPr>
          <p:cNvSpPr/>
          <p:nvPr/>
        </p:nvSpPr>
        <p:spPr>
          <a:xfrm>
            <a:off x="193561" y="22569645"/>
            <a:ext cx="9291587" cy="1826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E7F1F5CE-8230-1C90-23D2-7BED9A7AB677}"/>
              </a:ext>
            </a:extLst>
          </p:cNvPr>
          <p:cNvSpPr/>
          <p:nvPr/>
        </p:nvSpPr>
        <p:spPr>
          <a:xfrm>
            <a:off x="220550" y="22579050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A824B27B-8E66-2121-E9EF-450B2FA567F5}"/>
              </a:ext>
            </a:extLst>
          </p:cNvPr>
          <p:cNvSpPr/>
          <p:nvPr/>
        </p:nvSpPr>
        <p:spPr>
          <a:xfrm>
            <a:off x="258581" y="23043777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B934B344-4300-C59C-ACA0-0EC8FB81D071}"/>
              </a:ext>
            </a:extLst>
          </p:cNvPr>
          <p:cNvSpPr/>
          <p:nvPr/>
        </p:nvSpPr>
        <p:spPr>
          <a:xfrm>
            <a:off x="224768" y="24608244"/>
            <a:ext cx="9311061" cy="208678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083EF452-7A0A-CF5C-A156-B3314C2DADDA}"/>
              </a:ext>
            </a:extLst>
          </p:cNvPr>
          <p:cNvSpPr/>
          <p:nvPr/>
        </p:nvSpPr>
        <p:spPr>
          <a:xfrm>
            <a:off x="275121" y="25146389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class imbalance and localize minute lesions, achieving 40.10% mAP@0.5.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33B989DE-6895-C34F-CEAD-3345F671D973}"/>
              </a:ext>
            </a:extLst>
          </p:cNvPr>
          <p:cNvSpPr/>
          <p:nvPr/>
        </p:nvSpPr>
        <p:spPr>
          <a:xfrm>
            <a:off x="270000" y="26966527"/>
            <a:ext cx="9220596" cy="264375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D7EFE0BB-4BC3-505A-C14E-7B2E4718FFB3}"/>
              </a:ext>
            </a:extLst>
          </p:cNvPr>
          <p:cNvSpPr/>
          <p:nvPr/>
        </p:nvSpPr>
        <p:spPr>
          <a:xfrm>
            <a:off x="270000" y="26900858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081CE218-E10F-60B1-A899-16848CEF7F36}"/>
              </a:ext>
            </a:extLst>
          </p:cNvPr>
          <p:cNvSpPr/>
          <p:nvPr/>
        </p:nvSpPr>
        <p:spPr>
          <a:xfrm>
            <a:off x="304777" y="27534173"/>
            <a:ext cx="9083181" cy="202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 setting.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32CFA3-6AEC-2A21-5BF3-A7C6EE4394F1}"/>
              </a:ext>
            </a:extLst>
          </p:cNvPr>
          <p:cNvSpPr txBox="1"/>
          <p:nvPr/>
        </p:nvSpPr>
        <p:spPr>
          <a:xfrm>
            <a:off x="206011" y="29698858"/>
            <a:ext cx="707293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Spine Lesion Distribution</a:t>
            </a: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2EE3A5A7-F835-4460-8B76-E645B89F7BFC}"/>
              </a:ext>
            </a:extLst>
          </p:cNvPr>
          <p:cNvSpPr/>
          <p:nvPr/>
        </p:nvSpPr>
        <p:spPr>
          <a:xfrm>
            <a:off x="195768" y="1717912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7299AB19-2062-8CE1-E04E-9FCA9D776586}"/>
              </a:ext>
            </a:extLst>
          </p:cNvPr>
          <p:cNvSpPr/>
          <p:nvPr/>
        </p:nvSpPr>
        <p:spPr>
          <a:xfrm>
            <a:off x="195766" y="1714474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6CE6EEAC-D202-6465-E45E-B5DF0842841C}"/>
              </a:ext>
            </a:extLst>
          </p:cNvPr>
          <p:cNvSpPr/>
          <p:nvPr/>
        </p:nvSpPr>
        <p:spPr>
          <a:xfrm>
            <a:off x="258859" y="19455721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52ADF78F-1381-1991-F36B-819125885FB4}"/>
              </a:ext>
            </a:extLst>
          </p:cNvPr>
          <p:cNvSpPr/>
          <p:nvPr/>
        </p:nvSpPr>
        <p:spPr>
          <a:xfrm>
            <a:off x="258860" y="194557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DEAFBE-978B-88A0-F785-B85F66CF9757}"/>
              </a:ext>
            </a:extLst>
          </p:cNvPr>
          <p:cNvSpPr txBox="1"/>
          <p:nvPr/>
        </p:nvSpPr>
        <p:spPr>
          <a:xfrm>
            <a:off x="270001" y="36867523"/>
            <a:ext cx="951991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8,389 training | 2077 test studies</a:t>
            </a:r>
            <a:endParaRPr lang="en-US" sz="32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/>
              <a:t>Pathology Annotation: </a:t>
            </a:r>
            <a:r>
              <a:rPr lang="en-US" sz="3200" dirty="0"/>
              <a:t>15,290 expert-labeled bounding boxes across 7 lesion classes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/>
              <a:t>Severe Class Skew: </a:t>
            </a:r>
            <a:r>
              <a:rPr lang="en-US" sz="3200" dirty="0"/>
              <a:t>Osteophytes comprise 82.1%, while critical findings like Vertebral Collapse represent only 1.8% of all annotations</a:t>
            </a:r>
            <a:endParaRPr lang="en-US" sz="320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200" dirty="0"/>
              <a:t>amid overlapping bone anatomy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FE2B10-3887-ECE7-95D8-BC020FE1E5A4}"/>
              </a:ext>
            </a:extLst>
          </p:cNvPr>
          <p:cNvSpPr txBox="1"/>
          <p:nvPr/>
        </p:nvSpPr>
        <p:spPr>
          <a:xfrm>
            <a:off x="10422122" y="6606149"/>
            <a:ext cx="892745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Proposed Cascaded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D4FCDE-11AC-D968-8A53-D37D8CD0037D}"/>
              </a:ext>
            </a:extLst>
          </p:cNvPr>
          <p:cNvSpPr txBox="1"/>
          <p:nvPr/>
        </p:nvSpPr>
        <p:spPr>
          <a:xfrm>
            <a:off x="10517139" y="14923877"/>
            <a:ext cx="94797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2.  Overview of the cascaded framework for spinal </a:t>
            </a: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triage and localization.</a:t>
            </a: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AE3D764E-F8CD-DC6B-365D-82AC53716B05}"/>
              </a:ext>
            </a:extLst>
          </p:cNvPr>
          <p:cNvSpPr/>
          <p:nvPr/>
        </p:nvSpPr>
        <p:spPr>
          <a:xfrm>
            <a:off x="10429282" y="16310664"/>
            <a:ext cx="9692579" cy="6152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54C371-F973-DC06-3023-482666522ECA}"/>
              </a:ext>
            </a:extLst>
          </p:cNvPr>
          <p:cNvSpPr txBox="1"/>
          <p:nvPr/>
        </p:nvSpPr>
        <p:spPr>
          <a:xfrm>
            <a:off x="10517139" y="22924029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DERNet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3F5A3B4-FBB2-1110-DF95-933B27759A15}"/>
              </a:ext>
            </a:extLst>
          </p:cNvPr>
          <p:cNvSpPr txBox="1"/>
          <p:nvPr/>
        </p:nvSpPr>
        <p:spPr>
          <a:xfrm>
            <a:off x="10592766" y="31085908"/>
            <a:ext cx="94645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Fig. 3.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high-sensitivity radiographic triage. Each backbone (DenseNet121, EfficientNetV2-S, ResNet50) produces independent posterior probabilities via Global Average Pooling and Sigmoid.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78AA284-D558-1165-6FD3-B5D79EC81442}"/>
              </a:ext>
            </a:extLst>
          </p:cNvPr>
          <p:cNvSpPr txBox="1"/>
          <p:nvPr/>
        </p:nvSpPr>
        <p:spPr>
          <a:xfrm>
            <a:off x="10402363" y="16319784"/>
            <a:ext cx="97194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 mitigate radiographic exposure variance CLAHE computes the enhanced intensity by mapping the local CDF as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8F5755E-EE86-2381-EF46-C468B21BCE3C}"/>
              </a:ext>
            </a:extLst>
          </p:cNvPr>
          <p:cNvSpPr txBox="1"/>
          <p:nvPr/>
        </p:nvSpPr>
        <p:spPr>
          <a:xfrm>
            <a:off x="20734293" y="6617681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Results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987D834-3868-AC3C-6C15-C543811C3DEB}"/>
              </a:ext>
            </a:extLst>
          </p:cNvPr>
          <p:cNvSpPr txBox="1"/>
          <p:nvPr/>
        </p:nvSpPr>
        <p:spPr>
          <a:xfrm>
            <a:off x="20822782" y="30225465"/>
            <a:ext cx="3218513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Conclusion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C693211-8DC7-EB73-BDDA-B1FA1C39CCA8}"/>
              </a:ext>
            </a:extLst>
          </p:cNvPr>
          <p:cNvCxnSpPr>
            <a:cxnSpLocks/>
          </p:cNvCxnSpPr>
          <p:nvPr/>
        </p:nvCxnSpPr>
        <p:spPr>
          <a:xfrm>
            <a:off x="20448475" y="6486877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D0E06AC8-A1AE-4BD2-A4BA-7132DBBC9A70}"/>
              </a:ext>
            </a:extLst>
          </p:cNvPr>
          <p:cNvSpPr txBox="1"/>
          <p:nvPr/>
        </p:nvSpPr>
        <p:spPr>
          <a:xfrm>
            <a:off x="238344" y="34827901"/>
            <a:ext cx="96063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Fig. 1. </a:t>
            </a:r>
            <a:r>
              <a:rPr lang="en-US" sz="3000" dirty="0"/>
              <a:t>Severe class imbalance across seven spinal lesion categories in the </a:t>
            </a:r>
            <a:r>
              <a:rPr lang="en-US" sz="3000" dirty="0" err="1"/>
              <a:t>VinDr-SpineXR</a:t>
            </a:r>
            <a:r>
              <a:rPr lang="en-US" sz="3000" dirty="0"/>
              <a:t> training cohort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724B0132-B9E5-7BEF-9CF0-88D13FA499A1}"/>
              </a:ext>
            </a:extLst>
          </p:cNvPr>
          <p:cNvSpPr/>
          <p:nvPr/>
        </p:nvSpPr>
        <p:spPr>
          <a:xfrm>
            <a:off x="20895998" y="34572013"/>
            <a:ext cx="4085710" cy="21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Scan this QR for additional resources including code, data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5FFDF41-B268-7BFE-588B-6903CBC30036}"/>
              </a:ext>
            </a:extLst>
          </p:cNvPr>
          <p:cNvSpPr txBox="1"/>
          <p:nvPr/>
        </p:nvSpPr>
        <p:spPr>
          <a:xfrm>
            <a:off x="20895910" y="20157819"/>
            <a:ext cx="6732297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AI Explainability (XAI)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278E3-D8CB-893C-FA99-7984303437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2782" y="20993326"/>
            <a:ext cx="5319968" cy="3085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1239FC-1615-62E6-3450-902C434754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42750" y="21024150"/>
            <a:ext cx="4106701" cy="3094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776227-472F-1411-6FB9-74DFF4E29D29}"/>
              </a:ext>
            </a:extLst>
          </p:cNvPr>
          <p:cNvSpPr txBox="1"/>
          <p:nvPr/>
        </p:nvSpPr>
        <p:spPr>
          <a:xfrm>
            <a:off x="20753118" y="24171749"/>
            <a:ext cx="93689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4. </a:t>
            </a:r>
            <a:r>
              <a:rPr lang="en-US" sz="3000" dirty="0"/>
              <a:t>Multi-modal XAI validation verifies attention on genuine lesion pathology rather than artifacts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QR code scan icon in flat style. Mobile phone scanning ...">
            <a:extLst>
              <a:ext uri="{FF2B5EF4-FFF2-40B4-BE49-F238E27FC236}">
                <a16:creationId xmlns:a16="http://schemas.microsoft.com/office/drawing/2014/main" id="{4FC82D91-2837-3217-1244-1391AA7A8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8997" y="34765342"/>
            <a:ext cx="1661895" cy="20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stomizable Arrow Icon Designs for Web and App Use">
            <a:extLst>
              <a:ext uri="{FF2B5EF4-FFF2-40B4-BE49-F238E27FC236}">
                <a16:creationId xmlns:a16="http://schemas.microsoft.com/office/drawing/2014/main" id="{1437EAF2-563D-55FD-62BC-CEB8153FF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2545" y="35459441"/>
            <a:ext cx="579784" cy="7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7292CB-40FA-936C-15F9-72DA08704A07}"/>
              </a:ext>
            </a:extLst>
          </p:cNvPr>
          <p:cNvSpPr txBox="1"/>
          <p:nvPr/>
        </p:nvSpPr>
        <p:spPr>
          <a:xfrm>
            <a:off x="20822782" y="25234583"/>
            <a:ext cx="577211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Efficiency &amp; Ablation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09FFCAFA-D58A-C153-45DD-F51B0D8C7F52}"/>
              </a:ext>
            </a:extLst>
          </p:cNvPr>
          <p:cNvSpPr/>
          <p:nvPr/>
        </p:nvSpPr>
        <p:spPr>
          <a:xfrm>
            <a:off x="20895910" y="26251053"/>
            <a:ext cx="2507649" cy="1177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BB41431B-8B76-5194-91E7-392FDEC81D45}"/>
              </a:ext>
            </a:extLst>
          </p:cNvPr>
          <p:cNvSpPr/>
          <p:nvPr/>
        </p:nvSpPr>
        <p:spPr>
          <a:xfrm>
            <a:off x="20902962" y="26389643"/>
            <a:ext cx="2819629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CPU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6E10EB3A-2A81-F554-F861-9A47D2CA531C}"/>
              </a:ext>
            </a:extLst>
          </p:cNvPr>
          <p:cNvSpPr/>
          <p:nvPr/>
        </p:nvSpPr>
        <p:spPr>
          <a:xfrm>
            <a:off x="20869441" y="27715120"/>
            <a:ext cx="250764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130EC179-768F-F1F8-CAB1-9BD8DD853385}"/>
              </a:ext>
            </a:extLst>
          </p:cNvPr>
          <p:cNvSpPr/>
          <p:nvPr/>
        </p:nvSpPr>
        <p:spPr>
          <a:xfrm>
            <a:off x="21064795" y="27760260"/>
            <a:ext cx="2386494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Imbalance Ablation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767C80C6-7D03-9218-8D3A-A69CA2879EF1}"/>
              </a:ext>
            </a:extLst>
          </p:cNvPr>
          <p:cNvSpPr/>
          <p:nvPr/>
        </p:nvSpPr>
        <p:spPr>
          <a:xfrm>
            <a:off x="23415898" y="26247568"/>
            <a:ext cx="6626609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15.4 GFLOPS screening filters </a:t>
            </a:r>
            <a:r>
              <a:rPr lang="en-US" sz="2800" dirty="0" err="1"/>
              <a:t>normals</a:t>
            </a:r>
            <a:r>
              <a:rPr lang="en-US" sz="2800" dirty="0"/>
              <a:t> upfront; heavier 74.6 GFLOPS detector executes on abnormalities for CPU triage.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16BA7C15-2BEF-5F57-D808-9F2C1DE2A4AF}"/>
              </a:ext>
            </a:extLst>
          </p:cNvPr>
          <p:cNvSpPr/>
          <p:nvPr/>
        </p:nvSpPr>
        <p:spPr>
          <a:xfrm>
            <a:off x="20902962" y="29148545"/>
            <a:ext cx="2535154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AECFEBA-AC93-B4BC-DA3C-A76CEA724574}"/>
              </a:ext>
            </a:extLst>
          </p:cNvPr>
          <p:cNvSpPr/>
          <p:nvPr/>
        </p:nvSpPr>
        <p:spPr>
          <a:xfrm>
            <a:off x="23384392" y="27711451"/>
            <a:ext cx="6621936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20% copy-paste lifts mAP@0.5 from 37.70% → 40.10% on rare lesions.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7E1A9873-22C8-5F89-4543-8697E8E8E9DB}"/>
              </a:ext>
            </a:extLst>
          </p:cNvPr>
          <p:cNvSpPr/>
          <p:nvPr/>
        </p:nvSpPr>
        <p:spPr>
          <a:xfrm>
            <a:off x="23481416" y="29169224"/>
            <a:ext cx="6481082" cy="10884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0.61–0.64 mean X-</a:t>
            </a:r>
            <a:r>
              <a:rPr lang="en-US" sz="2800" dirty="0" err="1"/>
              <a:t>IoU</a:t>
            </a:r>
            <a:r>
              <a:rPr lang="en-US" sz="2800" dirty="0"/>
              <a:t> grounds triage to bone margins, safeguarding scarce MRI slots.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1ECE06BC-D9D8-0A3D-16D0-3862E92CC89B}"/>
              </a:ext>
            </a:extLst>
          </p:cNvPr>
          <p:cNvSpPr/>
          <p:nvPr/>
        </p:nvSpPr>
        <p:spPr>
          <a:xfrm>
            <a:off x="20902962" y="29163157"/>
            <a:ext cx="2696987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Anatomical Trust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84;p1">
            <a:extLst>
              <a:ext uri="{FF2B5EF4-FFF2-40B4-BE49-F238E27FC236}">
                <a16:creationId xmlns:a16="http://schemas.microsoft.com/office/drawing/2014/main" id="{6D76D1E5-81B9-E4B0-B319-33D74DC4B1F2}"/>
              </a:ext>
            </a:extLst>
          </p:cNvPr>
          <p:cNvSpPr txBox="1"/>
          <p:nvPr/>
        </p:nvSpPr>
        <p:spPr>
          <a:xfrm>
            <a:off x="3661610" y="3693229"/>
            <a:ext cx="2242499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4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Prosenjit Mondol , Samrat Kumar Dey  and Arpita Howlader</a:t>
            </a:r>
          </a:p>
          <a:p>
            <a:pPr algn="ctr">
              <a:buClr>
                <a:schemeClr val="dk1"/>
              </a:buClr>
              <a:buSzPts val="7200"/>
            </a:pPr>
            <a:r>
              <a:rPr lang="en-US" sz="3200" u="none" strike="noStrike" cap="none" baseline="30000" dirty="0">
                <a:solidFill>
                  <a:schemeClr val="tx1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1</a:t>
            </a:r>
            <a:r>
              <a:rPr lang="en-US" sz="3200" u="none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Faculty of Computer Science and Engineering, Patuakhali Science and Technology University, Dumki 8602, Bangladesh.</a:t>
            </a:r>
          </a:p>
          <a:p>
            <a:pPr algn="ctr">
              <a:buClr>
                <a:schemeClr val="dk1"/>
              </a:buClr>
              <a:buSzPts val="7200"/>
            </a:pPr>
            <a:r>
              <a:rPr lang="en-US" sz="3200" i="0" u="none" strike="noStrike" cap="none" baseline="30000" dirty="0">
                <a:solidFill>
                  <a:schemeClr val="tx1"/>
                </a:solidFill>
                <a:latin typeface="+mj-lt"/>
                <a:ea typeface="Nunito"/>
                <a:cs typeface="Nunito"/>
                <a:sym typeface="Nunito"/>
              </a:rPr>
              <a:t>2</a:t>
            </a:r>
            <a:r>
              <a:rPr lang="en-US" sz="3200" i="0" u="none" strike="noStrike" cap="none" dirty="0">
                <a:solidFill>
                  <a:schemeClr val="tx1"/>
                </a:solidFill>
                <a:latin typeface="+mj-lt"/>
                <a:ea typeface="Nunito"/>
                <a:cs typeface="Nunito"/>
                <a:sym typeface="Nunito"/>
              </a:rPr>
              <a:t>School of Science and Technology, Bangladesh Open University, Gazipur 1705, Bangladesh</a:t>
            </a:r>
            <a:endParaRPr sz="3200" i="0" u="none" strike="noStrike" cap="none" dirty="0">
              <a:solidFill>
                <a:schemeClr val="tx1"/>
              </a:solidFill>
              <a:latin typeface="+mj-lt"/>
              <a:ea typeface="Nunito"/>
              <a:cs typeface="Nunito"/>
              <a:sym typeface="Nuni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81FFE-C163-AD40-81DA-71BC1A056717}"/>
              </a:ext>
            </a:extLst>
          </p:cNvPr>
          <p:cNvSpPr txBox="1"/>
          <p:nvPr/>
        </p:nvSpPr>
        <p:spPr>
          <a:xfrm>
            <a:off x="11091691" y="3675528"/>
            <a:ext cx="41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826D85-6161-9B72-7CFE-E84497E455F7}"/>
              </a:ext>
            </a:extLst>
          </p:cNvPr>
          <p:cNvSpPr txBox="1"/>
          <p:nvPr/>
        </p:nvSpPr>
        <p:spPr>
          <a:xfrm>
            <a:off x="23407112" y="3706134"/>
            <a:ext cx="41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E08DC4-1736-A964-5B07-26BF2FFE3524}"/>
              </a:ext>
            </a:extLst>
          </p:cNvPr>
          <p:cNvSpPr txBox="1"/>
          <p:nvPr/>
        </p:nvSpPr>
        <p:spPr>
          <a:xfrm>
            <a:off x="17074468" y="3722646"/>
            <a:ext cx="491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</a:t>
            </a: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160656C6-B1CE-9E0C-46F8-179CDDFD99B1}"/>
              </a:ext>
            </a:extLst>
          </p:cNvPr>
          <p:cNvSpPr/>
          <p:nvPr/>
        </p:nvSpPr>
        <p:spPr>
          <a:xfrm>
            <a:off x="287560" y="2467950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06A23F46-AC97-CCE8-B06D-2579FCBA9143}"/>
              </a:ext>
            </a:extLst>
          </p:cNvPr>
          <p:cNvSpPr/>
          <p:nvPr/>
        </p:nvSpPr>
        <p:spPr>
          <a:xfrm>
            <a:off x="219849" y="35983187"/>
            <a:ext cx="9624814" cy="68255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Dataset &amp; Cohort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DE2169F-EDF4-0C40-EAB6-2918CE8232B9}"/>
                  </a:ext>
                </a:extLst>
              </p:cNvPr>
              <p:cNvSpPr txBox="1"/>
              <p:nvPr/>
            </p:nvSpPr>
            <p:spPr>
              <a:xfrm>
                <a:off x="11795847" y="18394705"/>
                <a:ext cx="6837343" cy="10746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b="1" i="1" dirty="0"/>
                  <a:t>I’(</a:t>
                </a:r>
                <a:r>
                  <a:rPr lang="en-US" sz="4000" b="1" i="1" dirty="0" err="1"/>
                  <a:t>i</a:t>
                </a:r>
                <a:r>
                  <a:rPr lang="en-US" sz="4000" b="1" i="1" dirty="0"/>
                  <a:t>, j) </a:t>
                </a:r>
                <a14:m>
                  <m:oMath xmlns:m="http://schemas.openxmlformats.org/officeDocument/2006/math">
                    <m:r>
                      <a:rPr lang="en-US" sz="4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𝜷</m:t>
                    </m:r>
                    <m:d>
                      <m:dPr>
                        <m:ctrlPr>
                          <a:rPr lang="pt-BR" sz="3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𝑪𝑫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d>
                                  <m:dPr>
                                    <m:ctrlP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𝑪𝑫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0" smtClean="0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𝑪𝑫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sub>
                            </m:sSub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DE2169F-EDF4-0C40-EAB6-2918CE823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5847" y="18394705"/>
                <a:ext cx="6837343" cy="1074653"/>
              </a:xfrm>
              <a:prstGeom prst="rect">
                <a:avLst/>
              </a:prstGeom>
              <a:blipFill>
                <a:blip r:embed="rId17"/>
                <a:stretch>
                  <a:fillRect l="-4456" b="-7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16243B2-458E-539F-E348-FFEBEF98A787}"/>
                  </a:ext>
                </a:extLst>
              </p:cNvPr>
              <p:cNvSpPr txBox="1"/>
              <p:nvPr/>
            </p:nvSpPr>
            <p:spPr>
              <a:xfrm>
                <a:off x="10386669" y="19798661"/>
                <a:ext cx="9670577" cy="258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Tile Grid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𝛀</m:t>
                        </m:r>
                      </m:e>
                      <m:sub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): </a:t>
                </a:r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8 x 8 local grid region scaled by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𝛽</m:t>
                    </m:r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=255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Clip Limit (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𝝉</m:t>
                    </m:r>
                  </m:oMath>
                </a14:m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𝜏</m:t>
                    </m:r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=2.0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suppresses contrast over-amplification and noise in homogeneous bones before normalization.</a:t>
                </a:r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016243B2-458E-539F-E348-FFEBEF98A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669" y="19798661"/>
                <a:ext cx="9670577" cy="2580194"/>
              </a:xfrm>
              <a:prstGeom prst="rect">
                <a:avLst/>
              </a:prstGeom>
              <a:blipFill>
                <a:blip r:embed="rId18"/>
                <a:stretch>
                  <a:fillRect l="-1639" t="-3073" b="-6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Shape 37">
            <a:extLst>
              <a:ext uri="{FF2B5EF4-FFF2-40B4-BE49-F238E27FC236}">
                <a16:creationId xmlns:a16="http://schemas.microsoft.com/office/drawing/2014/main" id="{5DC78468-F328-B780-0694-E5AA11A3A395}"/>
              </a:ext>
            </a:extLst>
          </p:cNvPr>
          <p:cNvSpPr/>
          <p:nvPr/>
        </p:nvSpPr>
        <p:spPr>
          <a:xfrm>
            <a:off x="10517139" y="34016736"/>
            <a:ext cx="9692579" cy="7285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8EFC5F1-90F9-EF0B-8F09-C9B02B4C0BC0}"/>
              </a:ext>
            </a:extLst>
          </p:cNvPr>
          <p:cNvSpPr txBox="1"/>
          <p:nvPr/>
        </p:nvSpPr>
        <p:spPr>
          <a:xfrm>
            <a:off x="10552959" y="34016736"/>
            <a:ext cx="97194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The optimal threshold was found via a grid search with a step size of 0.0002, maximizing the 5-fold cross validation F1-score on the training data, as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B6B287D-804C-3AF6-A373-312E4E97F75C}"/>
                  </a:ext>
                </a:extLst>
              </p:cNvPr>
              <p:cNvSpPr txBox="1"/>
              <p:nvPr/>
            </p:nvSpPr>
            <p:spPr>
              <a:xfrm>
                <a:off x="11644745" y="36657578"/>
                <a:ext cx="6837343" cy="593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𝒂𝒓𝒈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𝒎𝒂</m:t>
                      </m:r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𝟑𝟓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𝟔𝟎</m:t>
                              </m:r>
                            </m:e>
                          </m:d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𝝉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B6B287D-804C-3AF6-A373-312E4E97F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745" y="36657578"/>
                <a:ext cx="6837343" cy="59362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BFD94F2-C503-18E9-26AA-7806276DB38A}"/>
                  </a:ext>
                </a:extLst>
              </p:cNvPr>
              <p:cNvSpPr txBox="1"/>
              <p:nvPr/>
            </p:nvSpPr>
            <p:spPr>
              <a:xfrm>
                <a:off x="11691931" y="37640681"/>
                <a:ext cx="6837343" cy="11534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𝑻𝑷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𝑻𝑷</m:t>
                          </m:r>
                          <m:d>
                            <m:d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𝑭𝑷</m:t>
                          </m:r>
                          <m:d>
                            <m:d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𝑭𝑵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BFD94F2-C503-18E9-26AA-7806276DB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1931" y="37640681"/>
                <a:ext cx="6837343" cy="115345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1F7B6E5-5C8B-3234-1C6D-328897743A2A}"/>
                  </a:ext>
                </a:extLst>
              </p:cNvPr>
              <p:cNvSpPr txBox="1"/>
              <p:nvPr/>
            </p:nvSpPr>
            <p:spPr>
              <a:xfrm>
                <a:off x="10597274" y="38816301"/>
                <a:ext cx="9670577" cy="258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Optimal Threshold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𝝉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): </a:t>
                </a:r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Grid search across[0.35, 0.60] yields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𝜏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=0.4787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to maximize 5-fold CV.</a:t>
                </a:r>
              </a:p>
              <a:p>
                <a:pPr marL="0" indent="0">
                  <a:spcAft>
                    <a:spcPts val="200"/>
                  </a:spcAft>
                  <a:buNone/>
                </a:pPr>
                <a:r>
                  <a:rPr lang="en-US" sz="3200" b="1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Triage Decision Rule</a:t>
                </a:r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: Studies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1A1F3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Arial" panose="020B0604020202020204" pitchFamily="34" charset="0"/>
                          </a:rPr>
                          <m:t>𝑒𝑛𝑠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1A1F3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Arial" panose="020B0604020202020204" pitchFamily="34" charset="0"/>
                      </a:rPr>
                      <m:t>≥0.4787</m:t>
                    </m:r>
                  </m:oMath>
                </a14:m>
                <a:r>
                  <a:rPr lang="en-US" sz="3200" dirty="0">
                    <a:solidFill>
                      <a:srgbClr val="1A1F36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 are routed to YOLO11-L as abnormal; others are filtered as normal</a:t>
                </a: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1F7B6E5-5C8B-3234-1C6D-328897743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274" y="38816301"/>
                <a:ext cx="9670577" cy="2580194"/>
              </a:xfrm>
              <a:prstGeom prst="rect">
                <a:avLst/>
              </a:prstGeom>
              <a:blipFill>
                <a:blip r:embed="rId21"/>
                <a:stretch>
                  <a:fillRect l="-1575" t="-3073" b="-6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Shape 5">
            <a:extLst>
              <a:ext uri="{FF2B5EF4-FFF2-40B4-BE49-F238E27FC236}">
                <a16:creationId xmlns:a16="http://schemas.microsoft.com/office/drawing/2014/main" id="{F9DFB82F-0995-9B7B-4FA6-A4B468A9E91D}"/>
              </a:ext>
            </a:extLst>
          </p:cNvPr>
          <p:cNvSpPr/>
          <p:nvPr/>
        </p:nvSpPr>
        <p:spPr>
          <a:xfrm>
            <a:off x="20775084" y="31036661"/>
            <a:ext cx="9158844" cy="3222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5" name="Text 8">
            <a:extLst>
              <a:ext uri="{FF2B5EF4-FFF2-40B4-BE49-F238E27FC236}">
                <a16:creationId xmlns:a16="http://schemas.microsoft.com/office/drawing/2014/main" id="{86E659CB-19A4-919B-58CF-906834BF160D}"/>
              </a:ext>
            </a:extLst>
          </p:cNvPr>
          <p:cNvSpPr/>
          <p:nvPr/>
        </p:nvSpPr>
        <p:spPr>
          <a:xfrm>
            <a:off x="20753118" y="31047176"/>
            <a:ext cx="9158844" cy="320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algn="just" rtl="0">
              <a:spcBef>
                <a:spcPts val="0"/>
              </a:spcBef>
              <a:spcAft>
                <a:spcPts val="0"/>
              </a:spcAft>
            </a:pP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3000" b="0" i="0" spc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3000" b="0" i="0" spc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3000" b="0" i="0" spc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3000" b="0" i="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  <a:endParaRPr lang="en-US" sz="3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77699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2115</Words>
  <Application>Microsoft Office PowerPoint</Application>
  <PresentationFormat>Custom</PresentationFormat>
  <Paragraphs>379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Play</vt:lpstr>
      <vt:lpstr>Cambria Math</vt:lpstr>
      <vt:lpstr>Nunito</vt:lpstr>
      <vt:lpstr>Arial</vt:lpstr>
      <vt:lpstr>Mona Sans VF</vt:lpstr>
      <vt:lpstr>Inter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Mert Seven - Dekon Congress &amp; Tourism</dc:creator>
  <cp:lastModifiedBy>Prosenjit mondol</cp:lastModifiedBy>
  <cp:revision>37</cp:revision>
  <dcterms:created xsi:type="dcterms:W3CDTF">2026-07-27T09:56:02Z</dcterms:created>
  <dcterms:modified xsi:type="dcterms:W3CDTF">2026-09-14T20:16:58Z</dcterms:modified>
</cp:coreProperties>
</file>