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67275" cy="42794238"/>
  <p:notesSz cx="6858000" cy="9144000"/>
  <p:embeddedFontLst>
    <p:embeddedFont>
      <p:font typeface="Cambria Math" panose="02040503050406030204" pitchFamily="18" charset="0"/>
      <p:regular r:id="rId4"/>
    </p:embeddedFont>
    <p:embeddedFont>
      <p:font typeface="Nunito" pitchFamily="2" charset="0"/>
      <p:regular r:id="rId5"/>
      <p:bold r:id="rId6"/>
      <p:italic r:id="rId7"/>
      <p:boldItalic r:id="rId8"/>
    </p:embeddedFont>
    <p:embeddedFont>
      <p:font typeface="Play" panose="020B0604020202020204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i4tA5eJSa7q9FVs5vkRo3Z2gCn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79" autoAdjust="0"/>
  </p:normalViewPr>
  <p:slideViewPr>
    <p:cSldViewPr snapToGrid="0">
      <p:cViewPr>
        <p:scale>
          <a:sx n="33" d="100"/>
          <a:sy n="33" d="100"/>
        </p:scale>
        <p:origin x="730" y="-5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2270046" y="7003597"/>
            <a:ext cx="25727184" cy="14898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1"/>
              <a:buFont typeface="Play"/>
              <a:buNone/>
              <a:defRPr sz="1986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783410" y="22476884"/>
            <a:ext cx="22700456" cy="1033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7944"/>
              <a:buNone/>
              <a:defRPr sz="7944"/>
            </a:lvl1pPr>
            <a:lvl2pPr lvl="1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None/>
              <a:defRPr sz="6620"/>
            </a:lvl2pPr>
            <a:lvl3pPr lvl="2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None/>
              <a:defRPr sz="5958"/>
            </a:lvl3pPr>
            <a:lvl4pPr lvl="3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4pPr>
            <a:lvl5pPr lvl="4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5pPr>
            <a:lvl6pPr lvl="5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6pPr>
            <a:lvl7pPr lvl="6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7pPr>
            <a:lvl8pPr lvl="7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8pPr>
            <a:lvl9pPr lvl="8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2065112" y="10668854"/>
            <a:ext cx="26105525" cy="17801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1"/>
              <a:buFont typeface="Play"/>
              <a:buNone/>
              <a:defRPr sz="1986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2065112" y="28638472"/>
            <a:ext cx="26105525" cy="9361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rgbClr val="757575"/>
              </a:buClr>
              <a:buSzPts val="7944"/>
              <a:buNone/>
              <a:defRPr sz="7944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6620"/>
              <a:buNone/>
              <a:defRPr sz="662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958"/>
              <a:buNone/>
              <a:defRPr sz="5958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2080875" y="11391985"/>
            <a:ext cx="12863592" cy="271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15322808" y="11391985"/>
            <a:ext cx="12863592" cy="271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2084817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2084821" y="10490535"/>
            <a:ext cx="12804474" cy="514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7944"/>
              <a:buNone/>
              <a:defRPr sz="7944" b="1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None/>
              <a:defRPr sz="6620" b="1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None/>
              <a:defRPr sz="5958" b="1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2084821" y="15631784"/>
            <a:ext cx="12804474" cy="229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5322810" y="10490535"/>
            <a:ext cx="12867534" cy="514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7944"/>
              <a:buNone/>
              <a:defRPr sz="7944" b="1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None/>
              <a:defRPr sz="6620" b="1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None/>
              <a:defRPr sz="5958" b="1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5322810" y="15631784"/>
            <a:ext cx="12867534" cy="229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2"/>
              <a:buFont typeface="Play"/>
              <a:buNone/>
              <a:defRPr sz="1059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2867534" y="6161587"/>
            <a:ext cx="15322808" cy="3041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901192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0592"/>
              <a:buChar char="•"/>
              <a:defRPr sz="10592"/>
            </a:lvl1pPr>
            <a:lvl2pPr marL="914400" lvl="1" indent="-817118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9268"/>
              <a:buChar char="•"/>
              <a:defRPr sz="9268"/>
            </a:lvl2pPr>
            <a:lvl3pPr marL="1371600" lvl="2" indent="-733044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4"/>
              <a:buChar char="•"/>
              <a:defRPr sz="7944"/>
            </a:lvl3pPr>
            <a:lvl4pPr marL="1828800" lvl="3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4pPr>
            <a:lvl5pPr marL="2286000" lvl="4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5pPr>
            <a:lvl6pPr marL="2743200" lvl="5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6pPr>
            <a:lvl7pPr marL="3200400" lvl="6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7pPr>
            <a:lvl8pPr marL="3657600" lvl="7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8pPr>
            <a:lvl9pPr marL="4114800" lvl="8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084817" y="12838271"/>
            <a:ext cx="9761984" cy="2378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4634"/>
              <a:buNone/>
              <a:defRPr sz="4634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972"/>
              <a:buNone/>
              <a:defRPr sz="3972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2"/>
              <a:buFont typeface="Play"/>
              <a:buNone/>
              <a:defRPr sz="1059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2867534" y="6161587"/>
            <a:ext cx="15322808" cy="30411646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084817" y="12838271"/>
            <a:ext cx="9761984" cy="2378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4634"/>
              <a:buNone/>
              <a:defRPr sz="4634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972"/>
              <a:buNone/>
              <a:defRPr sz="3972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1557362" y="11915498"/>
            <a:ext cx="27152551" cy="2610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6790141" y="17148276"/>
            <a:ext cx="36266139" cy="652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6451791" y="10811065"/>
            <a:ext cx="36266139" cy="19200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64"/>
              <a:buFont typeface="Play"/>
              <a:buNone/>
              <a:defRPr sz="14564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17118" algn="l" rtl="0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9268"/>
              <a:buFont typeface="Arial"/>
              <a:buChar char="•"/>
              <a:defRPr sz="92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733044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4"/>
              <a:buFont typeface="Arial"/>
              <a:buChar char="•"/>
              <a:defRPr sz="794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4897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Font typeface="Arial"/>
              <a:buChar char="•"/>
              <a:defRPr sz="66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jpe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389120" y="1009415"/>
            <a:ext cx="20972462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7200"/>
            </a:pPr>
            <a:r>
              <a:rPr lang="en-US" sz="7200" b="1" i="0" dirty="0">
                <a:solidFill>
                  <a:srgbClr val="2C3A4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Sensitivity-Gated Cascade for Compute-Efficient Spinal Lesion Detection in Resource-Constrained Settings</a:t>
            </a:r>
            <a:endParaRPr sz="7200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6448950" y="12016150"/>
            <a:ext cx="13884600" cy="16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268">
              <a:solidFill>
                <a:schemeClr val="dk1"/>
              </a:solidFill>
            </a:endParaRPr>
          </a:p>
        </p:txBody>
      </p:sp>
      <p:pic>
        <p:nvPicPr>
          <p:cNvPr id="87" name="Google Shape;87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61583" y="1870188"/>
            <a:ext cx="4892430" cy="299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60129"/>
          <a:stretch/>
        </p:blipFill>
        <p:spPr>
          <a:xfrm>
            <a:off x="25963015" y="2988061"/>
            <a:ext cx="2610750" cy="11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9C53BB-AAAA-8C39-D7E9-EABB55E7FA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966" y="1190331"/>
            <a:ext cx="2935954" cy="250725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E46F0EC-6D62-205E-C5DC-9A457E9273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374" y="3718149"/>
            <a:ext cx="2795546" cy="26346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6D2E9E-74F7-0D15-FBC9-C4D8EBBA1201}"/>
                  </a:ext>
                </a:extLst>
              </p:cNvPr>
              <p:cNvSpPr txBox="1"/>
              <p:nvPr/>
            </p:nvSpPr>
            <p:spPr>
              <a:xfrm>
                <a:off x="4389120" y="4483450"/>
                <a:ext cx="20972463" cy="2093458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4800" b="1" i="1" smtClean="0">
                            <a:solidFill>
                              <a:srgbClr val="2C3A4A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4800" b="1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Prosenjit</m:t>
                        </m:r>
                        <m:r>
                          <m:rPr>
                            <m:nor/>
                          </m:rPr>
                          <a:rPr lang="en-US" sz="4800" b="1" i="0" dirty="0" smtClean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800" b="1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Mondol</m:t>
                        </m:r>
                      </m:e>
                      <m:sup>
                        <m:r>
                          <a:rPr lang="en-US" sz="4800" b="1" i="1" smtClean="0">
                            <a:solidFill>
                              <a:srgbClr val="2C3A4A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4800" b="1" i="0" dirty="0">
                    <a:solidFill>
                      <a:srgbClr val="2C3A4A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800" b="1" i="1">
                            <a:solidFill>
                              <a:srgbClr val="2C3A4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4800" b="1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Samrat</m:t>
                        </m:r>
                        <m:r>
                          <m:rPr>
                            <m:nor/>
                          </m:rPr>
                          <a:rPr lang="en-US" sz="4800" b="1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800" b="1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KumarDey</m:t>
                        </m:r>
                      </m:e>
                      <m:sup>
                        <m:r>
                          <a:rPr lang="en-US" sz="4800" b="1" i="1" dirty="0" smtClean="0">
                            <a:solidFill>
                              <a:srgbClr val="2C3A4A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4800" b="1" i="0" dirty="0">
                    <a:solidFill>
                      <a:srgbClr val="2C3A4A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4800" b="1" dirty="0">
                    <a:solidFill>
                      <a:srgbClr val="2C3A4A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b="1" i="0" smtClean="0">
                            <a:latin typeface="Cambria Math" panose="02040503050406030204" pitchFamily="18" charset="0"/>
                          </a:rPr>
                          <m:t>𝐀𝐫𝐩𝐢𝐭𝐚</m:t>
                        </m:r>
                        <m:r>
                          <a:rPr lang="en-US" sz="48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800" b="1" i="0" smtClean="0">
                            <a:latin typeface="Cambria Math" panose="02040503050406030204" pitchFamily="18" charset="0"/>
                          </a:rPr>
                          <m:t>𝐇𝐨𝐰𝐥𝐝𝐞𝐫</m:t>
                        </m:r>
                      </m:e>
                      <m:sup>
                        <m:r>
                          <a:rPr lang="en-US" sz="48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en-US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31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Faculty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Computer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Science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Engineering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Patuakhali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Science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TechnologyUniversity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Dumki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8602, 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Bangladesh</m:t>
                        </m:r>
                        <m:r>
                          <a:rPr lang="en-US" sz="31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;</m:t>
                        </m:r>
                      </m:sub>
                    </m:sSub>
                  </m:oMath>
                </a14:m>
                <a:r>
                  <a:rPr lang="en-US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1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School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Science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Technology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Bangladesh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Open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University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Gazipur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1705, </m:t>
                        </m:r>
                        <m:r>
                          <m:rPr>
                            <m:nor/>
                          </m:rPr>
                          <a:rPr lang="en-US" sz="31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Bangladesh</m:t>
                        </m:r>
                      </m:sub>
                    </m:sSub>
                  </m:oMath>
                </a14:m>
                <a:endParaRPr lang="en-US" sz="3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6D2E9E-74F7-0D15-FBC9-C4D8EBBA1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0" y="4483450"/>
                <a:ext cx="20972463" cy="2093458"/>
              </a:xfrm>
              <a:prstGeom prst="rect">
                <a:avLst/>
              </a:prstGeom>
              <a:blipFill>
                <a:blip r:embed="rId8"/>
                <a:stretch>
                  <a:fillRect l="-465" t="-6105" r="-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0A17FA-5572-2D2B-4022-3CCABD718E64}"/>
              </a:ext>
            </a:extLst>
          </p:cNvPr>
          <p:cNvCxnSpPr>
            <a:cxnSpLocks/>
          </p:cNvCxnSpPr>
          <p:nvPr/>
        </p:nvCxnSpPr>
        <p:spPr>
          <a:xfrm>
            <a:off x="10152579" y="7711440"/>
            <a:ext cx="56295" cy="35082798"/>
          </a:xfrm>
          <a:prstGeom prst="line">
            <a:avLst/>
          </a:prstGeom>
          <a:ln w="19050"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C096304-B7F6-2333-03D6-BA2BEEC065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5702" y="35637992"/>
            <a:ext cx="3498617" cy="29417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845CE99-08A7-907E-BA96-C3A389385CA0}"/>
              </a:ext>
            </a:extLst>
          </p:cNvPr>
          <p:cNvSpPr txBox="1"/>
          <p:nvPr/>
        </p:nvSpPr>
        <p:spPr>
          <a:xfrm>
            <a:off x="152493" y="7801611"/>
            <a:ext cx="54896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Motivation</a:t>
            </a:r>
            <a:endParaRPr lang="en-US" sz="4000" b="1" u="sng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CC3DB02-DC46-2591-C5C9-CD1098DD91F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375" y="8782116"/>
            <a:ext cx="10406736" cy="70054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B72953-CA6F-BBD8-F143-88178F7AC5D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6930" y="21873411"/>
            <a:ext cx="10270404" cy="69246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590AA1-F173-E3BC-5A31-181F101BDA9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64" y="31605208"/>
            <a:ext cx="9981663" cy="4526235"/>
          </a:xfrm>
          <a:prstGeom prst="rect">
            <a:avLst/>
          </a:prstGeom>
        </p:spPr>
      </p:pic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EFB3864A-4EC4-D6C1-7044-94EC2F4A5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611990"/>
              </p:ext>
            </p:extLst>
          </p:nvPr>
        </p:nvGraphicFramePr>
        <p:xfrm>
          <a:off x="20574541" y="9170063"/>
          <a:ext cx="9693270" cy="3812904"/>
        </p:xfrm>
        <a:graphic>
          <a:graphicData uri="http://schemas.openxmlformats.org/drawingml/2006/table">
            <a:tbl>
              <a:tblPr/>
              <a:tblGrid>
                <a:gridCol w="2484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3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8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Method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AUROC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F1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Sens.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Spec.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0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EfficientNetV2-S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89.44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79.34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70.80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91.12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5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Res</a:t>
                      </a: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Net50</a:t>
                      </a:r>
                      <a:endParaRPr lang="en-US" sz="1600" b="1" dirty="0">
                        <a:solidFill>
                          <a:srgbClr val="1A1F36"/>
                        </a:solidFill>
                        <a:latin typeface="Arial" panose="020B0604020202020204" pitchFamily="34" charset="0"/>
                        <a:ea typeface="Calibri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88.88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80.15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82.72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78.13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DenseNet121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86.93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79.55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80.39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79..32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VinDr</a:t>
                      </a: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 Ensemble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88.61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81.06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83.07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79.32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HealNNet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88.84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81.20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-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-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DERNet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91.03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83.09</a:t>
                      </a:r>
                      <a:endParaRPr lang="en-US" sz="16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84.91</a:t>
                      </a:r>
                      <a:endParaRPr lang="en-US" sz="16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81.68</a:t>
                      </a:r>
                      <a:endParaRPr lang="en-US" sz="16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0">
                <a:extLst>
                  <a:ext uri="{FF2B5EF4-FFF2-40B4-BE49-F238E27FC236}">
                    <a16:creationId xmlns:a16="http://schemas.microsoft.com/office/drawing/2014/main" id="{0A920211-EC0A-8643-881C-F134858D64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9502429"/>
                  </p:ext>
                </p:extLst>
              </p:nvPr>
            </p:nvGraphicFramePr>
            <p:xfrm>
              <a:off x="20646667" y="14713820"/>
              <a:ext cx="9620608" cy="5418840"/>
            </p:xfrm>
            <a:graphic>
              <a:graphicData uri="http://schemas.openxmlformats.org/drawingml/2006/table">
                <a:tbl>
                  <a:tblPr/>
                  <a:tblGrid>
                    <a:gridCol w="18757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588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344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52923">
                      <a:extLst>
                        <a:ext uri="{9D8B030D-6E8A-4147-A177-3AD203B41FA5}">
                          <a16:colId xmlns:a16="http://schemas.microsoft.com/office/drawing/2014/main" val="1530680538"/>
                        </a:ext>
                      </a:extLst>
                    </a:gridCol>
                    <a:gridCol w="892420">
                      <a:extLst>
                        <a:ext uri="{9D8B030D-6E8A-4147-A177-3AD203B41FA5}">
                          <a16:colId xmlns:a16="http://schemas.microsoft.com/office/drawing/2014/main" val="8149937"/>
                        </a:ext>
                      </a:extLst>
                    </a:gridCol>
                    <a:gridCol w="862169">
                      <a:extLst>
                        <a:ext uri="{9D8B030D-6E8A-4147-A177-3AD203B41FA5}">
                          <a16:colId xmlns:a16="http://schemas.microsoft.com/office/drawing/2014/main" val="585533846"/>
                        </a:ext>
                      </a:extLst>
                    </a:gridCol>
                    <a:gridCol w="847042">
                      <a:extLst>
                        <a:ext uri="{9D8B030D-6E8A-4147-A177-3AD203B41FA5}">
                          <a16:colId xmlns:a16="http://schemas.microsoft.com/office/drawing/2014/main" val="626836204"/>
                        </a:ext>
                      </a:extLst>
                    </a:gridCol>
                    <a:gridCol w="98317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1393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70546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Method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0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  <m:t>𝐋𝐓𝟐</m:t>
                                    </m:r>
                                  </m:e>
                                  <m:sup>
                                    <m:r>
                                      <a:rPr lang="en-US" sz="2000" b="1" i="0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  <m:t>(∗)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i="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A00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LT4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LT6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LT8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LT10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LT11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LT13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Map@0.5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9045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RetinaNet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14.53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25.35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51.85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28.09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25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Faster R-CNN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22.66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65.22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6457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Sparse R-CNN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20.09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48.16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45.32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72.20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VinDr-SpineXR</a:t>
                          </a:r>
                          <a:endParaRPr lang="en-US" sz="1600" b="1" dirty="0">
                            <a:solidFill>
                              <a:srgbClr val="1A1F36"/>
                            </a:solidFill>
                            <a:latin typeface="Arial" panose="020B0604020202020204" pitchFamily="34" charset="0"/>
                            <a:ea typeface="Calibri" pitchFamily="34" charset="-122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21.43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27.36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41.29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62.53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33.56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marR="0" lvl="0" indent="0" algn="l" defTabSz="3026755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EGCA-Net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29.75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36.73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44.69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66.58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50.41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9373921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YOLO12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24.60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3.04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YOLO26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23.60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37.50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67.30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9772512"/>
                      </a:ext>
                    </a:extLst>
                  </a:tr>
                  <a:tr h="398893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Ours (YOLO11-L)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26.70</a:t>
                          </a:r>
                          <a:endParaRPr lang="en-US" sz="16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41.40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54.80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74.10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40.10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0">
                <a:extLst>
                  <a:ext uri="{FF2B5EF4-FFF2-40B4-BE49-F238E27FC236}">
                    <a16:creationId xmlns:a16="http://schemas.microsoft.com/office/drawing/2014/main" id="{0A920211-EC0A-8643-881C-F134858D64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9502429"/>
                  </p:ext>
                </p:extLst>
              </p:nvPr>
            </p:nvGraphicFramePr>
            <p:xfrm>
              <a:off x="20646667" y="14713820"/>
              <a:ext cx="9620608" cy="5418840"/>
            </p:xfrm>
            <a:graphic>
              <a:graphicData uri="http://schemas.openxmlformats.org/drawingml/2006/table">
                <a:tbl>
                  <a:tblPr/>
                  <a:tblGrid>
                    <a:gridCol w="18757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588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344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52923">
                      <a:extLst>
                        <a:ext uri="{9D8B030D-6E8A-4147-A177-3AD203B41FA5}">
                          <a16:colId xmlns:a16="http://schemas.microsoft.com/office/drawing/2014/main" val="1530680538"/>
                        </a:ext>
                      </a:extLst>
                    </a:gridCol>
                    <a:gridCol w="892420">
                      <a:extLst>
                        <a:ext uri="{9D8B030D-6E8A-4147-A177-3AD203B41FA5}">
                          <a16:colId xmlns:a16="http://schemas.microsoft.com/office/drawing/2014/main" val="8149937"/>
                        </a:ext>
                      </a:extLst>
                    </a:gridCol>
                    <a:gridCol w="862169">
                      <a:extLst>
                        <a:ext uri="{9D8B030D-6E8A-4147-A177-3AD203B41FA5}">
                          <a16:colId xmlns:a16="http://schemas.microsoft.com/office/drawing/2014/main" val="585533846"/>
                        </a:ext>
                      </a:extLst>
                    </a:gridCol>
                    <a:gridCol w="847042">
                      <a:extLst>
                        <a:ext uri="{9D8B030D-6E8A-4147-A177-3AD203B41FA5}">
                          <a16:colId xmlns:a16="http://schemas.microsoft.com/office/drawing/2014/main" val="626836204"/>
                        </a:ext>
                      </a:extLst>
                    </a:gridCol>
                    <a:gridCol w="98317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1393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Method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177011" t="-3478" r="-631609" b="-6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LT4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LT6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LT8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LT10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LT11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LT13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Map@0.5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9045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RetinaNet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14.53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25.35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51.85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28.09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25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Faster R-CNN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22.66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65.22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6457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Sparse R-CNN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20.09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48.16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45.32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72.20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VinDr-SpineXR</a:t>
                          </a:r>
                          <a:endParaRPr lang="en-US" sz="1600" b="1" dirty="0">
                            <a:solidFill>
                              <a:srgbClr val="1A1F36"/>
                            </a:solidFill>
                            <a:latin typeface="Arial" panose="020B0604020202020204" pitchFamily="34" charset="0"/>
                            <a:ea typeface="Calibri" pitchFamily="34" charset="-122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21.43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27.36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41.29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62.53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33.56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marR="0" lvl="0" indent="0" algn="l" defTabSz="3026755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EGCA-Net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29.75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36.73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44.69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66.58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50.41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9373921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YOLO12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24.60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3.04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YOLO26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23.60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37.50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67.30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9772512"/>
                      </a:ext>
                    </a:extLst>
                  </a:tr>
                  <a:tr h="398893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Ours (YOLO11-L)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26.70</a:t>
                          </a:r>
                          <a:endParaRPr lang="en-US" sz="16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41.40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54.80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74.10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40.10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441467-B8D7-ED82-C0E3-A02AACB3B740}"/>
              </a:ext>
            </a:extLst>
          </p:cNvPr>
          <p:cNvSpPr txBox="1"/>
          <p:nvPr/>
        </p:nvSpPr>
        <p:spPr>
          <a:xfrm>
            <a:off x="20574541" y="20179897"/>
            <a:ext cx="9679253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(*) LT2, LT4, LT6, LT8, LT10, LT11, and LT13 denote disc space </a:t>
            </a:r>
          </a:p>
          <a:p>
            <a:pPr algn="ctr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narrowing, foraminal stenosis, osteophytes, spondylolisthesis, </a:t>
            </a:r>
          </a:p>
          <a:p>
            <a:pPr algn="ctr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surgical implant, vertebral collapse, and other lesions, respectively.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30ECD2-D404-6E64-68E8-51A87DCCCC6F}"/>
              </a:ext>
            </a:extLst>
          </p:cNvPr>
          <p:cNvSpPr txBox="1"/>
          <p:nvPr/>
        </p:nvSpPr>
        <p:spPr>
          <a:xfrm>
            <a:off x="20526078" y="8590792"/>
            <a:ext cx="89482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Table 1. Classification performance comparison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D2E8DC-96C1-42C8-C7FE-28EA14015E37}"/>
              </a:ext>
            </a:extLst>
          </p:cNvPr>
          <p:cNvSpPr txBox="1"/>
          <p:nvPr/>
        </p:nvSpPr>
        <p:spPr>
          <a:xfrm>
            <a:off x="20584980" y="13275901"/>
            <a:ext cx="92720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Table 2. Comparison results of different methods.</a:t>
            </a:r>
          </a:p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The detection performance for each type of spinal </a:t>
            </a:r>
          </a:p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lesion is evaluated by AP (%) at 0.5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IoU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threshold.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90238F-E99B-9BFB-B97A-F2DD468EB913}"/>
              </a:ext>
            </a:extLst>
          </p:cNvPr>
          <p:cNvSpPr txBox="1"/>
          <p:nvPr/>
        </p:nvSpPr>
        <p:spPr>
          <a:xfrm>
            <a:off x="0" y="8629475"/>
            <a:ext cx="1014548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Spinal radiographs serve as the primary screening modality for a wide spectrum of spinal pathologies [1evaluating]. This visual ambiguity induces high inter-observer variability and elevates the risk of delayed diagnoses, which can precipitate irreversible neurological sequelae.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3187CA-6BD0-A72D-FB0B-91CC39EDFFF5}"/>
              </a:ext>
            </a:extLst>
          </p:cNvPr>
          <p:cNvSpPr txBox="1"/>
          <p:nvPr/>
        </p:nvSpPr>
        <p:spPr>
          <a:xfrm>
            <a:off x="23353432" y="38453545"/>
            <a:ext cx="41368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REFERENCES</a:t>
            </a:r>
            <a:endParaRPr lang="en-US" sz="32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14EAAA-1E1D-1C4D-65CF-60915C2AB7A1}"/>
              </a:ext>
            </a:extLst>
          </p:cNvPr>
          <p:cNvSpPr txBox="1"/>
          <p:nvPr/>
        </p:nvSpPr>
        <p:spPr>
          <a:xfrm>
            <a:off x="20668020" y="39229147"/>
            <a:ext cx="95782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[1] A deep learning framework for spinal lesions detection and classification from radiographs. pages 291–301. Springer, 2021.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[2]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VinDr-SpineXR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A large annotated medical image dataset for spinal lesions detection and classification from radiographs. PhysioNet, August 2021. Version 1.0.0.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[3] Sparse r-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End-to-end object detection with learnable proposals. In Proceedings of the IEEE/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CVFconference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2021.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[4] Federated vision transformer with adaptive focal loss for medical image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classifica-tion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Knowledge-Based Systems, 2026.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[5] Elizabeth A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Krupinski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Kevin 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Berbaum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RT Caldwell, KM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Schartz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and J Kim. Long radiology workdays reduce detection and accommodation accuracy.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[6]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Healnnet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-lesions: A deep learning framework for spinal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lesiondetection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demonstrating x-ray images as a screening alternative to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mri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withdeep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learning in radiology. 2025</a:t>
            </a:r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B0E7BCFD-9118-8F65-301D-0D93CE68F78F}"/>
              </a:ext>
            </a:extLst>
          </p:cNvPr>
          <p:cNvSpPr/>
          <p:nvPr/>
        </p:nvSpPr>
        <p:spPr>
          <a:xfrm>
            <a:off x="163191" y="12747563"/>
            <a:ext cx="9787882" cy="21012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91DE328F-D272-4E33-9B30-FAF1163A75F4}"/>
              </a:ext>
            </a:extLst>
          </p:cNvPr>
          <p:cNvSpPr/>
          <p:nvPr/>
        </p:nvSpPr>
        <p:spPr>
          <a:xfrm>
            <a:off x="185956" y="12769025"/>
            <a:ext cx="98432" cy="2097212"/>
          </a:xfrm>
          <a:prstGeom prst="rect">
            <a:avLst/>
          </a:prstGeom>
          <a:solidFill>
            <a:srgbClr val="7A0019"/>
          </a:solidFill>
          <a:ln/>
        </p:spPr>
        <p:txBody>
          <a:bodyPr/>
          <a:lstStyle/>
          <a:p>
            <a:endParaRPr lang="en-US">
              <a:solidFill>
                <a:srgbClr val="7A0019"/>
              </a:solidFill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A2EEB0D8-FE75-D516-465E-9467C5465008}"/>
              </a:ext>
            </a:extLst>
          </p:cNvPr>
          <p:cNvSpPr/>
          <p:nvPr/>
        </p:nvSpPr>
        <p:spPr>
          <a:xfrm>
            <a:off x="313903" y="12864409"/>
            <a:ext cx="1834130" cy="60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46.9 : 1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24AECD59-6022-278C-8A45-44A3F1C7DA99}"/>
              </a:ext>
            </a:extLst>
          </p:cNvPr>
          <p:cNvSpPr/>
          <p:nvPr/>
        </p:nvSpPr>
        <p:spPr>
          <a:xfrm>
            <a:off x="2148033" y="12891097"/>
            <a:ext cx="7679478" cy="912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class imbalance ratio between majority (82.1%) and critical minority lesions </a:t>
            </a:r>
            <a:r>
              <a:rPr lang="en-US" sz="3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[2]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E9142D63-88F4-0E5F-5411-60885E95A497}"/>
              </a:ext>
            </a:extLst>
          </p:cNvPr>
          <p:cNvSpPr/>
          <p:nvPr/>
        </p:nvSpPr>
        <p:spPr>
          <a:xfrm>
            <a:off x="233966" y="14001656"/>
            <a:ext cx="1834130" cy="60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&lt;1%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ACD0DE5B-2FC4-291A-8579-340C35B6D8DE}"/>
              </a:ext>
            </a:extLst>
          </p:cNvPr>
          <p:cNvSpPr/>
          <p:nvPr/>
        </p:nvSpPr>
        <p:spPr>
          <a:xfrm>
            <a:off x="2148033" y="13940992"/>
            <a:ext cx="7679478" cy="912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of the radiograph field-of-view occupied by minute, subtle pathologies </a:t>
            </a:r>
            <a:r>
              <a:rPr lang="en-US" sz="3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[2]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238624-C9DF-7C76-370D-63D35B0BF716}"/>
              </a:ext>
            </a:extLst>
          </p:cNvPr>
          <p:cNvSpPr txBox="1"/>
          <p:nvPr/>
        </p:nvSpPr>
        <p:spPr>
          <a:xfrm>
            <a:off x="175946" y="15357440"/>
            <a:ext cx="7750399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Gaps in Current Approaches</a:t>
            </a:r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FFBDBA42-3ECD-18C9-2530-44D4E9187652}"/>
              </a:ext>
            </a:extLst>
          </p:cNvPr>
          <p:cNvSpPr/>
          <p:nvPr/>
        </p:nvSpPr>
        <p:spPr>
          <a:xfrm>
            <a:off x="146161" y="16357284"/>
            <a:ext cx="480055" cy="475449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9C946251-796C-FB6A-1BDB-DC9F4FF9EF69}"/>
              </a:ext>
            </a:extLst>
          </p:cNvPr>
          <p:cNvSpPr/>
          <p:nvPr/>
        </p:nvSpPr>
        <p:spPr>
          <a:xfrm>
            <a:off x="145774" y="163388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B13C1EE9-1833-1FF7-F35D-2F053588D291}"/>
              </a:ext>
            </a:extLst>
          </p:cNvPr>
          <p:cNvSpPr/>
          <p:nvPr/>
        </p:nvSpPr>
        <p:spPr>
          <a:xfrm>
            <a:off x="816592" y="16360338"/>
            <a:ext cx="6951599" cy="38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Sensitivity-Specificity Trade-Off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7686367F-4B47-0275-A43A-50AFD59F8DE2}"/>
              </a:ext>
            </a:extLst>
          </p:cNvPr>
          <p:cNvSpPr/>
          <p:nvPr/>
        </p:nvSpPr>
        <p:spPr>
          <a:xfrm>
            <a:off x="788618" y="16965791"/>
            <a:ext cx="8982598" cy="100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Monolithic models trigger high false positives or miss critical subtle lesions under data skew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[3]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8B74E5A5-B994-3300-FB67-1897D910BBD4}"/>
              </a:ext>
            </a:extLst>
          </p:cNvPr>
          <p:cNvSpPr/>
          <p:nvPr/>
        </p:nvSpPr>
        <p:spPr>
          <a:xfrm>
            <a:off x="278081" y="20695711"/>
            <a:ext cx="449577" cy="491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E2FE89B5-58EA-567B-785C-AD348BBD77FA}"/>
              </a:ext>
            </a:extLst>
          </p:cNvPr>
          <p:cNvSpPr/>
          <p:nvPr/>
        </p:nvSpPr>
        <p:spPr>
          <a:xfrm>
            <a:off x="698356" y="18391810"/>
            <a:ext cx="5543368" cy="49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Extreme Class Imbalance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65D6154E-6010-10BE-6F8B-4A4632E682C2}"/>
              </a:ext>
            </a:extLst>
          </p:cNvPr>
          <p:cNvSpPr/>
          <p:nvPr/>
        </p:nvSpPr>
        <p:spPr>
          <a:xfrm>
            <a:off x="817257" y="19095783"/>
            <a:ext cx="9081073" cy="1309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Minute pathologies (&lt;1% FOV) are easily obscured by bone superposition and dominant classes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[4-5]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66ABC248-384E-ACD2-D7B1-F67E8398E00B}"/>
              </a:ext>
            </a:extLst>
          </p:cNvPr>
          <p:cNvSpPr/>
          <p:nvPr/>
        </p:nvSpPr>
        <p:spPr>
          <a:xfrm>
            <a:off x="789241" y="20753655"/>
            <a:ext cx="6951599" cy="38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  Computational Overhead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B7F9091F-D324-3599-9B16-5195DF1F7F63}"/>
              </a:ext>
            </a:extLst>
          </p:cNvPr>
          <p:cNvSpPr/>
          <p:nvPr/>
        </p:nvSpPr>
        <p:spPr>
          <a:xfrm>
            <a:off x="727658" y="21332906"/>
            <a:ext cx="9045074" cy="143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Running heavy detectors on normal screening X-rays prevents CPU deployment in low-resource clinics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[1,6]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39809-B2C6-7D65-8636-4CA4368187F3}"/>
              </a:ext>
            </a:extLst>
          </p:cNvPr>
          <p:cNvSpPr txBox="1"/>
          <p:nvPr/>
        </p:nvSpPr>
        <p:spPr>
          <a:xfrm>
            <a:off x="165602" y="22970993"/>
            <a:ext cx="5526388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Contributions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EFC30B78-4010-9300-3BCB-BB152F881246}"/>
              </a:ext>
            </a:extLst>
          </p:cNvPr>
          <p:cNvSpPr/>
          <p:nvPr/>
        </p:nvSpPr>
        <p:spPr>
          <a:xfrm>
            <a:off x="110926" y="23703477"/>
            <a:ext cx="9291587" cy="1826175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189804B1-420A-EDB7-B8BC-77C1A1F23757}"/>
              </a:ext>
            </a:extLst>
          </p:cNvPr>
          <p:cNvSpPr/>
          <p:nvPr/>
        </p:nvSpPr>
        <p:spPr>
          <a:xfrm>
            <a:off x="137915" y="23712882"/>
            <a:ext cx="9037717" cy="39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Sensitivity-Gated Cascade </a:t>
            </a:r>
            <a:r>
              <a:rPr lang="en-US" sz="3200" b="1" dirty="0" err="1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DERNet</a:t>
            </a: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Framework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9086BA29-FD87-304C-96BE-CBB2850997B7}"/>
              </a:ext>
            </a:extLst>
          </p:cNvPr>
          <p:cNvSpPr/>
          <p:nvPr/>
        </p:nvSpPr>
        <p:spPr>
          <a:xfrm>
            <a:off x="175946" y="24177609"/>
            <a:ext cx="9037717" cy="1313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Heterogeneous ensemble of DenseNet121, EfficientNetV2-S, and ResNet50 with weighted soft voting, achieving 91.03% AUROC to filter normal studies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48063B66-5F0B-1414-A17B-1560C92C618A}"/>
              </a:ext>
            </a:extLst>
          </p:cNvPr>
          <p:cNvSpPr/>
          <p:nvPr/>
        </p:nvSpPr>
        <p:spPr>
          <a:xfrm>
            <a:off x="142133" y="25742076"/>
            <a:ext cx="9311061" cy="2086786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8887FF11-D85C-5E7B-9B48-77120B62BCAE}"/>
              </a:ext>
            </a:extLst>
          </p:cNvPr>
          <p:cNvSpPr/>
          <p:nvPr/>
        </p:nvSpPr>
        <p:spPr>
          <a:xfrm>
            <a:off x="218460" y="25737587"/>
            <a:ext cx="8463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Attention-Guided Localization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A8189E88-4099-8C27-0483-39C63ED7BC0E}"/>
              </a:ext>
            </a:extLst>
          </p:cNvPr>
          <p:cNvSpPr/>
          <p:nvPr/>
        </p:nvSpPr>
        <p:spPr>
          <a:xfrm>
            <a:off x="192486" y="26280221"/>
            <a:ext cx="9128465" cy="1404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Customized YOLO11-L with CSP-Darknet and C2PSA attention to overcome severe 46.9:1 class imbalance and localize minute lesions, achieving 40.10% mAP@0.5.</a:t>
            </a: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9F9966B1-DDB7-DA84-5C14-46076A52BAEC}"/>
              </a:ext>
            </a:extLst>
          </p:cNvPr>
          <p:cNvSpPr/>
          <p:nvPr/>
        </p:nvSpPr>
        <p:spPr>
          <a:xfrm>
            <a:off x="187365" y="28100359"/>
            <a:ext cx="9220596" cy="2643759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E8A80E10-96C9-6B3E-9910-19A3A2DCC551}"/>
              </a:ext>
            </a:extLst>
          </p:cNvPr>
          <p:cNvSpPr/>
          <p:nvPr/>
        </p:nvSpPr>
        <p:spPr>
          <a:xfrm>
            <a:off x="215027" y="28126094"/>
            <a:ext cx="8463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Transparent &amp; Compute-Efficient Inference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00549C5-5906-819D-7EBF-3A59655A99BE}"/>
              </a:ext>
            </a:extLst>
          </p:cNvPr>
          <p:cNvSpPr/>
          <p:nvPr/>
        </p:nvSpPr>
        <p:spPr>
          <a:xfrm>
            <a:off x="190462" y="28698244"/>
            <a:ext cx="9083181" cy="202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Integrates multi-modal explainability Saliency Maps, Grad-CAM, and LIME quantitatively grounded to authentic lesions, coupled with a staged pipeline optimized for practical CPU deployment in resource-constrained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E1692B-4A98-67F6-F944-23E7456852F0}"/>
              </a:ext>
            </a:extLst>
          </p:cNvPr>
          <p:cNvSpPr txBox="1"/>
          <p:nvPr/>
        </p:nvSpPr>
        <p:spPr>
          <a:xfrm>
            <a:off x="95417" y="30916977"/>
            <a:ext cx="5526388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Data Descriptions</a:t>
            </a:r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44BE269D-A344-28ED-29E2-B2B8EAECDFF9}"/>
              </a:ext>
            </a:extLst>
          </p:cNvPr>
          <p:cNvSpPr/>
          <p:nvPr/>
        </p:nvSpPr>
        <p:spPr>
          <a:xfrm>
            <a:off x="-30247" y="37357995"/>
            <a:ext cx="10175733" cy="66172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825A7078-B457-0EAB-B77E-2DEED28AD7D5}"/>
              </a:ext>
            </a:extLst>
          </p:cNvPr>
          <p:cNvSpPr/>
          <p:nvPr/>
        </p:nvSpPr>
        <p:spPr>
          <a:xfrm>
            <a:off x="137915" y="37330975"/>
            <a:ext cx="8560618" cy="673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DATASET &amp; COHORT SUMMARY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8958A682-89DE-BC9D-24ED-6FEA877E26B5}"/>
              </a:ext>
            </a:extLst>
          </p:cNvPr>
          <p:cNvSpPr/>
          <p:nvPr/>
        </p:nvSpPr>
        <p:spPr>
          <a:xfrm>
            <a:off x="172447" y="18404903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320F8BA4-0207-26A1-ADF0-17102185835F}"/>
              </a:ext>
            </a:extLst>
          </p:cNvPr>
          <p:cNvSpPr/>
          <p:nvPr/>
        </p:nvSpPr>
        <p:spPr>
          <a:xfrm>
            <a:off x="172445" y="18370522"/>
            <a:ext cx="449577" cy="491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Shape 22">
            <a:extLst>
              <a:ext uri="{FF2B5EF4-FFF2-40B4-BE49-F238E27FC236}">
                <a16:creationId xmlns:a16="http://schemas.microsoft.com/office/drawing/2014/main" id="{4C597398-FB67-E155-25B1-9EE604394E6F}"/>
              </a:ext>
            </a:extLst>
          </p:cNvPr>
          <p:cNvSpPr/>
          <p:nvPr/>
        </p:nvSpPr>
        <p:spPr>
          <a:xfrm>
            <a:off x="175555" y="20682572"/>
            <a:ext cx="480057" cy="457198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D56D177E-A9A1-E27F-C5B1-B808008E04F1}"/>
              </a:ext>
            </a:extLst>
          </p:cNvPr>
          <p:cNvSpPr/>
          <p:nvPr/>
        </p:nvSpPr>
        <p:spPr>
          <a:xfrm>
            <a:off x="175556" y="206825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5A6FF18-3E02-EA35-2947-F2416B118AEF}"/>
              </a:ext>
            </a:extLst>
          </p:cNvPr>
          <p:cNvSpPr txBox="1"/>
          <p:nvPr/>
        </p:nvSpPr>
        <p:spPr>
          <a:xfrm>
            <a:off x="3160" y="38122421"/>
            <a:ext cx="10220311" cy="462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Source: </a:t>
            </a:r>
            <a:r>
              <a:rPr lang="en-US" sz="3200" dirty="0" err="1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VinDr-SpineXR</a:t>
            </a:r>
            <a:r>
              <a:rPr lang="en-US" sz="3200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v1.0.0 (PhysioNet)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Cohort: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10,466 spinal radiographs ( 8,389 train | 2,077 test )</a:t>
            </a:r>
            <a:endParaRPr lang="en-US" sz="3200" dirty="0">
              <a:solidFill>
                <a:srgbClr val="1A1F36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Expert Labels: </a:t>
            </a:r>
            <a:r>
              <a:rPr lang="en-US" sz="3200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Radiologist-annotated bounding boxes across 7 lesion categories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46.9:1 Imbalance: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Osteophytes (82.1%, n = 12,556) vs. Collapse (1.8%, n = 268) 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Minute Scale: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Subtle lesions occupy &lt;1% FOV (&lt;32×32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px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3200" b="1" dirty="0">
              <a:solidFill>
                <a:srgbClr val="1A1F36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A28CA0-4870-DE99-367C-F1C510B83F0B}"/>
              </a:ext>
            </a:extLst>
          </p:cNvPr>
          <p:cNvSpPr txBox="1"/>
          <p:nvPr/>
        </p:nvSpPr>
        <p:spPr>
          <a:xfrm>
            <a:off x="10360097" y="7863077"/>
            <a:ext cx="5869865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Cascaded</a:t>
            </a:r>
            <a:r>
              <a:rPr lang="en-US" sz="40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Framework</a:t>
            </a:r>
            <a:endParaRPr lang="en-US" sz="39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04C7EF-5E41-C289-F389-AD186D89017C}"/>
              </a:ext>
            </a:extLst>
          </p:cNvPr>
          <p:cNvSpPr txBox="1"/>
          <p:nvPr/>
        </p:nvSpPr>
        <p:spPr>
          <a:xfrm>
            <a:off x="10293608" y="15996592"/>
            <a:ext cx="116845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Fig. 2.  Overview of the cascaded framework for spinal </a:t>
            </a:r>
          </a:p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lesion triage and localization.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5E2E174-BF90-4055-4FD8-6BD258B5CD2C}"/>
              </a:ext>
            </a:extLst>
          </p:cNvPr>
          <p:cNvSpPr txBox="1"/>
          <p:nvPr/>
        </p:nvSpPr>
        <p:spPr>
          <a:xfrm>
            <a:off x="10384068" y="17485180"/>
            <a:ext cx="3308474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Methods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73" name="Text 4">
            <a:extLst>
              <a:ext uri="{FF2B5EF4-FFF2-40B4-BE49-F238E27FC236}">
                <a16:creationId xmlns:a16="http://schemas.microsoft.com/office/drawing/2014/main" id="{B7D147D0-AD89-42D3-D1F4-5DE786E5FFDD}"/>
              </a:ext>
            </a:extLst>
          </p:cNvPr>
          <p:cNvSpPr/>
          <p:nvPr/>
        </p:nvSpPr>
        <p:spPr>
          <a:xfrm>
            <a:off x="10410380" y="18402288"/>
            <a:ext cx="8927459" cy="666891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Two-Stage Hierarchical Decoupling</a:t>
            </a:r>
          </a:p>
        </p:txBody>
      </p:sp>
      <p:sp>
        <p:nvSpPr>
          <p:cNvPr id="74" name="Shape 5">
            <a:extLst>
              <a:ext uri="{FF2B5EF4-FFF2-40B4-BE49-F238E27FC236}">
                <a16:creationId xmlns:a16="http://schemas.microsoft.com/office/drawing/2014/main" id="{6AEAC80F-3887-ABEB-34E9-71C7D9A7FAA9}"/>
              </a:ext>
            </a:extLst>
          </p:cNvPr>
          <p:cNvSpPr/>
          <p:nvPr/>
        </p:nvSpPr>
        <p:spPr>
          <a:xfrm>
            <a:off x="10468148" y="19361227"/>
            <a:ext cx="4694443" cy="9601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6">
            <a:extLst>
              <a:ext uri="{FF2B5EF4-FFF2-40B4-BE49-F238E27FC236}">
                <a16:creationId xmlns:a16="http://schemas.microsoft.com/office/drawing/2014/main" id="{66E651E1-16E4-97BB-3FBA-979DB5E4438F}"/>
              </a:ext>
            </a:extLst>
          </p:cNvPr>
          <p:cNvSpPr/>
          <p:nvPr/>
        </p:nvSpPr>
        <p:spPr>
          <a:xfrm>
            <a:off x="10468149" y="19362099"/>
            <a:ext cx="1188720" cy="960120"/>
          </a:xfrm>
          <a:prstGeom prst="rect">
            <a:avLst/>
          </a:prstGeom>
          <a:solidFill>
            <a:srgbClr val="7A00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">
            <a:extLst>
              <a:ext uri="{FF2B5EF4-FFF2-40B4-BE49-F238E27FC236}">
                <a16:creationId xmlns:a16="http://schemas.microsoft.com/office/drawing/2014/main" id="{40D4B765-BF84-F344-32D3-34D623DCB311}"/>
              </a:ext>
            </a:extLst>
          </p:cNvPr>
          <p:cNvSpPr/>
          <p:nvPr/>
        </p:nvSpPr>
        <p:spPr>
          <a:xfrm>
            <a:off x="10468149" y="19362099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S₁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 8">
            <a:extLst>
              <a:ext uri="{FF2B5EF4-FFF2-40B4-BE49-F238E27FC236}">
                <a16:creationId xmlns:a16="http://schemas.microsoft.com/office/drawing/2014/main" id="{12561A3B-DBAC-5484-5AE5-DC55968AAA17}"/>
              </a:ext>
            </a:extLst>
          </p:cNvPr>
          <p:cNvSpPr/>
          <p:nvPr/>
        </p:nvSpPr>
        <p:spPr>
          <a:xfrm>
            <a:off x="11655670" y="19360355"/>
            <a:ext cx="3477967" cy="931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DERNet</a:t>
            </a:r>
            <a:r>
              <a:rPr lang="en-US" sz="36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Triage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Shape 5">
            <a:extLst>
              <a:ext uri="{FF2B5EF4-FFF2-40B4-BE49-F238E27FC236}">
                <a16:creationId xmlns:a16="http://schemas.microsoft.com/office/drawing/2014/main" id="{B42AE1D5-5C32-747A-D528-C0B4D3A0E61A}"/>
              </a:ext>
            </a:extLst>
          </p:cNvPr>
          <p:cNvSpPr/>
          <p:nvPr/>
        </p:nvSpPr>
        <p:spPr>
          <a:xfrm>
            <a:off x="15531898" y="19362099"/>
            <a:ext cx="4558897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">
            <a:extLst>
              <a:ext uri="{FF2B5EF4-FFF2-40B4-BE49-F238E27FC236}">
                <a16:creationId xmlns:a16="http://schemas.microsoft.com/office/drawing/2014/main" id="{793DA440-91EB-A442-B5F0-C3377B4EAF73}"/>
              </a:ext>
            </a:extLst>
          </p:cNvPr>
          <p:cNvSpPr/>
          <p:nvPr/>
        </p:nvSpPr>
        <p:spPr>
          <a:xfrm>
            <a:off x="15531899" y="19362099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D091B0EF-A173-882D-93DD-30812D40AECE}"/>
              </a:ext>
            </a:extLst>
          </p:cNvPr>
          <p:cNvSpPr/>
          <p:nvPr/>
        </p:nvSpPr>
        <p:spPr>
          <a:xfrm>
            <a:off x="16691861" y="19490188"/>
            <a:ext cx="3398934" cy="794193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Detector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Shape 11">
            <a:extLst>
              <a:ext uri="{FF2B5EF4-FFF2-40B4-BE49-F238E27FC236}">
                <a16:creationId xmlns:a16="http://schemas.microsoft.com/office/drawing/2014/main" id="{F68BBA69-CC63-9109-F7D2-CAD354A1F873}"/>
              </a:ext>
            </a:extLst>
          </p:cNvPr>
          <p:cNvSpPr/>
          <p:nvPr/>
        </p:nvSpPr>
        <p:spPr>
          <a:xfrm>
            <a:off x="15525828" y="19356958"/>
            <a:ext cx="1188720" cy="96012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12">
            <a:extLst>
              <a:ext uri="{FF2B5EF4-FFF2-40B4-BE49-F238E27FC236}">
                <a16:creationId xmlns:a16="http://schemas.microsoft.com/office/drawing/2014/main" id="{CD7FE4D5-B8B6-A239-8556-46A417EADA57}"/>
              </a:ext>
            </a:extLst>
          </p:cNvPr>
          <p:cNvSpPr/>
          <p:nvPr/>
        </p:nvSpPr>
        <p:spPr>
          <a:xfrm>
            <a:off x="15589555" y="19380046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S₂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Shape 37">
            <a:extLst>
              <a:ext uri="{FF2B5EF4-FFF2-40B4-BE49-F238E27FC236}">
                <a16:creationId xmlns:a16="http://schemas.microsoft.com/office/drawing/2014/main" id="{0E927E40-C038-65C3-C3C1-0E4E787D27DD}"/>
              </a:ext>
            </a:extLst>
          </p:cNvPr>
          <p:cNvSpPr/>
          <p:nvPr/>
        </p:nvSpPr>
        <p:spPr>
          <a:xfrm>
            <a:off x="10251157" y="31953299"/>
            <a:ext cx="10287159" cy="40870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4A6DD75-A289-1991-EF22-6C2922CC0E11}"/>
              </a:ext>
            </a:extLst>
          </p:cNvPr>
          <p:cNvSpPr txBox="1"/>
          <p:nvPr/>
        </p:nvSpPr>
        <p:spPr>
          <a:xfrm>
            <a:off x="10426692" y="20923183"/>
            <a:ext cx="5869865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 err="1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DERNet</a:t>
            </a:r>
            <a:r>
              <a:rPr lang="en-US" sz="40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Framework</a:t>
            </a:r>
            <a:endParaRPr lang="en-US" sz="39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23E52E0-7AB7-3DC7-0A6A-7B9DC1AD7D8E}"/>
              </a:ext>
            </a:extLst>
          </p:cNvPr>
          <p:cNvSpPr txBox="1"/>
          <p:nvPr/>
        </p:nvSpPr>
        <p:spPr>
          <a:xfrm>
            <a:off x="10306559" y="28810926"/>
            <a:ext cx="1021160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Fig. 3.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DERNet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probabilistic ensemble architecture for sensitivity radiographic triage. Each backbone (DenseNet121, EfficientNetV2-S, ResNet50) produces independent posterior probabilities via Global Average Pooling and Sigmoid.</a:t>
            </a:r>
          </a:p>
        </p:txBody>
      </p:sp>
      <p:sp>
        <p:nvSpPr>
          <p:cNvPr id="95" name="Text 38">
            <a:extLst>
              <a:ext uri="{FF2B5EF4-FFF2-40B4-BE49-F238E27FC236}">
                <a16:creationId xmlns:a16="http://schemas.microsoft.com/office/drawing/2014/main" id="{76CDFC1D-787A-E454-913E-5ED2CF1E7EE7}"/>
              </a:ext>
            </a:extLst>
          </p:cNvPr>
          <p:cNvSpPr/>
          <p:nvPr/>
        </p:nvSpPr>
        <p:spPr>
          <a:xfrm>
            <a:off x="10348376" y="32128906"/>
            <a:ext cx="10148724" cy="55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Composite Objective &amp; Focal Formulation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53E3C14-9C65-CD0C-8DCB-B00CD1F9CA31}"/>
                  </a:ext>
                </a:extLst>
              </p:cNvPr>
              <p:cNvSpPr txBox="1"/>
              <p:nvPr/>
            </p:nvSpPr>
            <p:spPr>
              <a:xfrm>
                <a:off x="10470260" y="33825417"/>
                <a:ext cx="8989192" cy="6065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𝒕𝒐𝒕𝒂𝒍</m:t>
                          </m:r>
                        </m:sub>
                      </m:sSub>
                      <m:r>
                        <a:rPr lang="en-US" sz="3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3600" b="1" i="1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𝒃𝒐𝒙</m:t>
                          </m:r>
                        </m:sub>
                      </m:sSub>
                      <m:sSub>
                        <m:sSubPr>
                          <m:ctrlPr>
                            <a:rPr lang="en-US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𝑪𝑰𝒐𝑼</m:t>
                          </m:r>
                        </m:sub>
                      </m:sSub>
                      <m:r>
                        <a:rPr lang="en-US" sz="3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3600" b="1" i="1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𝒄𝒍𝒔</m:t>
                          </m:r>
                        </m:sub>
                      </m:sSub>
                      <m:sSub>
                        <m:sSubPr>
                          <m:ctrlPr>
                            <a:rPr lang="en-US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𝑭𝒐𝒄𝒂𝒍</m:t>
                          </m:r>
                        </m:sub>
                      </m:sSub>
                      <m:r>
                        <a:rPr lang="en-US" sz="3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3600" b="1" i="1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𝒅𝒇𝒍</m:t>
                          </m:r>
                        </m:sub>
                      </m:sSub>
                      <m:sSub>
                        <m:sSubPr>
                          <m:ctrlPr>
                            <a:rPr lang="en-US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𝑫𝑭𝑳</m:t>
                          </m:r>
                        </m:sub>
                      </m:sSub>
                    </m:oMath>
                  </m:oMathPara>
                </a14:m>
                <a:endParaRPr lang="en-US" sz="3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53E3C14-9C65-CD0C-8DCB-B00CD1F9C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0260" y="33825417"/>
                <a:ext cx="8989192" cy="60651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25F9FB2-804C-22E8-606E-FF4F23690FC2}"/>
                  </a:ext>
                </a:extLst>
              </p:cNvPr>
              <p:cNvSpPr txBox="1"/>
              <p:nvPr/>
            </p:nvSpPr>
            <p:spPr>
              <a:xfrm>
                <a:off x="10588721" y="32971890"/>
                <a:ext cx="5798126" cy="6038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𝑭𝑳</m:t>
                        </m:r>
                      </m:e>
                      <m:sub>
                        <m:d>
                          <m:dPr>
                            <m:ctrlPr>
                              <a:rPr lang="en-US" sz="3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sz="3600" b="1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l-GR" sz="3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36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sSup>
                      <m:sSupPr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6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l-GR" sz="3600" b="1" i="1">
                            <a:latin typeface="Cambria Math" panose="02040503050406030204" pitchFamily="18" charset="0"/>
                          </a:rPr>
                          <m:t>𝜸</m:t>
                        </m:r>
                      </m:sup>
                    </m:sSup>
                    <m:r>
                      <a:rPr lang="en-US" sz="3600" b="1" i="1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sz="3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3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25F9FB2-804C-22E8-606E-FF4F23690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8721" y="32971890"/>
                <a:ext cx="5798126" cy="6038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92B5503C-FC3B-4438-E8F7-3F206DFD060B}"/>
              </a:ext>
            </a:extLst>
          </p:cNvPr>
          <p:cNvSpPr txBox="1"/>
          <p:nvPr/>
        </p:nvSpPr>
        <p:spPr>
          <a:xfrm>
            <a:off x="10240606" y="34719358"/>
            <a:ext cx="102792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Suppresses easy negative background gradients to anchor optimization on rare foreground lesions.</a:t>
            </a:r>
            <a:endParaRPr lang="en-US" sz="32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Shape 21">
            <a:extLst>
              <a:ext uri="{FF2B5EF4-FFF2-40B4-BE49-F238E27FC236}">
                <a16:creationId xmlns:a16="http://schemas.microsoft.com/office/drawing/2014/main" id="{E8E049B8-4F11-4C7A-F3A0-B283BDDB2F7D}"/>
              </a:ext>
            </a:extLst>
          </p:cNvPr>
          <p:cNvSpPr/>
          <p:nvPr/>
        </p:nvSpPr>
        <p:spPr>
          <a:xfrm>
            <a:off x="10465207" y="36333310"/>
            <a:ext cx="10073109" cy="112272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0" name="Shape 22">
            <a:extLst>
              <a:ext uri="{FF2B5EF4-FFF2-40B4-BE49-F238E27FC236}">
                <a16:creationId xmlns:a16="http://schemas.microsoft.com/office/drawing/2014/main" id="{10553141-6171-5F99-1F22-02E55C4A66F1}"/>
              </a:ext>
            </a:extLst>
          </p:cNvPr>
          <p:cNvSpPr/>
          <p:nvPr/>
        </p:nvSpPr>
        <p:spPr>
          <a:xfrm>
            <a:off x="10675983" y="36424582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23">
            <a:extLst>
              <a:ext uri="{FF2B5EF4-FFF2-40B4-BE49-F238E27FC236}">
                <a16:creationId xmlns:a16="http://schemas.microsoft.com/office/drawing/2014/main" id="{E7764CF5-0F61-4581-4250-E9F719D8FD3B}"/>
              </a:ext>
            </a:extLst>
          </p:cNvPr>
          <p:cNvSpPr/>
          <p:nvPr/>
        </p:nvSpPr>
        <p:spPr>
          <a:xfrm>
            <a:off x="10843776" y="36546058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 24">
            <a:extLst>
              <a:ext uri="{FF2B5EF4-FFF2-40B4-BE49-F238E27FC236}">
                <a16:creationId xmlns:a16="http://schemas.microsoft.com/office/drawing/2014/main" id="{2A22336A-287F-9995-1439-553FEEA8BE86}"/>
              </a:ext>
            </a:extLst>
          </p:cNvPr>
          <p:cNvSpPr/>
          <p:nvPr/>
        </p:nvSpPr>
        <p:spPr>
          <a:xfrm>
            <a:off x="11400829" y="36353979"/>
            <a:ext cx="8651635" cy="4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Probabilistic Soft Voting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Shape 21">
            <a:extLst>
              <a:ext uri="{FF2B5EF4-FFF2-40B4-BE49-F238E27FC236}">
                <a16:creationId xmlns:a16="http://schemas.microsoft.com/office/drawing/2014/main" id="{8C4356E7-7A37-3448-255E-611B152E24C3}"/>
              </a:ext>
            </a:extLst>
          </p:cNvPr>
          <p:cNvSpPr/>
          <p:nvPr/>
        </p:nvSpPr>
        <p:spPr>
          <a:xfrm>
            <a:off x="10417939" y="37692720"/>
            <a:ext cx="10039802" cy="13498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22">
            <a:extLst>
              <a:ext uri="{FF2B5EF4-FFF2-40B4-BE49-F238E27FC236}">
                <a16:creationId xmlns:a16="http://schemas.microsoft.com/office/drawing/2014/main" id="{7B276841-3CCA-CE95-B957-FDD04B4E69AA}"/>
              </a:ext>
            </a:extLst>
          </p:cNvPr>
          <p:cNvSpPr/>
          <p:nvPr/>
        </p:nvSpPr>
        <p:spPr>
          <a:xfrm>
            <a:off x="10678135" y="37731569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23">
            <a:extLst>
              <a:ext uri="{FF2B5EF4-FFF2-40B4-BE49-F238E27FC236}">
                <a16:creationId xmlns:a16="http://schemas.microsoft.com/office/drawing/2014/main" id="{BA80B96A-1096-5F8F-63B7-77A99CFF6FE6}"/>
              </a:ext>
            </a:extLst>
          </p:cNvPr>
          <p:cNvSpPr/>
          <p:nvPr/>
        </p:nvSpPr>
        <p:spPr>
          <a:xfrm>
            <a:off x="10845603" y="37812698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Text 24">
            <a:extLst>
              <a:ext uri="{FF2B5EF4-FFF2-40B4-BE49-F238E27FC236}">
                <a16:creationId xmlns:a16="http://schemas.microsoft.com/office/drawing/2014/main" id="{D1053455-CE05-A811-28F0-F2916A3616C5}"/>
              </a:ext>
            </a:extLst>
          </p:cNvPr>
          <p:cNvSpPr/>
          <p:nvPr/>
        </p:nvSpPr>
        <p:spPr>
          <a:xfrm>
            <a:off x="11448847" y="37716248"/>
            <a:ext cx="8246976" cy="465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C2PSA Bone Feature Attention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Shape 21">
            <a:extLst>
              <a:ext uri="{FF2B5EF4-FFF2-40B4-BE49-F238E27FC236}">
                <a16:creationId xmlns:a16="http://schemas.microsoft.com/office/drawing/2014/main" id="{1E65608D-74D5-3CFC-74D9-8F9113AA62ED}"/>
              </a:ext>
            </a:extLst>
          </p:cNvPr>
          <p:cNvSpPr/>
          <p:nvPr/>
        </p:nvSpPr>
        <p:spPr>
          <a:xfrm>
            <a:off x="10375251" y="39278672"/>
            <a:ext cx="10051521" cy="1426069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8" name="Shape 22">
            <a:extLst>
              <a:ext uri="{FF2B5EF4-FFF2-40B4-BE49-F238E27FC236}">
                <a16:creationId xmlns:a16="http://schemas.microsoft.com/office/drawing/2014/main" id="{A06E2BC6-FBF1-E536-82E2-23F616E1BD52}"/>
              </a:ext>
            </a:extLst>
          </p:cNvPr>
          <p:cNvSpPr/>
          <p:nvPr/>
        </p:nvSpPr>
        <p:spPr>
          <a:xfrm>
            <a:off x="10664986" y="39357040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23">
            <a:extLst>
              <a:ext uri="{FF2B5EF4-FFF2-40B4-BE49-F238E27FC236}">
                <a16:creationId xmlns:a16="http://schemas.microsoft.com/office/drawing/2014/main" id="{258E116B-0BC9-8DB0-B6A0-96AC6AF6488F}"/>
              </a:ext>
            </a:extLst>
          </p:cNvPr>
          <p:cNvSpPr/>
          <p:nvPr/>
        </p:nvSpPr>
        <p:spPr>
          <a:xfrm>
            <a:off x="10821298" y="39431796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Text 24">
            <a:extLst>
              <a:ext uri="{FF2B5EF4-FFF2-40B4-BE49-F238E27FC236}">
                <a16:creationId xmlns:a16="http://schemas.microsoft.com/office/drawing/2014/main" id="{D234653E-C749-8573-C408-DA45F724D8C9}"/>
              </a:ext>
            </a:extLst>
          </p:cNvPr>
          <p:cNvSpPr/>
          <p:nvPr/>
        </p:nvSpPr>
        <p:spPr>
          <a:xfrm>
            <a:off x="11449584" y="39329261"/>
            <a:ext cx="7221205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Multi-Scale Detection Heads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67AECB23-87D5-6A2E-B69F-10009CB30812}"/>
                  </a:ext>
                </a:extLst>
              </p:cNvPr>
              <p:cNvSpPr txBox="1"/>
              <p:nvPr/>
            </p:nvSpPr>
            <p:spPr>
              <a:xfrm>
                <a:off x="11400829" y="36900370"/>
                <a:ext cx="2197781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𝑒𝑛𝑠</m:t>
                          </m:r>
                        </m:sub>
                      </m:sSub>
                      <m:r>
                        <a:rPr lang="en-US" sz="3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≥0.478</m:t>
                      </m:r>
                    </m:oMath>
                  </m:oMathPara>
                </a14:m>
                <a:endParaRPr lang="en-US" sz="3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67AECB23-87D5-6A2E-B69F-10009CB30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0829" y="36900370"/>
                <a:ext cx="2197781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TextBox 111">
            <a:extLst>
              <a:ext uri="{FF2B5EF4-FFF2-40B4-BE49-F238E27FC236}">
                <a16:creationId xmlns:a16="http://schemas.microsoft.com/office/drawing/2014/main" id="{BD702B8E-3F37-FA9B-1859-55718104E6E5}"/>
              </a:ext>
            </a:extLst>
          </p:cNvPr>
          <p:cNvSpPr txBox="1"/>
          <p:nvPr/>
        </p:nvSpPr>
        <p:spPr>
          <a:xfrm>
            <a:off x="13538204" y="36885261"/>
            <a:ext cx="707252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500" dirty="0"/>
              <a:t>filters normal studies; abnormal go to YOLO11-L</a:t>
            </a:r>
            <a:endParaRPr lang="en-US" sz="25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E422EC9-61BA-F9FC-15FD-6F944A8C3857}"/>
              </a:ext>
            </a:extLst>
          </p:cNvPr>
          <p:cNvSpPr txBox="1"/>
          <p:nvPr/>
        </p:nvSpPr>
        <p:spPr>
          <a:xfrm>
            <a:off x="11357108" y="38063843"/>
            <a:ext cx="901578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dirty="0"/>
              <a:t>Preserves boundary gradients along subtle vertebral edges</a:t>
            </a:r>
            <a:endParaRPr lang="en-US" sz="3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27430B1-B689-A388-FB59-3225FE9B4ADA}"/>
              </a:ext>
            </a:extLst>
          </p:cNvPr>
          <p:cNvSpPr txBox="1"/>
          <p:nvPr/>
        </p:nvSpPr>
        <p:spPr>
          <a:xfrm>
            <a:off x="11357108" y="39701167"/>
            <a:ext cx="91428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dirty="0"/>
              <a:t>Hierarchical </a:t>
            </a:r>
            <a:r>
              <a:rPr lang="en-US" sz="3000" dirty="0" err="1"/>
              <a:t>PANet</a:t>
            </a:r>
            <a:r>
              <a:rPr lang="en-US" sz="3000" dirty="0"/>
              <a:t> feature fusion isolates minute pathologies occupying &lt;1% FOV</a:t>
            </a:r>
            <a:endParaRPr lang="en-US" sz="3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Shape 21">
            <a:extLst>
              <a:ext uri="{FF2B5EF4-FFF2-40B4-BE49-F238E27FC236}">
                <a16:creationId xmlns:a16="http://schemas.microsoft.com/office/drawing/2014/main" id="{11C9D431-3B7B-4FA1-7CFB-58B41A74FF4C}"/>
              </a:ext>
            </a:extLst>
          </p:cNvPr>
          <p:cNvSpPr/>
          <p:nvPr/>
        </p:nvSpPr>
        <p:spPr>
          <a:xfrm>
            <a:off x="10474557" y="40937307"/>
            <a:ext cx="10051521" cy="1613327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6" name="Text 24">
            <a:extLst>
              <a:ext uri="{FF2B5EF4-FFF2-40B4-BE49-F238E27FC236}">
                <a16:creationId xmlns:a16="http://schemas.microsoft.com/office/drawing/2014/main" id="{D60FCFE2-0E0A-604D-E839-DA0ECEFE6AE5}"/>
              </a:ext>
            </a:extLst>
          </p:cNvPr>
          <p:cNvSpPr/>
          <p:nvPr/>
        </p:nvSpPr>
        <p:spPr>
          <a:xfrm>
            <a:off x="11401184" y="41127236"/>
            <a:ext cx="8512397" cy="31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Targeted Copy-Paste Augmentation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36CC233-88D3-B72E-F177-F7A20066979A}"/>
              </a:ext>
            </a:extLst>
          </p:cNvPr>
          <p:cNvSpPr txBox="1"/>
          <p:nvPr/>
        </p:nvSpPr>
        <p:spPr>
          <a:xfrm>
            <a:off x="11448847" y="41571226"/>
            <a:ext cx="91428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Overcomes severe 46.9:1 class skew to stabilize regression for rare categories</a:t>
            </a:r>
            <a:endParaRPr lang="en-US" sz="3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Shape 22">
            <a:extLst>
              <a:ext uri="{FF2B5EF4-FFF2-40B4-BE49-F238E27FC236}">
                <a16:creationId xmlns:a16="http://schemas.microsoft.com/office/drawing/2014/main" id="{56AFC6F0-7B33-A47E-E0AE-63DB0AA17FF6}"/>
              </a:ext>
            </a:extLst>
          </p:cNvPr>
          <p:cNvSpPr/>
          <p:nvPr/>
        </p:nvSpPr>
        <p:spPr>
          <a:xfrm>
            <a:off x="10670726" y="41030945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23">
            <a:extLst>
              <a:ext uri="{FF2B5EF4-FFF2-40B4-BE49-F238E27FC236}">
                <a16:creationId xmlns:a16="http://schemas.microsoft.com/office/drawing/2014/main" id="{87CC11A5-D09E-40A7-89AF-2EAAB170A14D}"/>
              </a:ext>
            </a:extLst>
          </p:cNvPr>
          <p:cNvSpPr/>
          <p:nvPr/>
        </p:nvSpPr>
        <p:spPr>
          <a:xfrm>
            <a:off x="10830000" y="41106743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4797B64-0E75-0155-954F-B0CB7124FF23}"/>
              </a:ext>
            </a:extLst>
          </p:cNvPr>
          <p:cNvSpPr txBox="1"/>
          <p:nvPr/>
        </p:nvSpPr>
        <p:spPr>
          <a:xfrm>
            <a:off x="20771891" y="7842244"/>
            <a:ext cx="5526388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Results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C1928C4-4ABE-617E-0528-D08F3C6FA58D}"/>
              </a:ext>
            </a:extLst>
          </p:cNvPr>
          <p:cNvGrpSpPr/>
          <p:nvPr/>
        </p:nvGrpSpPr>
        <p:grpSpPr>
          <a:xfrm>
            <a:off x="20771891" y="31192317"/>
            <a:ext cx="5332783" cy="723275"/>
            <a:chOff x="523709" y="7288826"/>
            <a:chExt cx="7376518" cy="964365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D31B843A-7A0F-7CAE-FAEE-C8A8C883E1A4}"/>
                </a:ext>
              </a:extLst>
            </p:cNvPr>
            <p:cNvSpPr txBox="1"/>
            <p:nvPr/>
          </p:nvSpPr>
          <p:spPr>
            <a:xfrm>
              <a:off x="531710" y="7288826"/>
              <a:ext cx="7368517" cy="96436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4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Conclusion</a:t>
              </a:r>
              <a:endParaRPr lang="en-US" sz="40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243D395-B3BF-1BBF-522B-72F43DFC448D}"/>
                </a:ext>
              </a:extLst>
            </p:cNvPr>
            <p:cNvCxnSpPr>
              <a:cxnSpLocks/>
            </p:cNvCxnSpPr>
            <p:nvPr/>
          </p:nvCxnSpPr>
          <p:spPr>
            <a:xfrm>
              <a:off x="523709" y="8104244"/>
              <a:ext cx="4215441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AA01A40C-8A55-CBA5-9096-25305A6A8DFC}"/>
              </a:ext>
            </a:extLst>
          </p:cNvPr>
          <p:cNvSpPr txBox="1"/>
          <p:nvPr/>
        </p:nvSpPr>
        <p:spPr>
          <a:xfrm>
            <a:off x="20714936" y="31985004"/>
            <a:ext cx="9485058" cy="3677603"/>
          </a:xfrm>
          <a:prstGeom prst="roundRect">
            <a:avLst/>
          </a:prstGeom>
          <a:solidFill>
            <a:schemeClr val="tx2">
              <a:lumMod val="9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Decouples screening triage from localization via a sensitivity-gated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DERNet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and YOLO11-L cascade. Delivers 91.03% AUROC and 40.10% mAP@0.5, quantitatively grounded to authentic bone pathology (0.64 X-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IoU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). Enables CPU-efficient triage (120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) in resource-constrained clinics, strictly reserving scarce MRI slots.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41E5F0D-24A0-C873-FB13-13CB1811C123}"/>
              </a:ext>
            </a:extLst>
          </p:cNvPr>
          <p:cNvCxnSpPr>
            <a:cxnSpLocks/>
          </p:cNvCxnSpPr>
          <p:nvPr/>
        </p:nvCxnSpPr>
        <p:spPr>
          <a:xfrm>
            <a:off x="20486073" y="7711440"/>
            <a:ext cx="56295" cy="35082798"/>
          </a:xfrm>
          <a:prstGeom prst="line">
            <a:avLst/>
          </a:prstGeom>
          <a:ln w="19050"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1788761-0157-C691-A82B-EA305FC66150}"/>
              </a:ext>
            </a:extLst>
          </p:cNvPr>
          <p:cNvSpPr txBox="1"/>
          <p:nvPr/>
        </p:nvSpPr>
        <p:spPr>
          <a:xfrm>
            <a:off x="-29515" y="36052464"/>
            <a:ext cx="101820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Fig. 1. </a:t>
            </a:r>
            <a:r>
              <a:rPr lang="en-US" sz="3000" dirty="0"/>
              <a:t>Severe 46.9:1 class imbalance across seven spinal lesion categories in the </a:t>
            </a:r>
            <a:r>
              <a:rPr lang="en-US" sz="3000" dirty="0" err="1"/>
              <a:t>VinDr-SpineXR</a:t>
            </a:r>
            <a:r>
              <a:rPr lang="en-US" sz="3000" dirty="0"/>
              <a:t> training cohort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Text 4">
            <a:extLst>
              <a:ext uri="{FF2B5EF4-FFF2-40B4-BE49-F238E27FC236}">
                <a16:creationId xmlns:a16="http://schemas.microsoft.com/office/drawing/2014/main" id="{9716331F-8A2C-E04E-FDF4-C29A77E8537B}"/>
              </a:ext>
            </a:extLst>
          </p:cNvPr>
          <p:cNvSpPr/>
          <p:nvPr/>
        </p:nvSpPr>
        <p:spPr>
          <a:xfrm>
            <a:off x="20933596" y="35796576"/>
            <a:ext cx="4085710" cy="21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Scan this QR for additional resources including code, data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724F5C7B-A63B-7AB4-E41D-1E2C8C3DE4C9}"/>
              </a:ext>
            </a:extLst>
          </p:cNvPr>
          <p:cNvSpPr txBox="1"/>
          <p:nvPr/>
        </p:nvSpPr>
        <p:spPr>
          <a:xfrm>
            <a:off x="20771891" y="21500475"/>
            <a:ext cx="8675203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AI Explainability (XAI)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816CC8-DE2F-B283-3E25-6EA02EB8C95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812685" y="22217889"/>
            <a:ext cx="5367663" cy="31845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DFB2ED-95D4-5147-A456-9DD19682D62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180348" y="22248713"/>
            <a:ext cx="4106701" cy="3416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45E5BB-C26E-8647-419F-CD009B437037}"/>
              </a:ext>
            </a:extLst>
          </p:cNvPr>
          <p:cNvSpPr txBox="1"/>
          <p:nvPr/>
        </p:nvSpPr>
        <p:spPr>
          <a:xfrm>
            <a:off x="20732286" y="25514926"/>
            <a:ext cx="94493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Fig. 4. Explainability for the lesion localization</a:t>
            </a:r>
          </a:p>
        </p:txBody>
      </p:sp>
      <p:pic>
        <p:nvPicPr>
          <p:cNvPr id="1026" name="Picture 2" descr="QR code scan icon in flat style. Mobile phone scanning ...">
            <a:extLst>
              <a:ext uri="{FF2B5EF4-FFF2-40B4-BE49-F238E27FC236}">
                <a16:creationId xmlns:a16="http://schemas.microsoft.com/office/drawing/2014/main" id="{7159E680-6343-1DB3-1072-B3FDCB47A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6595" y="35989905"/>
            <a:ext cx="1661895" cy="203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ustomizable Arrow Icon Designs for Web and App Use">
            <a:extLst>
              <a:ext uri="{FF2B5EF4-FFF2-40B4-BE49-F238E27FC236}">
                <a16:creationId xmlns:a16="http://schemas.microsoft.com/office/drawing/2014/main" id="{40A04795-E4E2-1D54-953B-25010B9A9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0143" y="36684004"/>
            <a:ext cx="579784" cy="756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7173E8-BCCB-CE12-4598-63FAE838E80F}"/>
              </a:ext>
            </a:extLst>
          </p:cNvPr>
          <p:cNvSpPr txBox="1"/>
          <p:nvPr/>
        </p:nvSpPr>
        <p:spPr>
          <a:xfrm>
            <a:off x="20714936" y="26108013"/>
            <a:ext cx="5869865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Efficiency &amp; Ablation</a:t>
            </a:r>
            <a:endParaRPr lang="en-US" sz="39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641CD04-BA37-6697-DD2F-66B87B851B42}"/>
              </a:ext>
            </a:extLst>
          </p:cNvPr>
          <p:cNvSpPr/>
          <p:nvPr/>
        </p:nvSpPr>
        <p:spPr>
          <a:xfrm>
            <a:off x="20542368" y="26874921"/>
            <a:ext cx="9679253" cy="4336662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5" name="Shape 5">
            <a:extLst>
              <a:ext uri="{FF2B5EF4-FFF2-40B4-BE49-F238E27FC236}">
                <a16:creationId xmlns:a16="http://schemas.microsoft.com/office/drawing/2014/main" id="{C17A8237-A870-39E7-150F-5D8837D8F211}"/>
              </a:ext>
            </a:extLst>
          </p:cNvPr>
          <p:cNvSpPr/>
          <p:nvPr/>
        </p:nvSpPr>
        <p:spPr>
          <a:xfrm>
            <a:off x="20554705" y="27051765"/>
            <a:ext cx="2798728" cy="117719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676339DE-35BC-6B58-B6DA-898910E9C493}"/>
              </a:ext>
            </a:extLst>
          </p:cNvPr>
          <p:cNvSpPr/>
          <p:nvPr/>
        </p:nvSpPr>
        <p:spPr>
          <a:xfrm>
            <a:off x="20676887" y="27191564"/>
            <a:ext cx="2819629" cy="723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CPU Triage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C17DC3CA-1C2B-8716-C24C-27C5BDF77018}"/>
              </a:ext>
            </a:extLst>
          </p:cNvPr>
          <p:cNvSpPr/>
          <p:nvPr/>
        </p:nvSpPr>
        <p:spPr>
          <a:xfrm>
            <a:off x="20507334" y="28515832"/>
            <a:ext cx="2819629" cy="111602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364DA1C8-8536-D1E6-3FB1-4B007219C0E5}"/>
              </a:ext>
            </a:extLst>
          </p:cNvPr>
          <p:cNvSpPr/>
          <p:nvPr/>
        </p:nvSpPr>
        <p:spPr>
          <a:xfrm>
            <a:off x="20684809" y="28560972"/>
            <a:ext cx="2716353" cy="1107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Imbalance Ablation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FAFBBE9E-B5DB-CD07-3AA9-B7EF15C63AB2}"/>
              </a:ext>
            </a:extLst>
          </p:cNvPr>
          <p:cNvSpPr/>
          <p:nvPr/>
        </p:nvSpPr>
        <p:spPr>
          <a:xfrm>
            <a:off x="23365770" y="27048280"/>
            <a:ext cx="6880055" cy="117719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/>
              <a:t>15.4 GFLOPS screening filters </a:t>
            </a:r>
            <a:r>
              <a:rPr lang="en-US" sz="2800" dirty="0" err="1"/>
              <a:t>normals</a:t>
            </a:r>
            <a:r>
              <a:rPr lang="en-US" sz="2800" dirty="0"/>
              <a:t> upfront; heavier 74.6 GFLOPS detector executes on abnormalities for CPU triage.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5">
            <a:extLst>
              <a:ext uri="{FF2B5EF4-FFF2-40B4-BE49-F238E27FC236}">
                <a16:creationId xmlns:a16="http://schemas.microsoft.com/office/drawing/2014/main" id="{71E3D774-D974-4773-3DE3-B150CB7CF14F}"/>
              </a:ext>
            </a:extLst>
          </p:cNvPr>
          <p:cNvSpPr/>
          <p:nvPr/>
        </p:nvSpPr>
        <p:spPr>
          <a:xfrm>
            <a:off x="20568360" y="29949257"/>
            <a:ext cx="2819629" cy="111602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DCD6582B-8082-BEF4-EA74-EFA5A7237293}"/>
              </a:ext>
            </a:extLst>
          </p:cNvPr>
          <p:cNvSpPr/>
          <p:nvPr/>
        </p:nvSpPr>
        <p:spPr>
          <a:xfrm>
            <a:off x="23334264" y="28512163"/>
            <a:ext cx="6880055" cy="117719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/>
              <a:t>20% copy-paste lifts mAP@0.5 from 37.70% → 40.10% on rare lesions.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8">
            <a:extLst>
              <a:ext uri="{FF2B5EF4-FFF2-40B4-BE49-F238E27FC236}">
                <a16:creationId xmlns:a16="http://schemas.microsoft.com/office/drawing/2014/main" id="{422466C2-155E-5FD9-8D55-C937CA8178FA}"/>
              </a:ext>
            </a:extLst>
          </p:cNvPr>
          <p:cNvSpPr/>
          <p:nvPr/>
        </p:nvSpPr>
        <p:spPr>
          <a:xfrm>
            <a:off x="23364778" y="29969936"/>
            <a:ext cx="6880055" cy="108841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/>
              <a:t>0.61–0.64 mean X-</a:t>
            </a:r>
            <a:r>
              <a:rPr lang="en-US" sz="2800" dirty="0" err="1"/>
              <a:t>IoU</a:t>
            </a:r>
            <a:r>
              <a:rPr lang="en-US" sz="2800" dirty="0"/>
              <a:t> grounds triage to bone margins, safeguarding scarce MRI slots.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 6">
            <a:extLst>
              <a:ext uri="{FF2B5EF4-FFF2-40B4-BE49-F238E27FC236}">
                <a16:creationId xmlns:a16="http://schemas.microsoft.com/office/drawing/2014/main" id="{C7544533-7320-B555-024B-FE9BFAF12256}"/>
              </a:ext>
            </a:extLst>
          </p:cNvPr>
          <p:cNvSpPr/>
          <p:nvPr/>
        </p:nvSpPr>
        <p:spPr>
          <a:xfrm>
            <a:off x="20714936" y="29963869"/>
            <a:ext cx="2716353" cy="1107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Anatomical Trust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991</Words>
  <Application>Microsoft Office PowerPoint</Application>
  <PresentationFormat>Custom</PresentationFormat>
  <Paragraphs>203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Play</vt:lpstr>
      <vt:lpstr>Nunito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Mert Seven - Dekon Congress &amp; Tourism</dc:creator>
  <cp:lastModifiedBy>Prosenjit mondol</cp:lastModifiedBy>
  <cp:revision>25</cp:revision>
  <dcterms:created xsi:type="dcterms:W3CDTF">2026-07-27T09:56:02Z</dcterms:created>
  <dcterms:modified xsi:type="dcterms:W3CDTF">2026-09-14T14:08:00Z</dcterms:modified>
</cp:coreProperties>
</file>