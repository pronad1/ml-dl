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" d="100"/>
          <a:sy n="10" d="100"/>
        </p:scale>
        <p:origin x="92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6E6DE-9401-4785-B967-7A60FE8CA2A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CF52E-361C-4711-B11C-224416705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7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CF52E-361C-4711-B11C-2244167052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55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86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94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7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8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1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2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6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5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5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8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34156-896C-44A6-A578-734E182FDC4D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D6F16-D9AD-4E59-9B6B-486447EC2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0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D781-28B8-DC4F-D1AE-CD7FB21CBC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458C1-2852-9480-FD75-D2424C93EA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FBCE5-7819-583A-703C-34EC7D73A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3" y="-65211"/>
            <a:ext cx="30407332" cy="4298904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9F984E-8794-68DD-91E3-D342B58E2E64}"/>
              </a:ext>
            </a:extLst>
          </p:cNvPr>
          <p:cNvCxnSpPr>
            <a:cxnSpLocks/>
          </p:cNvCxnSpPr>
          <p:nvPr/>
        </p:nvCxnSpPr>
        <p:spPr>
          <a:xfrm>
            <a:off x="10146218" y="11056325"/>
            <a:ext cx="32813" cy="29771635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B0603B-AACD-8049-3446-5BFB86875772}"/>
              </a:ext>
            </a:extLst>
          </p:cNvPr>
          <p:cNvSpPr txBox="1"/>
          <p:nvPr/>
        </p:nvSpPr>
        <p:spPr>
          <a:xfrm>
            <a:off x="3783410" y="5994450"/>
            <a:ext cx="23191383" cy="21236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b="1" i="0" dirty="0">
                <a:solidFill>
                  <a:srgbClr val="2C3A4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Sensitivity-Gated Cascade for Compute-Efficient Spinal Lesion Detection in Resource-Constrained Settings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C6DC06-55BC-6796-B8C8-CA545EFD0D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7" y="5984507"/>
            <a:ext cx="1981200" cy="21336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B01A486-2EC6-A7BA-F4AA-CB05466695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5040" y="5428689"/>
            <a:ext cx="3262235" cy="26495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43A53B32-F11A-FFDD-E63F-4242AFE8C0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8640" y="6110151"/>
            <a:ext cx="1883760" cy="19142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674FB21-004D-D424-0F42-165E4C67F2F6}"/>
                  </a:ext>
                </a:extLst>
              </p:cNvPr>
              <p:cNvSpPr txBox="1"/>
              <p:nvPr/>
            </p:nvSpPr>
            <p:spPr>
              <a:xfrm>
                <a:off x="35951" y="8115697"/>
                <a:ext cx="30349204" cy="2467855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5200" b="1" i="1" smtClean="0">
                            <a:solidFill>
                              <a:srgbClr val="2C3A4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52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Prosenjit</m:t>
                        </m:r>
                        <m:r>
                          <m:rPr>
                            <m:nor/>
                          </m:rPr>
                          <a:rPr lang="en-US" sz="5200" b="1" i="0" dirty="0" smtClean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52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Mondol</m:t>
                        </m:r>
                      </m:e>
                      <m:sup>
                        <m:r>
                          <a:rPr lang="en-US" sz="5200" b="1" i="1" smtClean="0">
                            <a:solidFill>
                              <a:srgbClr val="2C3A4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5200" b="1" i="0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200" b="1" i="1">
                            <a:solidFill>
                              <a:srgbClr val="2C3A4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52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Samrat</m:t>
                        </m:r>
                        <m:r>
                          <m:rPr>
                            <m:nor/>
                          </m:rPr>
                          <a:rPr lang="en-US" sz="52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5200" b="1" dirty="0">
                            <a:solidFill>
                              <a:srgbClr val="2C3A4A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KumarDey</m:t>
                        </m:r>
                      </m:e>
                      <m:sup>
                        <m:r>
                          <a:rPr lang="en-US" sz="5200" b="1" i="1" dirty="0" smtClean="0">
                            <a:solidFill>
                              <a:srgbClr val="2C3A4A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5200" b="1" i="0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5200" b="1" dirty="0">
                    <a:solidFill>
                      <a:srgbClr val="2C3A4A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200" b="1" i="0" smtClean="0">
                            <a:latin typeface="Cambria Math" panose="02040503050406030204" pitchFamily="18" charset="0"/>
                          </a:rPr>
                          <m:t>𝐀𝐫𝐩𝐢𝐭𝐚</m:t>
                        </m:r>
                        <m:r>
                          <a:rPr lang="en-US" sz="5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5200" b="1" i="0" smtClean="0">
                            <a:latin typeface="Cambria Math" panose="02040503050406030204" pitchFamily="18" charset="0"/>
                          </a:rPr>
                          <m:t>𝐇𝐨𝐰𝐥𝐝𝐞𝐫</m:t>
                        </m:r>
                      </m:e>
                      <m:sup>
                        <m:r>
                          <a:rPr lang="en-US" sz="52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n-US" sz="5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Faculty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Computer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Engineering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Patuakhali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TechnologyUniversity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Dumki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8602,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  <m:r>
                          <a:rPr lang="en-US" sz="4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;</m:t>
                        </m:r>
                      </m:sub>
                    </m:sSub>
                  </m:oMath>
                </a14:m>
                <a:r>
                  <a:rPr lang="en-US" sz="40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School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Science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Technology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Open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University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Gazipur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1705, </m:t>
                        </m:r>
                        <m:r>
                          <m:rPr>
                            <m:nor/>
                          </m:rPr>
                          <a:rPr lang="en-US" sz="4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Bangladesh</m:t>
                        </m:r>
                      </m:sub>
                    </m:sSub>
                  </m:oMath>
                </a14:m>
                <a:endParaRPr lang="en-US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674FB21-004D-D424-0F42-165E4C67F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" y="8115697"/>
                <a:ext cx="30349204" cy="2467855"/>
              </a:xfrm>
              <a:prstGeom prst="rect">
                <a:avLst/>
              </a:prstGeom>
              <a:blipFill>
                <a:blip r:embed="rId8"/>
                <a:stretch>
                  <a:fillRect t="-5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0C88FA2B-D18B-E7AE-85FF-3FAA0F935998}"/>
              </a:ext>
            </a:extLst>
          </p:cNvPr>
          <p:cNvSpPr txBox="1"/>
          <p:nvPr/>
        </p:nvSpPr>
        <p:spPr>
          <a:xfrm>
            <a:off x="89485" y="10874586"/>
            <a:ext cx="54896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Motivation</a:t>
            </a:r>
            <a:endParaRPr lang="en-US" sz="4000" b="1" u="sng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792DD2D-4D7B-4E15-8889-95A5B014B3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120" y="12012034"/>
            <a:ext cx="10406736" cy="700546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A75144C-1249-22C4-B9C9-16317E206D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100" y="24465813"/>
            <a:ext cx="10376495" cy="692467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568D708-3786-ED1D-C20A-4701205ACB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879" y="31671822"/>
            <a:ext cx="10115238" cy="5165972"/>
          </a:xfrm>
          <a:prstGeom prst="rect">
            <a:avLst/>
          </a:prstGeom>
        </p:spPr>
      </p:pic>
      <p:graphicFrame>
        <p:nvGraphicFramePr>
          <p:cNvPr id="44" name="Table 0">
            <a:extLst>
              <a:ext uri="{FF2B5EF4-FFF2-40B4-BE49-F238E27FC236}">
                <a16:creationId xmlns:a16="http://schemas.microsoft.com/office/drawing/2014/main" id="{8BFEF6CA-A58C-ED7E-0C8E-C640CB81D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86984"/>
              </p:ext>
            </p:extLst>
          </p:nvPr>
        </p:nvGraphicFramePr>
        <p:xfrm>
          <a:off x="20636570" y="12486112"/>
          <a:ext cx="9693270" cy="3812904"/>
        </p:xfrm>
        <a:graphic>
          <a:graphicData uri="http://schemas.openxmlformats.org/drawingml/2006/table">
            <a:tbl>
              <a:tblPr/>
              <a:tblGrid>
                <a:gridCol w="248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8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Method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AUROC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F1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Sens.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Spec. (%)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EfficientNetV2-S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89.44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79.34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70.80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91.12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5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Res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Net50</a:t>
                      </a:r>
                      <a:endParaRPr lang="en-US" sz="1600" b="1" dirty="0">
                        <a:solidFill>
                          <a:srgbClr val="1A1F36"/>
                        </a:solidFill>
                        <a:latin typeface="Arial" panose="020B0604020202020204" pitchFamily="34" charset="0"/>
                        <a:ea typeface="Calibri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88.88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80.15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82.72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78.13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DenseNet121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86.93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79.55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80.39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VinDr</a:t>
                      </a: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 Ensemble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88.61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83.07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79.32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HealNNet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88.84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ea typeface="Calibri" charset="0"/>
                          <a:cs typeface="Arial" panose="020B0604020202020204" pitchFamily="34" charset="0"/>
                        </a:rPr>
                        <a:t>81.20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-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8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DERNet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91.03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83.09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84.91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81.68</a:t>
                      </a:r>
                      <a:endParaRPr lang="en-US" sz="1600" b="1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7" name="Table 0">
                <a:extLst>
                  <a:ext uri="{FF2B5EF4-FFF2-40B4-BE49-F238E27FC236}">
                    <a16:creationId xmlns:a16="http://schemas.microsoft.com/office/drawing/2014/main" id="{5DB535D3-B309-BFAC-A41F-F77BD764DD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5803888"/>
                  </p:ext>
                </p:extLst>
              </p:nvPr>
            </p:nvGraphicFramePr>
            <p:xfrm>
              <a:off x="20677342" y="17910855"/>
              <a:ext cx="9693271" cy="5418840"/>
            </p:xfrm>
            <a:graphic>
              <a:graphicData uri="http://schemas.openxmlformats.org/drawingml/2006/table">
                <a:tbl>
                  <a:tblPr/>
                  <a:tblGrid>
                    <a:gridCol w="18898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916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8680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53440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2159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70546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𝐋𝐓𝟐</m:t>
                                    </m:r>
                                  </m:e>
                                  <m:sup>
                                    <m:r>
                                      <a:rPr lang="en-US" sz="2000" b="1" i="0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Arial" panose="020B0604020202020204" pitchFamily="34" charset="0"/>
                                      </a:rPr>
                                      <m:t>(∗)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A00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7" name="Table 0">
                <a:extLst>
                  <a:ext uri="{FF2B5EF4-FFF2-40B4-BE49-F238E27FC236}">
                    <a16:creationId xmlns:a16="http://schemas.microsoft.com/office/drawing/2014/main" id="{5DB535D3-B309-BFAC-A41F-F77BD764DD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5803888"/>
                  </p:ext>
                </p:extLst>
              </p:nvPr>
            </p:nvGraphicFramePr>
            <p:xfrm>
              <a:off x="20677342" y="17910855"/>
              <a:ext cx="9693271" cy="5418840"/>
            </p:xfrm>
            <a:graphic>
              <a:graphicData uri="http://schemas.openxmlformats.org/drawingml/2006/table">
                <a:tbl>
                  <a:tblPr/>
                  <a:tblGrid>
                    <a:gridCol w="18898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1530680538"/>
                        </a:ext>
                      </a:extLst>
                    </a:gridCol>
                    <a:gridCol w="899160">
                      <a:extLst>
                        <a:ext uri="{9D8B030D-6E8A-4147-A177-3AD203B41FA5}">
                          <a16:colId xmlns:a16="http://schemas.microsoft.com/office/drawing/2014/main" val="8149937"/>
                        </a:ext>
                      </a:extLst>
                    </a:gridCol>
                    <a:gridCol w="868680">
                      <a:extLst>
                        <a:ext uri="{9D8B030D-6E8A-4147-A177-3AD203B41FA5}">
                          <a16:colId xmlns:a16="http://schemas.microsoft.com/office/drawing/2014/main" val="585533846"/>
                        </a:ext>
                      </a:extLst>
                    </a:gridCol>
                    <a:gridCol w="853440">
                      <a:extLst>
                        <a:ext uri="{9D8B030D-6E8A-4147-A177-3AD203B41FA5}">
                          <a16:colId xmlns:a16="http://schemas.microsoft.com/office/drawing/2014/main" val="626836204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2159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Method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76136" t="-3478" r="-628977" b="-6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LT4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LT6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LT8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LT10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LT11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LT13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2000" b="1" dirty="0">
                              <a:solidFill>
                                <a:srgbClr val="FFFFFF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Map@0.5</a:t>
                          </a:r>
                          <a:endParaRPr lang="en-US" sz="20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045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RetinaNet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14.53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25.35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28.09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25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Faster R-CNN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22.66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65.22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51.68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31.83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6457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Sparse R-CNN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20.09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32.67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48.16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45.32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72.20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49.30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 err="1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VinDr-SpineXR</a:t>
                          </a:r>
                          <a:endParaRPr lang="en-US" sz="1600" b="1" dirty="0">
                            <a:solidFill>
                              <a:srgbClr val="1A1F36"/>
                            </a:solidFill>
                            <a:latin typeface="Arial" panose="020B0604020202020204" pitchFamily="34" charset="0"/>
                            <a:ea typeface="Calibri" pitchFamily="34" charset="-122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21.43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27.36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34.78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41.29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62.53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4.16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33.56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marR="0" lvl="0" indent="0" algn="l" defTabSz="3026755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EGCA-Net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22.36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29.75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44.69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66.58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50.41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36.09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9373921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YOLO12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24.60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3.04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38.40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87721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YOLO26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4F6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23.60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3E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34.90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34.40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37.50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67.30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43.30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3.35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35.50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772512"/>
                      </a:ext>
                    </a:extLst>
                  </a:tr>
                  <a:tr h="398893"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Ours (YOLO11-L)</a:t>
                          </a:r>
                          <a:endParaRPr lang="en-US" sz="1600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26.70</a:t>
                          </a:r>
                          <a:endParaRPr lang="en-US" sz="16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41.40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40.60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54.80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74.10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51.20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latin typeface="Arial" panose="020B0604020202020204" pitchFamily="34" charset="0"/>
                              <a:ea typeface="Calibri" charset="0"/>
                              <a:cs typeface="Arial" panose="020B0604020202020204" pitchFamily="34" charset="0"/>
                            </a:rPr>
                            <a:t>2.99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rgbClr val="1A1F36"/>
                              </a:solidFill>
                              <a:latin typeface="Arial" panose="020B0604020202020204" pitchFamily="34" charset="0"/>
                              <a:ea typeface="Calibri" pitchFamily="34" charset="-122"/>
                              <a:cs typeface="Arial" panose="020B0604020202020204" pitchFamily="34" charset="0"/>
                            </a:rPr>
                            <a:t>40.10</a:t>
                          </a:r>
                          <a:endParaRPr lang="en-US" sz="1600" b="1" dirty="0">
                            <a:latin typeface="Arial" panose="020B0604020202020204" pitchFamily="34" charset="0"/>
                            <a:ea typeface="Calibri" charset="0"/>
                            <a:cs typeface="Arial" panose="020B06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9DEE8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40047B4-5D2C-7BD9-03B2-6C64200D9B1D}"/>
              </a:ext>
            </a:extLst>
          </p:cNvPr>
          <p:cNvSpPr txBox="1"/>
          <p:nvPr/>
        </p:nvSpPr>
        <p:spPr>
          <a:xfrm>
            <a:off x="20573920" y="23415721"/>
            <a:ext cx="99132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(*) LT2, LT4, LT6, LT8, LT10, LT11, and LT13 denote disc space narrowing, foraminal  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stenosis, osteophytes, spondylolisthesis, surgical implant, vertebral collapse, 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other lesions, respectively.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C8715F-0FF4-D2DB-A137-CAB6CB5ECDAD}"/>
              </a:ext>
            </a:extLst>
          </p:cNvPr>
          <p:cNvSpPr txBox="1"/>
          <p:nvPr/>
        </p:nvSpPr>
        <p:spPr>
          <a:xfrm>
            <a:off x="20717593" y="16483492"/>
            <a:ext cx="6003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Table 1. Classification performance comparison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0E1850-A320-34B7-4667-162E8348F8B0}"/>
              </a:ext>
            </a:extLst>
          </p:cNvPr>
          <p:cNvSpPr txBox="1"/>
          <p:nvPr/>
        </p:nvSpPr>
        <p:spPr>
          <a:xfrm>
            <a:off x="20624558" y="24604451"/>
            <a:ext cx="96473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Table 2. Comparison results of different methods. The detection performance 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for each type of spinal lesion is evaluated by AP (%) at 0.5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threshold.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B4D50-0A56-B3F0-DD6E-BD2F2DB9A614}"/>
              </a:ext>
            </a:extLst>
          </p:cNvPr>
          <p:cNvSpPr txBox="1"/>
          <p:nvPr/>
        </p:nvSpPr>
        <p:spPr>
          <a:xfrm>
            <a:off x="30247" y="11433994"/>
            <a:ext cx="10145486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Spinal radiographs serve as the primary screening modality for evaluating a wide spectrum of spinal pathologies [1]. This visual ambiguity induces high inter-observer variability and elevates the risk of delayed diagnoses, which can precipitate irreversible neurological sequelae.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276E26-781E-666C-C3D1-B48D7BB1063A}"/>
              </a:ext>
            </a:extLst>
          </p:cNvPr>
          <p:cNvSpPr txBox="1"/>
          <p:nvPr/>
        </p:nvSpPr>
        <p:spPr>
          <a:xfrm>
            <a:off x="24031380" y="38335016"/>
            <a:ext cx="3965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REFERENCES</a:t>
            </a:r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9B5E45-987C-3C31-FA2E-3546BFF06EE2}"/>
              </a:ext>
            </a:extLst>
          </p:cNvPr>
          <p:cNvSpPr txBox="1"/>
          <p:nvPr/>
        </p:nvSpPr>
        <p:spPr>
          <a:xfrm>
            <a:off x="20673922" y="38992892"/>
            <a:ext cx="9578234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[1] A deep learning framework for spinal lesions detection and classification from radiographs. pages 291–301. Springer, 2021.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VinDr-SpineXR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A large annotated medical image dataset for spinal lesions detection and classification from radiographs. PhysioNet, August 2021. Version 1.0.0.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[3] Sparse r-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: End-to-end object detection with learnable proposals. In Proceedings of the IEEE/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CVFconference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2021.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[4] Federated vision transformer with adaptive focal loss for medical image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classifica-tion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. Knowledge-Based Systems, 2026.</a:t>
            </a:r>
          </a:p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[5] Elizabeth A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Krupinski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Kevin S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Berbaum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RT Caldwell, KM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Schartz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and J Kim. Long radiology workdays reduce detection and accommodation accuracy.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[6]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Healnnet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-lesions: A deep learning framework for spinal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lesiondetection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demonstrating x-ray images as a screening alternative to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ct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withdeep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learning in radiology. 2025</a:t>
            </a: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C928D5BC-F825-02A5-84FA-8B796034BA18}"/>
              </a:ext>
            </a:extLst>
          </p:cNvPr>
          <p:cNvSpPr/>
          <p:nvPr/>
        </p:nvSpPr>
        <p:spPr>
          <a:xfrm>
            <a:off x="194180" y="14642405"/>
            <a:ext cx="9787882" cy="2101283"/>
          </a:xfrm>
          <a:prstGeom prst="rect">
            <a:avLst/>
          </a:prstGeom>
          <a:solidFill>
            <a:srgbClr val="FAF8D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49F7ABFA-5C0F-36EC-4528-A0A3CF9AEEC2}"/>
              </a:ext>
            </a:extLst>
          </p:cNvPr>
          <p:cNvSpPr/>
          <p:nvPr/>
        </p:nvSpPr>
        <p:spPr>
          <a:xfrm>
            <a:off x="216945" y="14663867"/>
            <a:ext cx="98432" cy="2097212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>
              <a:solidFill>
                <a:srgbClr val="7A0019"/>
              </a:solidFill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98C95D51-BCD9-7080-9D51-31248475186A}"/>
              </a:ext>
            </a:extLst>
          </p:cNvPr>
          <p:cNvSpPr/>
          <p:nvPr/>
        </p:nvSpPr>
        <p:spPr>
          <a:xfrm>
            <a:off x="344892" y="14759251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46.9 : 1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CD72A71F-B740-9F01-AFD2-475870D2AC52}"/>
              </a:ext>
            </a:extLst>
          </p:cNvPr>
          <p:cNvSpPr/>
          <p:nvPr/>
        </p:nvSpPr>
        <p:spPr>
          <a:xfrm>
            <a:off x="2179022" y="14785939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class imbalance ratio between majority (82.1%) and critical minority lesions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61EAAD93-2745-44BD-8A88-39C8AE09D2E7}"/>
              </a:ext>
            </a:extLst>
          </p:cNvPr>
          <p:cNvSpPr/>
          <p:nvPr/>
        </p:nvSpPr>
        <p:spPr>
          <a:xfrm>
            <a:off x="264955" y="15896498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&lt;1%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1DFA4477-984A-5430-A068-C31995367CA6}"/>
              </a:ext>
            </a:extLst>
          </p:cNvPr>
          <p:cNvSpPr/>
          <p:nvPr/>
        </p:nvSpPr>
        <p:spPr>
          <a:xfrm>
            <a:off x="2179022" y="15835834"/>
            <a:ext cx="7679478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of the radiograph field-of-view occupied by minute, subtle pathologies </a:t>
            </a: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1F787B-54D2-B703-6204-A952E54E9C01}"/>
              </a:ext>
            </a:extLst>
          </p:cNvPr>
          <p:cNvSpPr txBox="1"/>
          <p:nvPr/>
        </p:nvSpPr>
        <p:spPr>
          <a:xfrm>
            <a:off x="-348673" y="17094018"/>
            <a:ext cx="7750399" cy="66172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0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Gaps in Current Approaches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D97FA49-7D03-17ED-700F-97A642B01FC9}"/>
              </a:ext>
            </a:extLst>
          </p:cNvPr>
          <p:cNvCxnSpPr>
            <a:cxnSpLocks/>
          </p:cNvCxnSpPr>
          <p:nvPr/>
        </p:nvCxnSpPr>
        <p:spPr>
          <a:xfrm>
            <a:off x="89485" y="17755738"/>
            <a:ext cx="7137178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Shape 14">
            <a:extLst>
              <a:ext uri="{FF2B5EF4-FFF2-40B4-BE49-F238E27FC236}">
                <a16:creationId xmlns:a16="http://schemas.microsoft.com/office/drawing/2014/main" id="{8080F688-17B2-0FB2-FA59-E2CA8C90DA25}"/>
              </a:ext>
            </a:extLst>
          </p:cNvPr>
          <p:cNvSpPr/>
          <p:nvPr/>
        </p:nvSpPr>
        <p:spPr>
          <a:xfrm>
            <a:off x="207053" y="17973163"/>
            <a:ext cx="480055" cy="475449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83781526-A9B7-6A7D-A9E0-92F68F24BF66}"/>
              </a:ext>
            </a:extLst>
          </p:cNvPr>
          <p:cNvSpPr/>
          <p:nvPr/>
        </p:nvSpPr>
        <p:spPr>
          <a:xfrm>
            <a:off x="206666" y="17954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98F62D44-E072-014E-9E0C-48FA7891FC30}"/>
              </a:ext>
            </a:extLst>
          </p:cNvPr>
          <p:cNvSpPr/>
          <p:nvPr/>
        </p:nvSpPr>
        <p:spPr>
          <a:xfrm>
            <a:off x="726142" y="17976732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Sensitivity-Specificity Trade-Off</a:t>
            </a:r>
            <a:endParaRPr lang="en-US" sz="34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42A6A85A-A259-4244-CDFB-F74DBCB14785}"/>
              </a:ext>
            </a:extLst>
          </p:cNvPr>
          <p:cNvSpPr/>
          <p:nvPr/>
        </p:nvSpPr>
        <p:spPr>
          <a:xfrm>
            <a:off x="726142" y="18427846"/>
            <a:ext cx="8510969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Monolithic models trigger high false positives or miss critical subtle lesions under data skew</a:t>
            </a: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[3]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301775D5-3A1A-00C9-820D-6B7B77585E3D}"/>
              </a:ext>
            </a:extLst>
          </p:cNvPr>
          <p:cNvSpPr/>
          <p:nvPr/>
        </p:nvSpPr>
        <p:spPr>
          <a:xfrm>
            <a:off x="305865" y="21213851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D879ACA2-2DF0-48AB-312C-88852832F5D5}"/>
              </a:ext>
            </a:extLst>
          </p:cNvPr>
          <p:cNvSpPr/>
          <p:nvPr/>
        </p:nvSpPr>
        <p:spPr>
          <a:xfrm>
            <a:off x="726141" y="19611264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Extreme Class Imbalance</a:t>
            </a:r>
            <a:endParaRPr lang="en-US" sz="34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DCC7F74F-20C2-4DCA-1965-0434A47285AB}"/>
              </a:ext>
            </a:extLst>
          </p:cNvPr>
          <p:cNvSpPr/>
          <p:nvPr/>
        </p:nvSpPr>
        <p:spPr>
          <a:xfrm>
            <a:off x="726142" y="20009803"/>
            <a:ext cx="8510969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Minute pathologies (&lt;1% FOV) are easily obscured by bone superposition and dominant classes</a:t>
            </a: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[4-5]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401CBDBA-082A-7348-9C42-2BB12E8519E2}"/>
              </a:ext>
            </a:extLst>
          </p:cNvPr>
          <p:cNvSpPr/>
          <p:nvPr/>
        </p:nvSpPr>
        <p:spPr>
          <a:xfrm>
            <a:off x="726140" y="21211353"/>
            <a:ext cx="6951599" cy="38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 Computational Overhead</a:t>
            </a:r>
            <a:endParaRPr lang="en-US" sz="34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6C05014F-84F5-EB4B-F101-F518989BCA79}"/>
              </a:ext>
            </a:extLst>
          </p:cNvPr>
          <p:cNvSpPr/>
          <p:nvPr/>
        </p:nvSpPr>
        <p:spPr>
          <a:xfrm>
            <a:off x="726142" y="21636632"/>
            <a:ext cx="8510969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Running heavy detectors on normal screening X-rays prevents CPU deployment in low-resource clinics</a:t>
            </a: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[1,6]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562CC0A-09BD-4D1A-DE6E-5C8DE0F35425}"/>
              </a:ext>
            </a:extLst>
          </p:cNvPr>
          <p:cNvGrpSpPr/>
          <p:nvPr/>
        </p:nvGrpSpPr>
        <p:grpSpPr>
          <a:xfrm>
            <a:off x="-260362" y="22940685"/>
            <a:ext cx="5526388" cy="661720"/>
            <a:chOff x="403882" y="7257855"/>
            <a:chExt cx="7368517" cy="882293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F00BA17-12C3-95A7-DADE-C8CE0BB4F3CA}"/>
                </a:ext>
              </a:extLst>
            </p:cNvPr>
            <p:cNvSpPr txBox="1"/>
            <p:nvPr/>
          </p:nvSpPr>
          <p:spPr>
            <a:xfrm>
              <a:off x="403882" y="7257855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Contributions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DC842F5-738E-9F16-2523-0F3A5B01C70D}"/>
                </a:ext>
              </a:extLst>
            </p:cNvPr>
            <p:cNvCxnSpPr>
              <a:cxnSpLocks/>
            </p:cNvCxnSpPr>
            <p:nvPr/>
          </p:nvCxnSpPr>
          <p:spPr>
            <a:xfrm>
              <a:off x="846963" y="8104243"/>
              <a:ext cx="5049459" cy="1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Shape 6">
            <a:extLst>
              <a:ext uri="{FF2B5EF4-FFF2-40B4-BE49-F238E27FC236}">
                <a16:creationId xmlns:a16="http://schemas.microsoft.com/office/drawing/2014/main" id="{55B5895D-0C79-0273-6964-1A2A2C7597D6}"/>
              </a:ext>
            </a:extLst>
          </p:cNvPr>
          <p:cNvSpPr/>
          <p:nvPr/>
        </p:nvSpPr>
        <p:spPr>
          <a:xfrm>
            <a:off x="110926" y="23703477"/>
            <a:ext cx="9291587" cy="1826175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7">
            <a:extLst>
              <a:ext uri="{FF2B5EF4-FFF2-40B4-BE49-F238E27FC236}">
                <a16:creationId xmlns:a16="http://schemas.microsoft.com/office/drawing/2014/main" id="{353F3158-C993-4287-0F20-F7052665C21D}"/>
              </a:ext>
            </a:extLst>
          </p:cNvPr>
          <p:cNvSpPr/>
          <p:nvPr/>
        </p:nvSpPr>
        <p:spPr>
          <a:xfrm>
            <a:off x="137915" y="23712882"/>
            <a:ext cx="9037717" cy="39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Sensitivity-Gated Cascade </a:t>
            </a:r>
            <a:r>
              <a:rPr lang="en-US" sz="3200" b="1" dirty="0" err="1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Framework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8">
            <a:extLst>
              <a:ext uri="{FF2B5EF4-FFF2-40B4-BE49-F238E27FC236}">
                <a16:creationId xmlns:a16="http://schemas.microsoft.com/office/drawing/2014/main" id="{9D52E81C-AB5A-DBA7-75A7-59897165C5A3}"/>
              </a:ext>
            </a:extLst>
          </p:cNvPr>
          <p:cNvSpPr/>
          <p:nvPr/>
        </p:nvSpPr>
        <p:spPr>
          <a:xfrm>
            <a:off x="175946" y="24177609"/>
            <a:ext cx="9037717" cy="1313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Heterogeneous ensemble of DenseNet121, EfficientNetV2-S, and ResNet50 with weighted soft voting, achieving 91.03% AUROC to filter normal studies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Shape 11">
            <a:extLst>
              <a:ext uri="{FF2B5EF4-FFF2-40B4-BE49-F238E27FC236}">
                <a16:creationId xmlns:a16="http://schemas.microsoft.com/office/drawing/2014/main" id="{5085FDB3-AB39-CCA7-0901-503E3EB018BC}"/>
              </a:ext>
            </a:extLst>
          </p:cNvPr>
          <p:cNvSpPr/>
          <p:nvPr/>
        </p:nvSpPr>
        <p:spPr>
          <a:xfrm>
            <a:off x="142133" y="25742076"/>
            <a:ext cx="9311061" cy="208678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12">
            <a:extLst>
              <a:ext uri="{FF2B5EF4-FFF2-40B4-BE49-F238E27FC236}">
                <a16:creationId xmlns:a16="http://schemas.microsoft.com/office/drawing/2014/main" id="{0D7843C6-6300-97AA-B313-E53B4834E4A6}"/>
              </a:ext>
            </a:extLst>
          </p:cNvPr>
          <p:cNvSpPr/>
          <p:nvPr/>
        </p:nvSpPr>
        <p:spPr>
          <a:xfrm>
            <a:off x="218460" y="25737587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Attention-Guided Localization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13">
            <a:extLst>
              <a:ext uri="{FF2B5EF4-FFF2-40B4-BE49-F238E27FC236}">
                <a16:creationId xmlns:a16="http://schemas.microsoft.com/office/drawing/2014/main" id="{AD94674B-0398-372F-DF20-E5D1EB2C0315}"/>
              </a:ext>
            </a:extLst>
          </p:cNvPr>
          <p:cNvSpPr/>
          <p:nvPr/>
        </p:nvSpPr>
        <p:spPr>
          <a:xfrm>
            <a:off x="192486" y="26280221"/>
            <a:ext cx="9128465" cy="140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Customized YOLO11-L with CSP-Darknet and C2PSA attention to overcome severe 46.9:1 class imbalance and localize minute lesions, achieving 40.10% mAP@0.5.</a:t>
            </a:r>
          </a:p>
        </p:txBody>
      </p:sp>
      <p:sp>
        <p:nvSpPr>
          <p:cNvPr id="92" name="Shape 16">
            <a:extLst>
              <a:ext uri="{FF2B5EF4-FFF2-40B4-BE49-F238E27FC236}">
                <a16:creationId xmlns:a16="http://schemas.microsoft.com/office/drawing/2014/main" id="{53AE2C06-2D8F-A1D3-3F3D-C691FCEC506E}"/>
              </a:ext>
            </a:extLst>
          </p:cNvPr>
          <p:cNvSpPr/>
          <p:nvPr/>
        </p:nvSpPr>
        <p:spPr>
          <a:xfrm>
            <a:off x="187365" y="28100359"/>
            <a:ext cx="9220596" cy="2643759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3" name="Text 17">
            <a:extLst>
              <a:ext uri="{FF2B5EF4-FFF2-40B4-BE49-F238E27FC236}">
                <a16:creationId xmlns:a16="http://schemas.microsoft.com/office/drawing/2014/main" id="{CB067086-8C0C-B613-48BC-C08C516A5BA9}"/>
              </a:ext>
            </a:extLst>
          </p:cNvPr>
          <p:cNvSpPr/>
          <p:nvPr/>
        </p:nvSpPr>
        <p:spPr>
          <a:xfrm>
            <a:off x="215027" y="28126094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Transparent &amp; Compute-Efficient Inference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 18">
            <a:extLst>
              <a:ext uri="{FF2B5EF4-FFF2-40B4-BE49-F238E27FC236}">
                <a16:creationId xmlns:a16="http://schemas.microsoft.com/office/drawing/2014/main" id="{4DDA9DDC-614A-6E07-7AB9-63D92D2CBB44}"/>
              </a:ext>
            </a:extLst>
          </p:cNvPr>
          <p:cNvSpPr/>
          <p:nvPr/>
        </p:nvSpPr>
        <p:spPr>
          <a:xfrm>
            <a:off x="190462" y="28698244"/>
            <a:ext cx="9083181" cy="202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Integrates multi-modal explainability Saliency Maps, Grad-CAM, and LIME quantitatively grounded to authentic lesions, coupled with a staged pipeline optimized for practical CPU deployment in resource-constrained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EDF69BB-F44B-44E0-31FC-36ED299A2959}"/>
              </a:ext>
            </a:extLst>
          </p:cNvPr>
          <p:cNvGrpSpPr/>
          <p:nvPr/>
        </p:nvGrpSpPr>
        <p:grpSpPr>
          <a:xfrm>
            <a:off x="-340738" y="30917390"/>
            <a:ext cx="5526388" cy="661720"/>
            <a:chOff x="111108" y="7257858"/>
            <a:chExt cx="7368517" cy="882293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EB98376-D9AE-C1C2-A1B2-0123556A3039}"/>
                </a:ext>
              </a:extLst>
            </p:cNvPr>
            <p:cNvSpPr txBox="1"/>
            <p:nvPr/>
          </p:nvSpPr>
          <p:spPr>
            <a:xfrm>
              <a:off x="111108" y="7257858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Data Descriptions</a:t>
              </a: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BB75988-0D0C-50DA-8BD9-B2DE2266C4B5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6556030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Shape 5">
            <a:extLst>
              <a:ext uri="{FF2B5EF4-FFF2-40B4-BE49-F238E27FC236}">
                <a16:creationId xmlns:a16="http://schemas.microsoft.com/office/drawing/2014/main" id="{C3352751-4208-13F9-7C6C-41D46F0318CB}"/>
              </a:ext>
            </a:extLst>
          </p:cNvPr>
          <p:cNvSpPr/>
          <p:nvPr/>
        </p:nvSpPr>
        <p:spPr>
          <a:xfrm>
            <a:off x="-29515" y="37229822"/>
            <a:ext cx="10175733" cy="661720"/>
          </a:xfrm>
          <a:prstGeom prst="rect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1" name="Text 6">
            <a:extLst>
              <a:ext uri="{FF2B5EF4-FFF2-40B4-BE49-F238E27FC236}">
                <a16:creationId xmlns:a16="http://schemas.microsoft.com/office/drawing/2014/main" id="{3CA43AE1-A091-AB55-128C-79525846607F}"/>
              </a:ext>
            </a:extLst>
          </p:cNvPr>
          <p:cNvSpPr/>
          <p:nvPr/>
        </p:nvSpPr>
        <p:spPr>
          <a:xfrm>
            <a:off x="137915" y="37243805"/>
            <a:ext cx="8560618" cy="67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DATASET &amp; COHORT SUMMARY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3A9536E-1CB9-482C-6810-8CC81D00FF40}"/>
              </a:ext>
            </a:extLst>
          </p:cNvPr>
          <p:cNvCxnSpPr>
            <a:cxnSpLocks/>
          </p:cNvCxnSpPr>
          <p:nvPr/>
        </p:nvCxnSpPr>
        <p:spPr>
          <a:xfrm>
            <a:off x="20585611" y="11056324"/>
            <a:ext cx="32813" cy="29771635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Shape 18">
            <a:extLst>
              <a:ext uri="{FF2B5EF4-FFF2-40B4-BE49-F238E27FC236}">
                <a16:creationId xmlns:a16="http://schemas.microsoft.com/office/drawing/2014/main" id="{940F40B2-ABE5-F98B-5B08-E67E6A1C10C2}"/>
              </a:ext>
            </a:extLst>
          </p:cNvPr>
          <p:cNvSpPr/>
          <p:nvPr/>
        </p:nvSpPr>
        <p:spPr>
          <a:xfrm>
            <a:off x="200233" y="19624356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9">
            <a:extLst>
              <a:ext uri="{FF2B5EF4-FFF2-40B4-BE49-F238E27FC236}">
                <a16:creationId xmlns:a16="http://schemas.microsoft.com/office/drawing/2014/main" id="{0BDA6FA1-259F-6941-072B-EC73034F4D6E}"/>
              </a:ext>
            </a:extLst>
          </p:cNvPr>
          <p:cNvSpPr/>
          <p:nvPr/>
        </p:nvSpPr>
        <p:spPr>
          <a:xfrm>
            <a:off x="200231" y="19589975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Shape 22">
            <a:extLst>
              <a:ext uri="{FF2B5EF4-FFF2-40B4-BE49-F238E27FC236}">
                <a16:creationId xmlns:a16="http://schemas.microsoft.com/office/drawing/2014/main" id="{521508FE-E235-003F-08FA-2D2AE5943908}"/>
              </a:ext>
            </a:extLst>
          </p:cNvPr>
          <p:cNvSpPr/>
          <p:nvPr/>
        </p:nvSpPr>
        <p:spPr>
          <a:xfrm>
            <a:off x="203339" y="21200712"/>
            <a:ext cx="480057" cy="45719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23">
            <a:extLst>
              <a:ext uri="{FF2B5EF4-FFF2-40B4-BE49-F238E27FC236}">
                <a16:creationId xmlns:a16="http://schemas.microsoft.com/office/drawing/2014/main" id="{C9050DF4-5FAA-980F-1D65-9D2C6FEAAB79}"/>
              </a:ext>
            </a:extLst>
          </p:cNvPr>
          <p:cNvSpPr/>
          <p:nvPr/>
        </p:nvSpPr>
        <p:spPr>
          <a:xfrm>
            <a:off x="203340" y="2120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97110E1-2E85-551A-6D13-24C893E1866B}"/>
              </a:ext>
            </a:extLst>
          </p:cNvPr>
          <p:cNvSpPr txBox="1"/>
          <p:nvPr/>
        </p:nvSpPr>
        <p:spPr>
          <a:xfrm>
            <a:off x="-86208" y="37917008"/>
            <a:ext cx="10220311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Source: </a:t>
            </a:r>
            <a:r>
              <a:rPr lang="en-US" sz="2800" dirty="0" err="1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VinDr-SpineXR</a:t>
            </a:r>
            <a:r>
              <a:rPr lang="en-US" sz="28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v1.0.0 (PhysioNet)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Cohort: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10,466 spinal radiographs ( 8,389 train | 2,077 test )</a:t>
            </a:r>
            <a:endParaRPr lang="en-US" sz="2800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Expert Labels: </a:t>
            </a:r>
            <a:r>
              <a:rPr lang="en-US" sz="28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Radiologist-annotated bounding boxes across 7 lesion categories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46.9:1 Imbalance: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Osteophytes (82.1%, n = 12,556) vs. Collapse (1.8%, n = 268)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Minute Scale: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Subtle lesions occupy &lt;1% FOV (&lt;32×32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800" b="1" dirty="0">
              <a:solidFill>
                <a:srgbClr val="1A1F36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153BC3D-01A8-8D9C-F420-3891591394F0}"/>
              </a:ext>
            </a:extLst>
          </p:cNvPr>
          <p:cNvGrpSpPr/>
          <p:nvPr/>
        </p:nvGrpSpPr>
        <p:grpSpPr>
          <a:xfrm>
            <a:off x="10115896" y="11158104"/>
            <a:ext cx="5869865" cy="661720"/>
            <a:chOff x="111108" y="7257858"/>
            <a:chExt cx="7368517" cy="956842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A28CFBD-3616-4B11-39C1-AB277A6BE04A}"/>
                </a:ext>
              </a:extLst>
            </p:cNvPr>
            <p:cNvSpPr txBox="1"/>
            <p:nvPr/>
          </p:nvSpPr>
          <p:spPr>
            <a:xfrm>
              <a:off x="111108" y="7257858"/>
              <a:ext cx="7368517" cy="956842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Cascaded Framework</a:t>
              </a:r>
              <a:endParaRPr lang="en-US" sz="39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E1F06A0E-E460-7C05-018A-581B34693EC6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079411"/>
              <a:ext cx="6955916" cy="513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8E7B9080-E316-34E1-430E-18B771A99BC6}"/>
              </a:ext>
            </a:extLst>
          </p:cNvPr>
          <p:cNvSpPr txBox="1"/>
          <p:nvPr/>
        </p:nvSpPr>
        <p:spPr>
          <a:xfrm>
            <a:off x="10322890" y="19164357"/>
            <a:ext cx="116845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Fig. 1.  Overview of the cascaded framework for spinal lesion triage 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and localization.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1A20C21-A81C-C0BE-1AD3-61B5CC7E3D48}"/>
              </a:ext>
            </a:extLst>
          </p:cNvPr>
          <p:cNvGrpSpPr/>
          <p:nvPr/>
        </p:nvGrpSpPr>
        <p:grpSpPr>
          <a:xfrm>
            <a:off x="9898331" y="20287123"/>
            <a:ext cx="3308474" cy="661720"/>
            <a:chOff x="403882" y="7308443"/>
            <a:chExt cx="4411298" cy="882293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25B3B56-5591-7C28-EF92-F0F89B039F16}"/>
                </a:ext>
              </a:extLst>
            </p:cNvPr>
            <p:cNvSpPr txBox="1"/>
            <p:nvPr/>
          </p:nvSpPr>
          <p:spPr>
            <a:xfrm>
              <a:off x="403882" y="7308443"/>
              <a:ext cx="4411298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4370C6E-B1E5-10FB-F011-C8C230D7A035}"/>
                </a:ext>
              </a:extLst>
            </p:cNvPr>
            <p:cNvCxnSpPr>
              <a:cxnSpLocks/>
            </p:cNvCxnSpPr>
            <p:nvPr/>
          </p:nvCxnSpPr>
          <p:spPr>
            <a:xfrm>
              <a:off x="846963" y="8104243"/>
              <a:ext cx="3132133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2" name="Text 4">
            <a:extLst>
              <a:ext uri="{FF2B5EF4-FFF2-40B4-BE49-F238E27FC236}">
                <a16:creationId xmlns:a16="http://schemas.microsoft.com/office/drawing/2014/main" id="{E0A3A222-7C3A-1DC9-E804-0B4839F8A03C}"/>
              </a:ext>
            </a:extLst>
          </p:cNvPr>
          <p:cNvSpPr/>
          <p:nvPr/>
        </p:nvSpPr>
        <p:spPr>
          <a:xfrm>
            <a:off x="10437630" y="21236816"/>
            <a:ext cx="8927459" cy="6668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Two-Stage Hierarchical Decoupling</a:t>
            </a:r>
          </a:p>
        </p:txBody>
      </p:sp>
      <p:sp>
        <p:nvSpPr>
          <p:cNvPr id="123" name="Shape 5">
            <a:extLst>
              <a:ext uri="{FF2B5EF4-FFF2-40B4-BE49-F238E27FC236}">
                <a16:creationId xmlns:a16="http://schemas.microsoft.com/office/drawing/2014/main" id="{8C6273F3-EA28-0213-3C22-60D483B0B00B}"/>
              </a:ext>
            </a:extLst>
          </p:cNvPr>
          <p:cNvSpPr/>
          <p:nvPr/>
        </p:nvSpPr>
        <p:spPr>
          <a:xfrm>
            <a:off x="10439194" y="22165737"/>
            <a:ext cx="4694443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6">
            <a:extLst>
              <a:ext uri="{FF2B5EF4-FFF2-40B4-BE49-F238E27FC236}">
                <a16:creationId xmlns:a16="http://schemas.microsoft.com/office/drawing/2014/main" id="{1A30EEEB-3F1E-E2D4-9398-9DFF19FC366F}"/>
              </a:ext>
            </a:extLst>
          </p:cNvPr>
          <p:cNvSpPr/>
          <p:nvPr/>
        </p:nvSpPr>
        <p:spPr>
          <a:xfrm>
            <a:off x="10439195" y="22166609"/>
            <a:ext cx="1188720" cy="960120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Text 7">
            <a:extLst>
              <a:ext uri="{FF2B5EF4-FFF2-40B4-BE49-F238E27FC236}">
                <a16:creationId xmlns:a16="http://schemas.microsoft.com/office/drawing/2014/main" id="{F3D33719-735C-C29E-1B48-3E1E01536AA9}"/>
              </a:ext>
            </a:extLst>
          </p:cNvPr>
          <p:cNvSpPr/>
          <p:nvPr/>
        </p:nvSpPr>
        <p:spPr>
          <a:xfrm>
            <a:off x="10439195" y="2216660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S₁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Text 8">
            <a:extLst>
              <a:ext uri="{FF2B5EF4-FFF2-40B4-BE49-F238E27FC236}">
                <a16:creationId xmlns:a16="http://schemas.microsoft.com/office/drawing/2014/main" id="{76FB8746-9367-7B04-402E-DFEB2632A2E5}"/>
              </a:ext>
            </a:extLst>
          </p:cNvPr>
          <p:cNvSpPr/>
          <p:nvPr/>
        </p:nvSpPr>
        <p:spPr>
          <a:xfrm>
            <a:off x="11626716" y="22164865"/>
            <a:ext cx="3477967" cy="931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Triage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Shape 5">
            <a:extLst>
              <a:ext uri="{FF2B5EF4-FFF2-40B4-BE49-F238E27FC236}">
                <a16:creationId xmlns:a16="http://schemas.microsoft.com/office/drawing/2014/main" id="{7F84859D-6F6E-1107-5C2F-3FDBA3C857E3}"/>
              </a:ext>
            </a:extLst>
          </p:cNvPr>
          <p:cNvSpPr/>
          <p:nvPr/>
        </p:nvSpPr>
        <p:spPr>
          <a:xfrm>
            <a:off x="15713558" y="22166609"/>
            <a:ext cx="4558897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7">
            <a:extLst>
              <a:ext uri="{FF2B5EF4-FFF2-40B4-BE49-F238E27FC236}">
                <a16:creationId xmlns:a16="http://schemas.microsoft.com/office/drawing/2014/main" id="{85F9A4B7-B0AD-7A1F-64E7-F93646434169}"/>
              </a:ext>
            </a:extLst>
          </p:cNvPr>
          <p:cNvSpPr/>
          <p:nvPr/>
        </p:nvSpPr>
        <p:spPr>
          <a:xfrm>
            <a:off x="15713559" y="22166609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 8">
            <a:extLst>
              <a:ext uri="{FF2B5EF4-FFF2-40B4-BE49-F238E27FC236}">
                <a16:creationId xmlns:a16="http://schemas.microsoft.com/office/drawing/2014/main" id="{C09AFAB1-DD12-F99E-7F7B-EFC818586455}"/>
              </a:ext>
            </a:extLst>
          </p:cNvPr>
          <p:cNvSpPr/>
          <p:nvPr/>
        </p:nvSpPr>
        <p:spPr>
          <a:xfrm>
            <a:off x="16938071" y="22225957"/>
            <a:ext cx="3334384" cy="87007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Detector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Shape 11">
            <a:extLst>
              <a:ext uri="{FF2B5EF4-FFF2-40B4-BE49-F238E27FC236}">
                <a16:creationId xmlns:a16="http://schemas.microsoft.com/office/drawing/2014/main" id="{67FACFA4-D41C-F481-663A-C6365FD73A22}"/>
              </a:ext>
            </a:extLst>
          </p:cNvPr>
          <p:cNvSpPr/>
          <p:nvPr/>
        </p:nvSpPr>
        <p:spPr>
          <a:xfrm>
            <a:off x="15707488" y="22161468"/>
            <a:ext cx="1188720" cy="9601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ext 12">
            <a:extLst>
              <a:ext uri="{FF2B5EF4-FFF2-40B4-BE49-F238E27FC236}">
                <a16:creationId xmlns:a16="http://schemas.microsoft.com/office/drawing/2014/main" id="{D6C75CB8-AFF6-15B8-294B-745A6380A4DE}"/>
              </a:ext>
            </a:extLst>
          </p:cNvPr>
          <p:cNvSpPr/>
          <p:nvPr/>
        </p:nvSpPr>
        <p:spPr>
          <a:xfrm>
            <a:off x="15771215" y="22184556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S₂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Shape 37">
            <a:extLst>
              <a:ext uri="{FF2B5EF4-FFF2-40B4-BE49-F238E27FC236}">
                <a16:creationId xmlns:a16="http://schemas.microsoft.com/office/drawing/2014/main" id="{2F77BE10-0241-4973-26F6-81E2CB32F3C3}"/>
              </a:ext>
            </a:extLst>
          </p:cNvPr>
          <p:cNvSpPr/>
          <p:nvPr/>
        </p:nvSpPr>
        <p:spPr>
          <a:xfrm>
            <a:off x="10278911" y="33120063"/>
            <a:ext cx="10287159" cy="31285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4FBB4B5-3F58-97CB-1CED-9610BB9D7803}"/>
              </a:ext>
            </a:extLst>
          </p:cNvPr>
          <p:cNvGrpSpPr/>
          <p:nvPr/>
        </p:nvGrpSpPr>
        <p:grpSpPr>
          <a:xfrm>
            <a:off x="10002359" y="23601486"/>
            <a:ext cx="5869865" cy="661720"/>
            <a:chOff x="111108" y="7257858"/>
            <a:chExt cx="7368517" cy="956842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BF1F0F3-AAC4-B23B-E888-AF51634E4C9B}"/>
                </a:ext>
              </a:extLst>
            </p:cNvPr>
            <p:cNvSpPr txBox="1"/>
            <p:nvPr/>
          </p:nvSpPr>
          <p:spPr>
            <a:xfrm>
              <a:off x="111108" y="7257858"/>
              <a:ext cx="7368517" cy="956842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 err="1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DERNet</a:t>
              </a: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 Framework</a:t>
              </a:r>
              <a:endParaRPr lang="en-US" sz="39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C41642B9-2F49-3536-2A17-C711E910A73A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079411"/>
              <a:ext cx="6955916" cy="513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8E7B9080-E316-34E1-430E-18B771A99BC6}"/>
              </a:ext>
            </a:extLst>
          </p:cNvPr>
          <p:cNvSpPr txBox="1"/>
          <p:nvPr/>
        </p:nvSpPr>
        <p:spPr>
          <a:xfrm>
            <a:off x="10343188" y="31587659"/>
            <a:ext cx="102116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Fig. 2.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probabilistic ensemble architecture for sensitivity radiographic triage. Each backbone (DenseNet121, EfficientNetV2-S, ResNet50) produces independent posterior probabilities via Global Average Pooling and Sigmoid.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Text 38">
            <a:extLst>
              <a:ext uri="{FF2B5EF4-FFF2-40B4-BE49-F238E27FC236}">
                <a16:creationId xmlns:a16="http://schemas.microsoft.com/office/drawing/2014/main" id="{478CB971-09C2-774C-C86C-390A25C554CE}"/>
              </a:ext>
            </a:extLst>
          </p:cNvPr>
          <p:cNvSpPr/>
          <p:nvPr/>
        </p:nvSpPr>
        <p:spPr>
          <a:xfrm>
            <a:off x="10379455" y="33383468"/>
            <a:ext cx="10148724" cy="55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Composite Objective &amp; Focal Formulation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D0A7195-90C0-5AA8-7DD4-8B2FDD8CFA10}"/>
                  </a:ext>
                </a:extLst>
              </p:cNvPr>
              <p:cNvSpPr txBox="1"/>
              <p:nvPr/>
            </p:nvSpPr>
            <p:spPr>
              <a:xfrm>
                <a:off x="10252719" y="34678541"/>
                <a:ext cx="7956089" cy="539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sz="3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2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𝒃𝒐𝒙</m:t>
                          </m:r>
                        </m:sub>
                      </m:sSub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𝑪𝑰𝒐𝑼</m:t>
                          </m:r>
                        </m:sub>
                      </m:sSub>
                      <m:r>
                        <a:rPr lang="en-US" sz="3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2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𝒄𝒍𝒔</m:t>
                          </m:r>
                        </m:sub>
                      </m:sSub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𝑭𝒐𝒄𝒂𝒍</m:t>
                          </m:r>
                        </m:sub>
                      </m:sSub>
                      <m:r>
                        <a:rPr lang="en-US" sz="3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l-GR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3200" b="1" i="1">
                              <a:latin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𝒅𝒇𝒍</m:t>
                          </m:r>
                        </m:sub>
                      </m:sSub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𝑫𝑭𝑳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D0A7195-90C0-5AA8-7DD4-8B2FDD8CF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719" y="34678541"/>
                <a:ext cx="7956089" cy="539058"/>
              </a:xfrm>
              <a:prstGeom prst="rect">
                <a:avLst/>
              </a:prstGeom>
              <a:blipFill>
                <a:blip r:embed="rId13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1183730-F02E-738A-0860-1D5BB970A2C5}"/>
                  </a:ext>
                </a:extLst>
              </p:cNvPr>
              <p:cNvSpPr txBox="1"/>
              <p:nvPr/>
            </p:nvSpPr>
            <p:spPr>
              <a:xfrm>
                <a:off x="10412859" y="34163759"/>
                <a:ext cx="5164555" cy="5366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𝑭𝑳</m:t>
                        </m:r>
                      </m:e>
                      <m:sub>
                        <m:d>
                          <m:d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sub>
                    </m:sSub>
                    <m:r>
                      <a:rPr lang="en-US" sz="3200" b="1" i="1">
                        <a:latin typeface="Cambria Math" panose="02040503050406030204" pitchFamily="18" charset="0"/>
                      </a:rPr>
                      <m:t>=-</m:t>
                    </m:r>
                    <m:sSub>
                      <m:sSubPr>
                        <m:ctrlPr>
                          <a:rPr lang="el-GR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32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  <m:sub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l-GR" sz="3200" b="1" i="1">
                            <a:latin typeface="Cambria Math" panose="02040503050406030204" pitchFamily="18" charset="0"/>
                          </a:rPr>
                          <m:t>𝜸</m:t>
                        </m:r>
                      </m:sup>
                    </m:sSup>
                    <m:r>
                      <a:rPr lang="en-US" sz="3200" b="1" i="1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3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1183730-F02E-738A-0860-1D5BB970A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2859" y="34163759"/>
                <a:ext cx="5164555" cy="536685"/>
              </a:xfrm>
              <a:prstGeom prst="rect">
                <a:avLst/>
              </a:prstGeom>
              <a:blipFill>
                <a:blip r:embed="rId14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2E84596D-C29C-C8F8-007F-DF7213715875}"/>
              </a:ext>
            </a:extLst>
          </p:cNvPr>
          <p:cNvSpPr txBox="1"/>
          <p:nvPr/>
        </p:nvSpPr>
        <p:spPr>
          <a:xfrm>
            <a:off x="10343426" y="35417570"/>
            <a:ext cx="10279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Suppresses easy negative background gradients to anchor optimization on rare foreground lesions.</a:t>
            </a:r>
            <a:endParaRPr 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Shape 21">
            <a:extLst>
              <a:ext uri="{FF2B5EF4-FFF2-40B4-BE49-F238E27FC236}">
                <a16:creationId xmlns:a16="http://schemas.microsoft.com/office/drawing/2014/main" id="{17555252-C2C2-EC1D-EE90-109C9EB26F9E}"/>
              </a:ext>
            </a:extLst>
          </p:cNvPr>
          <p:cNvSpPr/>
          <p:nvPr/>
        </p:nvSpPr>
        <p:spPr>
          <a:xfrm>
            <a:off x="10328855" y="36517671"/>
            <a:ext cx="10073109" cy="8979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7" name="Shape 22">
            <a:extLst>
              <a:ext uri="{FF2B5EF4-FFF2-40B4-BE49-F238E27FC236}">
                <a16:creationId xmlns:a16="http://schemas.microsoft.com/office/drawing/2014/main" id="{08558680-05A0-D660-4681-F9370AA55122}"/>
              </a:ext>
            </a:extLst>
          </p:cNvPr>
          <p:cNvSpPr/>
          <p:nvPr/>
        </p:nvSpPr>
        <p:spPr>
          <a:xfrm>
            <a:off x="10539124" y="36701651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23">
            <a:extLst>
              <a:ext uri="{FF2B5EF4-FFF2-40B4-BE49-F238E27FC236}">
                <a16:creationId xmlns:a16="http://schemas.microsoft.com/office/drawing/2014/main" id="{C28E7151-2B6D-C5EC-4742-AAFF541B507D}"/>
              </a:ext>
            </a:extLst>
          </p:cNvPr>
          <p:cNvSpPr/>
          <p:nvPr/>
        </p:nvSpPr>
        <p:spPr>
          <a:xfrm>
            <a:off x="10706917" y="36823127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Text 24">
            <a:extLst>
              <a:ext uri="{FF2B5EF4-FFF2-40B4-BE49-F238E27FC236}">
                <a16:creationId xmlns:a16="http://schemas.microsoft.com/office/drawing/2014/main" id="{0CF4ACBA-8043-DF71-D91C-26342568B7E6}"/>
              </a:ext>
            </a:extLst>
          </p:cNvPr>
          <p:cNvSpPr/>
          <p:nvPr/>
        </p:nvSpPr>
        <p:spPr>
          <a:xfrm>
            <a:off x="11424482" y="36507133"/>
            <a:ext cx="8651635" cy="4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Probabilistic Soft Voting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Shape 21">
            <a:extLst>
              <a:ext uri="{FF2B5EF4-FFF2-40B4-BE49-F238E27FC236}">
                <a16:creationId xmlns:a16="http://schemas.microsoft.com/office/drawing/2014/main" id="{EB1C5C18-D9E9-960E-E53F-F431CE5C97AE}"/>
              </a:ext>
            </a:extLst>
          </p:cNvPr>
          <p:cNvSpPr/>
          <p:nvPr/>
        </p:nvSpPr>
        <p:spPr>
          <a:xfrm>
            <a:off x="10337989" y="37609808"/>
            <a:ext cx="10039802" cy="873347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22">
            <a:extLst>
              <a:ext uri="{FF2B5EF4-FFF2-40B4-BE49-F238E27FC236}">
                <a16:creationId xmlns:a16="http://schemas.microsoft.com/office/drawing/2014/main" id="{30F61420-F3BA-BB93-D24B-01CB0DC4ADA2}"/>
              </a:ext>
            </a:extLst>
          </p:cNvPr>
          <p:cNvSpPr/>
          <p:nvPr/>
        </p:nvSpPr>
        <p:spPr>
          <a:xfrm>
            <a:off x="10540822" y="37731745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23">
            <a:extLst>
              <a:ext uri="{FF2B5EF4-FFF2-40B4-BE49-F238E27FC236}">
                <a16:creationId xmlns:a16="http://schemas.microsoft.com/office/drawing/2014/main" id="{852166B0-117D-BC09-B9FA-380EAE66FC74}"/>
              </a:ext>
            </a:extLst>
          </p:cNvPr>
          <p:cNvSpPr/>
          <p:nvPr/>
        </p:nvSpPr>
        <p:spPr>
          <a:xfrm>
            <a:off x="10708290" y="37812874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 24">
            <a:extLst>
              <a:ext uri="{FF2B5EF4-FFF2-40B4-BE49-F238E27FC236}">
                <a16:creationId xmlns:a16="http://schemas.microsoft.com/office/drawing/2014/main" id="{454B1CA9-5B7D-FB53-3079-09B2014792BF}"/>
              </a:ext>
            </a:extLst>
          </p:cNvPr>
          <p:cNvSpPr/>
          <p:nvPr/>
        </p:nvSpPr>
        <p:spPr>
          <a:xfrm>
            <a:off x="11404680" y="37608955"/>
            <a:ext cx="8246976" cy="465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C2PSA Bone Feature Attention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Shape 21">
            <a:extLst>
              <a:ext uri="{FF2B5EF4-FFF2-40B4-BE49-F238E27FC236}">
                <a16:creationId xmlns:a16="http://schemas.microsoft.com/office/drawing/2014/main" id="{2D1D0616-1DBD-830C-0B9D-F4DF79302508}"/>
              </a:ext>
            </a:extLst>
          </p:cNvPr>
          <p:cNvSpPr/>
          <p:nvPr/>
        </p:nvSpPr>
        <p:spPr>
          <a:xfrm>
            <a:off x="10331043" y="38672238"/>
            <a:ext cx="10051521" cy="1051739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5" name="Shape 22">
            <a:extLst>
              <a:ext uri="{FF2B5EF4-FFF2-40B4-BE49-F238E27FC236}">
                <a16:creationId xmlns:a16="http://schemas.microsoft.com/office/drawing/2014/main" id="{33A169E7-E52B-B92F-086B-039CCEEDA6EA}"/>
              </a:ext>
            </a:extLst>
          </p:cNvPr>
          <p:cNvSpPr/>
          <p:nvPr/>
        </p:nvSpPr>
        <p:spPr>
          <a:xfrm>
            <a:off x="10544409" y="38852843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23">
            <a:extLst>
              <a:ext uri="{FF2B5EF4-FFF2-40B4-BE49-F238E27FC236}">
                <a16:creationId xmlns:a16="http://schemas.microsoft.com/office/drawing/2014/main" id="{04D0A36B-8F96-F591-CE16-ADB225C4A346}"/>
              </a:ext>
            </a:extLst>
          </p:cNvPr>
          <p:cNvSpPr/>
          <p:nvPr/>
        </p:nvSpPr>
        <p:spPr>
          <a:xfrm>
            <a:off x="10703683" y="38973453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Text 24">
            <a:extLst>
              <a:ext uri="{FF2B5EF4-FFF2-40B4-BE49-F238E27FC236}">
                <a16:creationId xmlns:a16="http://schemas.microsoft.com/office/drawing/2014/main" id="{6A66A7B8-CF2E-55D5-9227-968468296129}"/>
              </a:ext>
            </a:extLst>
          </p:cNvPr>
          <p:cNvSpPr/>
          <p:nvPr/>
        </p:nvSpPr>
        <p:spPr>
          <a:xfrm>
            <a:off x="11343630" y="38778620"/>
            <a:ext cx="7221205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Multi-Scale Detection Heads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33468ED8-DFE5-5C4C-86D2-C1AA3A9C229A}"/>
                  </a:ext>
                </a:extLst>
              </p:cNvPr>
              <p:cNvSpPr txBox="1"/>
              <p:nvPr/>
            </p:nvSpPr>
            <p:spPr>
              <a:xfrm>
                <a:off x="11400829" y="36989625"/>
                <a:ext cx="14662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𝑒𝑛𝑠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≥0.478</m:t>
                      </m:r>
                    </m:oMath>
                  </m:oMathPara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33468ED8-DFE5-5C4C-86D2-C1AA3A9C2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0829" y="36989625"/>
                <a:ext cx="1466235" cy="307777"/>
              </a:xfrm>
              <a:prstGeom prst="rect">
                <a:avLst/>
              </a:prstGeom>
              <a:blipFill>
                <a:blip r:embed="rId15"/>
                <a:stretch>
                  <a:fillRect l="-2905" r="-2905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TextBox 182">
            <a:extLst>
              <a:ext uri="{FF2B5EF4-FFF2-40B4-BE49-F238E27FC236}">
                <a16:creationId xmlns:a16="http://schemas.microsoft.com/office/drawing/2014/main" id="{D001929A-333B-B66F-4BD7-E8A8A72C5920}"/>
              </a:ext>
            </a:extLst>
          </p:cNvPr>
          <p:cNvSpPr txBox="1"/>
          <p:nvPr/>
        </p:nvSpPr>
        <p:spPr>
          <a:xfrm>
            <a:off x="12903896" y="36948268"/>
            <a:ext cx="70725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filters normal studies; abnormal go to YOLO11-L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8185E20-5825-C5CC-C5D3-767B2553631B}"/>
              </a:ext>
            </a:extLst>
          </p:cNvPr>
          <p:cNvSpPr txBox="1"/>
          <p:nvPr/>
        </p:nvSpPr>
        <p:spPr>
          <a:xfrm>
            <a:off x="11329370" y="38031343"/>
            <a:ext cx="8569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Preserves boundary gradients along subtle vertebral edges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8171C0B-D797-08E0-057B-326228C69499}"/>
              </a:ext>
            </a:extLst>
          </p:cNvPr>
          <p:cNvSpPr txBox="1"/>
          <p:nvPr/>
        </p:nvSpPr>
        <p:spPr>
          <a:xfrm>
            <a:off x="11267501" y="39179574"/>
            <a:ext cx="9142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Hierarchical </a:t>
            </a:r>
            <a:r>
              <a:rPr lang="en-US" sz="2000" dirty="0" err="1"/>
              <a:t>PANet</a:t>
            </a:r>
            <a:r>
              <a:rPr lang="en-US" sz="2000" dirty="0"/>
              <a:t> feature fusion isolates minute pathologies occupying &lt;1% FOV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Shape 21">
            <a:extLst>
              <a:ext uri="{FF2B5EF4-FFF2-40B4-BE49-F238E27FC236}">
                <a16:creationId xmlns:a16="http://schemas.microsoft.com/office/drawing/2014/main" id="{303B3F40-9179-6526-3DE1-43B249D3BE40}"/>
              </a:ext>
            </a:extLst>
          </p:cNvPr>
          <p:cNvSpPr/>
          <p:nvPr/>
        </p:nvSpPr>
        <p:spPr>
          <a:xfrm>
            <a:off x="10348292" y="39869755"/>
            <a:ext cx="10051521" cy="972657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87" name="Text 24">
            <a:extLst>
              <a:ext uri="{FF2B5EF4-FFF2-40B4-BE49-F238E27FC236}">
                <a16:creationId xmlns:a16="http://schemas.microsoft.com/office/drawing/2014/main" id="{05D70B8B-486A-A1E2-E3C0-E57DB557BA3A}"/>
              </a:ext>
            </a:extLst>
          </p:cNvPr>
          <p:cNvSpPr/>
          <p:nvPr/>
        </p:nvSpPr>
        <p:spPr>
          <a:xfrm>
            <a:off x="11343630" y="39939305"/>
            <a:ext cx="7221205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Targeted Copy-Paste Augmentation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FB53D96-99E3-8304-2841-4DA8BDBFA3C6}"/>
              </a:ext>
            </a:extLst>
          </p:cNvPr>
          <p:cNvSpPr txBox="1"/>
          <p:nvPr/>
        </p:nvSpPr>
        <p:spPr>
          <a:xfrm>
            <a:off x="11343630" y="40412108"/>
            <a:ext cx="9142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Overcomes severe 46.9:1 class skew to stabilize regression for rare categories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Shape 22">
            <a:extLst>
              <a:ext uri="{FF2B5EF4-FFF2-40B4-BE49-F238E27FC236}">
                <a16:creationId xmlns:a16="http://schemas.microsoft.com/office/drawing/2014/main" id="{4C7D1606-40BD-EA51-19C8-B55C81858B9C}"/>
              </a:ext>
            </a:extLst>
          </p:cNvPr>
          <p:cNvSpPr/>
          <p:nvPr/>
        </p:nvSpPr>
        <p:spPr>
          <a:xfrm>
            <a:off x="10544409" y="40101664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23">
            <a:extLst>
              <a:ext uri="{FF2B5EF4-FFF2-40B4-BE49-F238E27FC236}">
                <a16:creationId xmlns:a16="http://schemas.microsoft.com/office/drawing/2014/main" id="{6D7F612A-A3C1-BDA2-6C06-682985B19476}"/>
              </a:ext>
            </a:extLst>
          </p:cNvPr>
          <p:cNvSpPr/>
          <p:nvPr/>
        </p:nvSpPr>
        <p:spPr>
          <a:xfrm>
            <a:off x="10703683" y="40177462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8FD51DE6-8353-D7C5-204D-B3E91C46B608}"/>
              </a:ext>
            </a:extLst>
          </p:cNvPr>
          <p:cNvGrpSpPr/>
          <p:nvPr/>
        </p:nvGrpSpPr>
        <p:grpSpPr>
          <a:xfrm>
            <a:off x="20438622" y="11064543"/>
            <a:ext cx="5526388" cy="661720"/>
            <a:chOff x="111108" y="7257858"/>
            <a:chExt cx="7368517" cy="882293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45021D93-77C5-24A5-31D8-2D33301A72A8}"/>
                </a:ext>
              </a:extLst>
            </p:cNvPr>
            <p:cNvSpPr txBox="1"/>
            <p:nvPr/>
          </p:nvSpPr>
          <p:spPr>
            <a:xfrm>
              <a:off x="111108" y="7257858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Results</a:t>
              </a:r>
            </a:p>
          </p:txBody>
        </p:sp>
        <p:cxnSp>
          <p:nvCxnSpPr>
            <p:cNvPr id="1026" name="Straight Connector 1025">
              <a:extLst>
                <a:ext uri="{FF2B5EF4-FFF2-40B4-BE49-F238E27FC236}">
                  <a16:creationId xmlns:a16="http://schemas.microsoft.com/office/drawing/2014/main" id="{39FA31CE-83A0-C752-61A0-71E15E29BE39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3081367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399606E2-BE93-7BAA-952F-7607C3D924AC}"/>
              </a:ext>
            </a:extLst>
          </p:cNvPr>
          <p:cNvGrpSpPr/>
          <p:nvPr/>
        </p:nvGrpSpPr>
        <p:grpSpPr>
          <a:xfrm>
            <a:off x="20538316" y="35741503"/>
            <a:ext cx="5326999" cy="661720"/>
            <a:chOff x="111108" y="7257851"/>
            <a:chExt cx="7368517" cy="882292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EC4AAD1F-8F05-80CF-0ECB-95508D3F52DD}"/>
                </a:ext>
              </a:extLst>
            </p:cNvPr>
            <p:cNvSpPr txBox="1"/>
            <p:nvPr/>
          </p:nvSpPr>
          <p:spPr>
            <a:xfrm>
              <a:off x="111108" y="7257851"/>
              <a:ext cx="7368517" cy="882292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Conclusion</a:t>
              </a:r>
            </a:p>
          </p:txBody>
        </p: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8FFCBB2B-0D48-151F-75E9-E9EAEB1ADB2C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4215441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34" name="TextBox 1033">
            <a:extLst>
              <a:ext uri="{FF2B5EF4-FFF2-40B4-BE49-F238E27FC236}">
                <a16:creationId xmlns:a16="http://schemas.microsoft.com/office/drawing/2014/main" id="{DDDCD5E2-66C6-DFD4-A887-CEA0A27F3ECF}"/>
              </a:ext>
            </a:extLst>
          </p:cNvPr>
          <p:cNvSpPr txBox="1"/>
          <p:nvPr/>
        </p:nvSpPr>
        <p:spPr>
          <a:xfrm>
            <a:off x="20707880" y="36466745"/>
            <a:ext cx="9485058" cy="1804749"/>
          </a:xfrm>
          <a:prstGeom prst="roundRect">
            <a:avLst/>
          </a:prstGeom>
          <a:solidFill>
            <a:srgbClr val="DEEAE0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Decouples screening triage from localization via a sensitivity-gated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DERNet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YOLO11-L cascade. Delivers 91.03% AUROC and 40.10% mAP@0.5, quantitatively grounded to authentic bone pathology (0.64 X-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IoU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). Enables CPU-efficient triage (120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in resource-constrained clinics, strictly reserving scarce MRI slots.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5E4FA44D-9E14-9E0D-168B-09CA61A1903C}"/>
              </a:ext>
            </a:extLst>
          </p:cNvPr>
          <p:cNvGrpSpPr/>
          <p:nvPr/>
        </p:nvGrpSpPr>
        <p:grpSpPr>
          <a:xfrm>
            <a:off x="20308287" y="33744337"/>
            <a:ext cx="5787055" cy="661720"/>
            <a:chOff x="-57964" y="7257858"/>
            <a:chExt cx="7716073" cy="882293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57E5E7C0-0326-B82E-6AC4-3D5B1E13B763}"/>
                </a:ext>
              </a:extLst>
            </p:cNvPr>
            <p:cNvSpPr txBox="1"/>
            <p:nvPr/>
          </p:nvSpPr>
          <p:spPr>
            <a:xfrm>
              <a:off x="-57964" y="7257858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Clinical Significance</a:t>
              </a:r>
            </a:p>
          </p:txBody>
        </p: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0DC34216-F444-F94F-D2D9-84EC2BB3C51A}"/>
                </a:ext>
              </a:extLst>
            </p:cNvPr>
            <p:cNvCxnSpPr>
              <a:cxnSpLocks/>
            </p:cNvCxnSpPr>
            <p:nvPr/>
          </p:nvCxnSpPr>
          <p:spPr>
            <a:xfrm>
              <a:off x="669676" y="8140151"/>
              <a:ext cx="6988433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38" name="Shape 5">
            <a:extLst>
              <a:ext uri="{FF2B5EF4-FFF2-40B4-BE49-F238E27FC236}">
                <a16:creationId xmlns:a16="http://schemas.microsoft.com/office/drawing/2014/main" id="{4DDF6F73-D621-2EDC-7E82-22BEB15F9DE7}"/>
              </a:ext>
            </a:extLst>
          </p:cNvPr>
          <p:cNvSpPr/>
          <p:nvPr/>
        </p:nvSpPr>
        <p:spPr>
          <a:xfrm>
            <a:off x="20852051" y="34630139"/>
            <a:ext cx="4385660" cy="952508"/>
          </a:xfrm>
          <a:prstGeom prst="rect">
            <a:avLst/>
          </a:prstGeom>
          <a:solidFill>
            <a:schemeClr val="tx1"/>
          </a:solidFill>
          <a:ln w="19050">
            <a:noFill/>
            <a:prstDash val="solid"/>
          </a:ln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Smart Radiographic Triage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Scarce MRI Prioritization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40" name="Shape 5">
            <a:extLst>
              <a:ext uri="{FF2B5EF4-FFF2-40B4-BE49-F238E27FC236}">
                <a16:creationId xmlns:a16="http://schemas.microsoft.com/office/drawing/2014/main" id="{A61846F1-4AA0-2CE0-7045-B8EF674083E0}"/>
              </a:ext>
            </a:extLst>
          </p:cNvPr>
          <p:cNvSpPr/>
          <p:nvPr/>
        </p:nvSpPr>
        <p:spPr>
          <a:xfrm>
            <a:off x="25618224" y="34656449"/>
            <a:ext cx="4653303" cy="952508"/>
          </a:xfrm>
          <a:prstGeom prst="rect">
            <a:avLst/>
          </a:prstGeom>
          <a:solidFill>
            <a:srgbClr val="7A0019"/>
          </a:solidFill>
          <a:ln w="19050">
            <a:noFill/>
            <a:prstDash val="solid"/>
          </a:ln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Minute Lesion Interception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Transparent Decision Support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41" name="Text 17">
            <a:extLst>
              <a:ext uri="{FF2B5EF4-FFF2-40B4-BE49-F238E27FC236}">
                <a16:creationId xmlns:a16="http://schemas.microsoft.com/office/drawing/2014/main" id="{D68AE9EE-0233-3BD6-CBDB-01409478FBDB}"/>
              </a:ext>
            </a:extLst>
          </p:cNvPr>
          <p:cNvSpPr/>
          <p:nvPr/>
        </p:nvSpPr>
        <p:spPr>
          <a:xfrm>
            <a:off x="20746858" y="11876924"/>
            <a:ext cx="9654862" cy="48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Screening Triage Benchmarking (</a:t>
            </a:r>
            <a:r>
              <a:rPr lang="en-US" sz="2700" b="1" dirty="0" err="1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DERNet</a:t>
            </a:r>
            <a:r>
              <a:rPr lang="en-US" sz="27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Ensemble)</a:t>
            </a:r>
            <a:endParaRPr lang="en-US" sz="27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2" name="Text 17">
            <a:extLst>
              <a:ext uri="{FF2B5EF4-FFF2-40B4-BE49-F238E27FC236}">
                <a16:creationId xmlns:a16="http://schemas.microsoft.com/office/drawing/2014/main" id="{B9E9FA30-A586-3723-532C-C9B27A373E6C}"/>
              </a:ext>
            </a:extLst>
          </p:cNvPr>
          <p:cNvSpPr/>
          <p:nvPr/>
        </p:nvSpPr>
        <p:spPr>
          <a:xfrm>
            <a:off x="20716672" y="17241818"/>
            <a:ext cx="9654862" cy="48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00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Fine-Grained Lesion Detection Benchmarking (YOLO11-L)</a:t>
            </a:r>
          </a:p>
        </p:txBody>
      </p:sp>
    </p:spTree>
    <p:extLst>
      <p:ext uri="{BB962C8B-B14F-4D97-AF65-F5344CB8AC3E}">
        <p14:creationId xmlns:p14="http://schemas.microsoft.com/office/powerpoint/2010/main" val="405807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934</TotalTime>
  <Words>921</Words>
  <Application>Microsoft Office PowerPoint</Application>
  <PresentationFormat>Custom</PresentationFormat>
  <Paragraphs>200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</dc:title>
  <dc:creator>Mert Seven - Dekon Congress &amp; Tourism</dc:creator>
  <cp:lastModifiedBy>Prosenjit mondol</cp:lastModifiedBy>
  <cp:revision>27</cp:revision>
  <dcterms:created xsi:type="dcterms:W3CDTF">2026-07-27T09:56:02Z</dcterms:created>
  <dcterms:modified xsi:type="dcterms:W3CDTF">2026-09-13T20:21:13Z</dcterms:modified>
</cp:coreProperties>
</file>